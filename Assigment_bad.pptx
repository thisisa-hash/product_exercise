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charts/chart1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2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charts/chart3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2.xml" ContentType="application/vnd.openxmlformats-officedocument.themeOverride+xml"/>
  <Override PartName="/ppt/charts/chart4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3.xml" ContentType="application/vnd.openxmlformats-officedocument.themeOverride+xml"/>
  <Override PartName="/ppt/charts/chart5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21"/>
  </p:notesMasterIdLst>
  <p:sldIdLst>
    <p:sldId id="4048" r:id="rId3"/>
    <p:sldId id="4036" r:id="rId4"/>
    <p:sldId id="4031" r:id="rId5"/>
    <p:sldId id="4032" r:id="rId6"/>
    <p:sldId id="4035" r:id="rId7"/>
    <p:sldId id="4037" r:id="rId8"/>
    <p:sldId id="4038" r:id="rId9"/>
    <p:sldId id="4039" r:id="rId10"/>
    <p:sldId id="4040" r:id="rId11"/>
    <p:sldId id="3785" r:id="rId12"/>
    <p:sldId id="4041" r:id="rId13"/>
    <p:sldId id="4042" r:id="rId14"/>
    <p:sldId id="4043" r:id="rId15"/>
    <p:sldId id="4044" r:id="rId16"/>
    <p:sldId id="4045" r:id="rId17"/>
    <p:sldId id="4046" r:id="rId18"/>
    <p:sldId id="4047" r:id="rId19"/>
    <p:sldId id="4050" r:id="rId2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66FFFF"/>
    <a:srgbClr val="4EA72E"/>
    <a:srgbClr val="009999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36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" y="2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6/11/relationships/changesInfo" Target="changesInfos/changesInfo1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olina Gonzalez" userId="5ce88fdd-f90a-4a6b-a59b-f9dc367c92a5" providerId="ADAL" clId="{1B9B42BE-5BC1-4239-BA7D-AAE878F03467}"/>
    <pc:docChg chg="modSld">
      <pc:chgData name="Carolina Gonzalez" userId="5ce88fdd-f90a-4a6b-a59b-f9dc367c92a5" providerId="ADAL" clId="{1B9B42BE-5BC1-4239-BA7D-AAE878F03467}" dt="2026-02-24T19:10:48.840" v="3" actId="404"/>
      <pc:docMkLst>
        <pc:docMk/>
      </pc:docMkLst>
      <pc:sldChg chg="modSp mod">
        <pc:chgData name="Carolina Gonzalez" userId="5ce88fdd-f90a-4a6b-a59b-f9dc367c92a5" providerId="ADAL" clId="{1B9B42BE-5BC1-4239-BA7D-AAE878F03467}" dt="2026-02-24T19:06:01.257" v="1" actId="6549"/>
        <pc:sldMkLst>
          <pc:docMk/>
          <pc:sldMk cId="3442347450" sldId="4044"/>
        </pc:sldMkLst>
        <pc:spChg chg="mod">
          <ac:chgData name="Carolina Gonzalez" userId="5ce88fdd-f90a-4a6b-a59b-f9dc367c92a5" providerId="ADAL" clId="{1B9B42BE-5BC1-4239-BA7D-AAE878F03467}" dt="2026-02-24T19:06:01.257" v="1" actId="6549"/>
          <ac:spMkLst>
            <pc:docMk/>
            <pc:sldMk cId="3442347450" sldId="4044"/>
            <ac:spMk id="81" creationId="{B171FC75-7A95-730E-6C34-58C92310AF16}"/>
          </ac:spMkLst>
        </pc:spChg>
      </pc:sldChg>
      <pc:sldChg chg="modSp mod">
        <pc:chgData name="Carolina Gonzalez" userId="5ce88fdd-f90a-4a6b-a59b-f9dc367c92a5" providerId="ADAL" clId="{1B9B42BE-5BC1-4239-BA7D-AAE878F03467}" dt="2026-02-24T19:05:39.290" v="0" actId="6549"/>
        <pc:sldMkLst>
          <pc:docMk/>
          <pc:sldMk cId="1512789777" sldId="4047"/>
        </pc:sldMkLst>
        <pc:spChg chg="mod">
          <ac:chgData name="Carolina Gonzalez" userId="5ce88fdd-f90a-4a6b-a59b-f9dc367c92a5" providerId="ADAL" clId="{1B9B42BE-5BC1-4239-BA7D-AAE878F03467}" dt="2026-02-24T19:05:39.290" v="0" actId="6549"/>
          <ac:spMkLst>
            <pc:docMk/>
            <pc:sldMk cId="1512789777" sldId="4047"/>
            <ac:spMk id="72" creationId="{194EB65D-06E4-E9D3-7BA4-E66F9754B1C1}"/>
          </ac:spMkLst>
        </pc:spChg>
      </pc:sldChg>
      <pc:sldChg chg="modSp mod">
        <pc:chgData name="Carolina Gonzalez" userId="5ce88fdd-f90a-4a6b-a59b-f9dc367c92a5" providerId="ADAL" clId="{1B9B42BE-5BC1-4239-BA7D-AAE878F03467}" dt="2026-02-24T19:10:48.840" v="3" actId="404"/>
        <pc:sldMkLst>
          <pc:docMk/>
          <pc:sldMk cId="766751141" sldId="4048"/>
        </pc:sldMkLst>
        <pc:spChg chg="mod">
          <ac:chgData name="Carolina Gonzalez" userId="5ce88fdd-f90a-4a6b-a59b-f9dc367c92a5" providerId="ADAL" clId="{1B9B42BE-5BC1-4239-BA7D-AAE878F03467}" dt="2026-02-24T19:10:48.840" v="3" actId="404"/>
          <ac:spMkLst>
            <pc:docMk/>
            <pc:sldMk cId="766751141" sldId="4048"/>
            <ac:spMk id="4" creationId="{2A267F09-8F27-7DDF-28EA-8F06FAE66E15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egtltd-my.sharepoint.com/personal/carolina_gonzalez_egt_com/Documents/Documentos/Marketing/Personal/Metrica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arolina%20Gonzalez\Downloads\Sportsbook%20Missions%20for%20THA%20PM_MX%20-%20Summary%20(1)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https://egtltd-my.sharepoint.com/personal/carolina_gonzalez_egt_com/Documents/Documentos/Marketing/Personal/Metrica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cked"/>
        <c:varyColors val="0"/>
        <c:ser>
          <c:idx val="0"/>
          <c:order val="0"/>
          <c:spPr>
            <a:solidFill>
              <a:srgbClr val="00B0F0"/>
            </a:solidFill>
            <a:ln>
              <a:noFill/>
            </a:ln>
            <a:effectLst/>
          </c:spPr>
          <c:cat>
            <c:strRef>
              <c:f>'#1'!$C$13:$N$13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'#1'!$C$20:$N$20</c:f>
              <c:numCache>
                <c:formatCode>_-* #,##0_-;\-* #,##0_-;_-* "-"??_-;_-@_-</c:formatCode>
                <c:ptCount val="12"/>
                <c:pt idx="0">
                  <c:v>47</c:v>
                </c:pt>
                <c:pt idx="1">
                  <c:v>48</c:v>
                </c:pt>
                <c:pt idx="2">
                  <c:v>49</c:v>
                </c:pt>
                <c:pt idx="3">
                  <c:v>48</c:v>
                </c:pt>
                <c:pt idx="4">
                  <c:v>47</c:v>
                </c:pt>
                <c:pt idx="5">
                  <c:v>48</c:v>
                </c:pt>
                <c:pt idx="6">
                  <c:v>49</c:v>
                </c:pt>
                <c:pt idx="7">
                  <c:v>47</c:v>
                </c:pt>
                <c:pt idx="8">
                  <c:v>46</c:v>
                </c:pt>
                <c:pt idx="9">
                  <c:v>47</c:v>
                </c:pt>
                <c:pt idx="10">
                  <c:v>48</c:v>
                </c:pt>
                <c:pt idx="11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10-4990-9818-2DA67FB559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65141888"/>
        <c:axId val="1165143328"/>
      </c:areaChart>
      <c:catAx>
        <c:axId val="1165141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165143328"/>
        <c:crosses val="autoZero"/>
        <c:auto val="1"/>
        <c:lblAlgn val="ctr"/>
        <c:lblOffset val="100"/>
        <c:noMultiLvlLbl val="0"/>
      </c:catAx>
      <c:valAx>
        <c:axId val="11651433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* #,##0_-;\-* #,##0_-;_-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165141888"/>
        <c:crosses val="autoZero"/>
        <c:crossBetween val="midCat"/>
      </c:valAx>
      <c:spPr>
        <a:solidFill>
          <a:srgbClr val="CCFFCC"/>
        </a:solidFill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Conversion!$J$2:$J$3</c:f>
              <c:strCache>
                <c:ptCount val="2"/>
                <c:pt idx="0">
                  <c:v>Public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val>
            <c:numRef>
              <c:f>Conversion!$J$4:$J$16</c:f>
              <c:numCache>
                <c:formatCode>General</c:formatCode>
                <c:ptCount val="13"/>
                <c:pt idx="0" formatCode="#,##0">
                  <c:v>6</c:v>
                </c:pt>
                <c:pt idx="1">
                  <c:v>7</c:v>
                </c:pt>
                <c:pt idx="2">
                  <c:v>7</c:v>
                </c:pt>
                <c:pt idx="3">
                  <c:v>5</c:v>
                </c:pt>
                <c:pt idx="4">
                  <c:v>7</c:v>
                </c:pt>
                <c:pt idx="5">
                  <c:v>6</c:v>
                </c:pt>
                <c:pt idx="6">
                  <c:v>9</c:v>
                </c:pt>
                <c:pt idx="7">
                  <c:v>6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2AD-4B06-B51D-EA0B200D18B1}"/>
            </c:ext>
          </c:extLst>
        </c:ser>
        <c:ser>
          <c:idx val="1"/>
          <c:order val="1"/>
          <c:tx>
            <c:strRef>
              <c:f>Conversion!$K$2:$K$3</c:f>
              <c:strCache>
                <c:ptCount val="2"/>
                <c:pt idx="0">
                  <c:v>Private</c:v>
                </c:pt>
              </c:strCache>
            </c:strRef>
          </c:tx>
          <c:spPr>
            <a:solidFill>
              <a:srgbClr val="000099"/>
            </a:solidFill>
            <a:ln>
              <a:noFill/>
            </a:ln>
            <a:effectLst/>
          </c:spPr>
          <c:invertIfNegative val="0"/>
          <c:val>
            <c:numRef>
              <c:f>Conversion!$K$4:$K$16</c:f>
              <c:numCache>
                <c:formatCode>General</c:formatCode>
                <c:ptCount val="13"/>
                <c:pt idx="0" formatCode="#,##0">
                  <c:v>1</c:v>
                </c:pt>
                <c:pt idx="1">
                  <c:v>1</c:v>
                </c:pt>
                <c:pt idx="2">
                  <c:v>1</c:v>
                </c:pt>
                <c:pt idx="4">
                  <c:v>3</c:v>
                </c:pt>
                <c:pt idx="5">
                  <c:v>3</c:v>
                </c:pt>
                <c:pt idx="6">
                  <c:v>5</c:v>
                </c:pt>
                <c:pt idx="7">
                  <c:v>4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2AD-4B06-B51D-EA0B200D18B1}"/>
            </c:ext>
          </c:extLst>
        </c:ser>
        <c:ser>
          <c:idx val="2"/>
          <c:order val="2"/>
          <c:tx>
            <c:strRef>
              <c:f>Conversion!$L$2:$L$3</c:f>
              <c:strCache>
                <c:ptCount val="2"/>
                <c:pt idx="0">
                  <c:v>Active Users with at least 1 Opt In</c:v>
                </c:pt>
                <c:pt idx="1">
                  <c:v>the customer base that opted in to at least one mission during a given week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val>
            <c:numRef>
              <c:f>Conversion!$L$4:$L$16</c:f>
            </c:numRef>
          </c:val>
          <c:extLst>
            <c:ext xmlns:c16="http://schemas.microsoft.com/office/drawing/2014/chart" uri="{C3380CC4-5D6E-409C-BE32-E72D297353CC}">
              <c16:uniqueId val="{00000002-A2AD-4B06-B51D-EA0B200D18B1}"/>
            </c:ext>
          </c:extLst>
        </c:ser>
        <c:ser>
          <c:idx val="3"/>
          <c:order val="3"/>
          <c:tx>
            <c:strRef>
              <c:f>Conversion!$M$2:$M$3</c:f>
              <c:strCache>
                <c:ptCount val="2"/>
                <c:pt idx="0">
                  <c:v>Active User with 1 Opt-In Rate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val>
            <c:numRef>
              <c:f>Conversion!$M$4:$M$16</c:f>
            </c:numRef>
          </c:val>
          <c:extLst>
            <c:ext xmlns:c16="http://schemas.microsoft.com/office/drawing/2014/chart" uri="{C3380CC4-5D6E-409C-BE32-E72D297353CC}">
              <c16:uniqueId val="{00000003-A2AD-4B06-B51D-EA0B200D18B1}"/>
            </c:ext>
          </c:extLst>
        </c:ser>
        <c:ser>
          <c:idx val="4"/>
          <c:order val="4"/>
          <c:tx>
            <c:strRef>
              <c:f>Conversion!$N$2:$N$3</c:f>
              <c:strCache>
                <c:ptCount val="2"/>
                <c:pt idx="0">
                  <c:v>Active Users with at least 1 Completion</c:v>
                </c:pt>
                <c:pt idx="1">
                  <c:v>the customer base that completed at least one mission during a given week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val>
            <c:numRef>
              <c:f>Conversion!$N$4:$N$16</c:f>
            </c:numRef>
          </c:val>
          <c:extLst>
            <c:ext xmlns:c16="http://schemas.microsoft.com/office/drawing/2014/chart" uri="{C3380CC4-5D6E-409C-BE32-E72D297353CC}">
              <c16:uniqueId val="{00000004-A2AD-4B06-B51D-EA0B200D18B1}"/>
            </c:ext>
          </c:extLst>
        </c:ser>
        <c:ser>
          <c:idx val="5"/>
          <c:order val="5"/>
          <c:tx>
            <c:strRef>
              <c:f>Conversion!$O$2:$O$3</c:f>
              <c:strCache>
                <c:ptCount val="2"/>
                <c:pt idx="0">
                  <c:v>Active User with 1 Completion Rate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val>
            <c:numRef>
              <c:f>Conversion!$O$4:$O$16</c:f>
            </c:numRef>
          </c:val>
          <c:extLst>
            <c:ext xmlns:c16="http://schemas.microsoft.com/office/drawing/2014/chart" uri="{C3380CC4-5D6E-409C-BE32-E72D297353CC}">
              <c16:uniqueId val="{00000005-A2AD-4B06-B51D-EA0B200D18B1}"/>
            </c:ext>
          </c:extLst>
        </c:ser>
        <c:ser>
          <c:idx val="6"/>
          <c:order val="6"/>
          <c:tx>
            <c:strRef>
              <c:f>Conversion!$P$2:$P$3</c:f>
              <c:strCache>
                <c:ptCount val="2"/>
                <c:pt idx="0">
                  <c:v>Opt-ins</c:v>
                </c:pt>
                <c:pt idx="1">
                  <c:v>how many opt-ins we have, given the number of available missions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val>
            <c:numRef>
              <c:f>Conversion!$P$4:$P$16</c:f>
            </c:numRef>
          </c:val>
          <c:extLst>
            <c:ext xmlns:c16="http://schemas.microsoft.com/office/drawing/2014/chart" uri="{C3380CC4-5D6E-409C-BE32-E72D297353CC}">
              <c16:uniqueId val="{00000006-A2AD-4B06-B51D-EA0B200D18B1}"/>
            </c:ext>
          </c:extLst>
        </c:ser>
        <c:ser>
          <c:idx val="7"/>
          <c:order val="7"/>
          <c:tx>
            <c:strRef>
              <c:f>Conversion!$Q$2:$Q$3</c:f>
              <c:strCache>
                <c:ptCount val="2"/>
                <c:pt idx="0">
                  <c:v>Completions</c:v>
                </c:pt>
                <c:pt idx="1">
                  <c:v>how many completions we have, given the number of available missions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val>
            <c:numRef>
              <c:f>Conversion!$Q$4:$Q$16</c:f>
            </c:numRef>
          </c:val>
          <c:extLst>
            <c:ext xmlns:c16="http://schemas.microsoft.com/office/drawing/2014/chart" uri="{C3380CC4-5D6E-409C-BE32-E72D297353CC}">
              <c16:uniqueId val="{00000007-A2AD-4B06-B51D-EA0B200D18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43991312"/>
        <c:axId val="1343977872"/>
      </c:barChart>
      <c:lineChart>
        <c:grouping val="standard"/>
        <c:varyColors val="0"/>
        <c:ser>
          <c:idx val="8"/>
          <c:order val="8"/>
          <c:tx>
            <c:strRef>
              <c:f>Conversion!$R$2:$R$3</c:f>
              <c:strCache>
                <c:ptCount val="2"/>
                <c:pt idx="0">
                  <c:v>Completions</c:v>
                </c:pt>
                <c:pt idx="1">
                  <c:v>how many completions we have, given the number of available missions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2.7777777777777776E-2"/>
                  <c:y val="-5.55555555555555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2AD-4B06-B51D-EA0B200D18B1}"/>
                </c:ext>
              </c:extLst>
            </c:dLbl>
            <c:dLbl>
              <c:idx val="1"/>
              <c:layout>
                <c:manualLayout>
                  <c:x val="-1.3888888888888888E-2"/>
                  <c:y val="-8.33333333333333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2AD-4B06-B51D-EA0B200D18B1}"/>
                </c:ext>
              </c:extLst>
            </c:dLbl>
            <c:dLbl>
              <c:idx val="3"/>
              <c:layout>
                <c:manualLayout>
                  <c:x val="-5.1886693408606986E-2"/>
                  <c:y val="5.0324845757916625E-2"/>
                </c:manualLayout>
              </c:layout>
              <c:spPr>
                <a:noFill/>
                <a:ln>
                  <a:solidFill>
                    <a:srgbClr val="FF0000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1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A2AD-4B06-B51D-EA0B200D18B1}"/>
                </c:ext>
              </c:extLst>
            </c:dLbl>
            <c:dLbl>
              <c:idx val="5"/>
              <c:layout>
                <c:manualLayout>
                  <c:x val="-3.6111111111111212E-2"/>
                  <c:y val="7.40740740740740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A2AD-4B06-B51D-EA0B200D18B1}"/>
                </c:ext>
              </c:extLst>
            </c:dLbl>
            <c:dLbl>
              <c:idx val="8"/>
              <c:layout>
                <c:manualLayout>
                  <c:x val="-1.7872133907789828E-2"/>
                  <c:y val="0.11489893308790947"/>
                </c:manualLayout>
              </c:layout>
              <c:spPr>
                <a:noFill/>
                <a:ln>
                  <a:solidFill>
                    <a:srgbClr val="FF0000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1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A2AD-4B06-B51D-EA0B200D18B1}"/>
                </c:ext>
              </c:extLst>
            </c:dLbl>
            <c:dLbl>
              <c:idx val="9"/>
              <c:layout>
                <c:manualLayout>
                  <c:x val="-1.9077502104689743E-2"/>
                  <c:y val="0.11778504959607314"/>
                </c:manualLayout>
              </c:layout>
              <c:spPr>
                <a:noFill/>
                <a:ln>
                  <a:solidFill>
                    <a:srgbClr val="FF0000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1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A2AD-4B06-B51D-EA0B200D18B1}"/>
                </c:ext>
              </c:extLst>
            </c:dLbl>
            <c:dLbl>
              <c:idx val="10"/>
              <c:layout>
                <c:manualLayout>
                  <c:x val="-2.7777777777778798E-3"/>
                  <c:y val="-7.4074074074074112E-2"/>
                </c:manualLayout>
              </c:layout>
              <c:spPr>
                <a:noFill/>
                <a:ln>
                  <a:solidFill>
                    <a:srgbClr val="FF0000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1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A2AD-4B06-B51D-EA0B200D18B1}"/>
                </c:ext>
              </c:extLst>
            </c:dLbl>
            <c:dLbl>
              <c:idx val="11"/>
              <c:layout>
                <c:manualLayout>
                  <c:x val="-2.0370135052831988E-16"/>
                  <c:y val="4.6296296296296294E-2"/>
                </c:manualLayout>
              </c:layout>
              <c:spPr>
                <a:noFill/>
                <a:ln>
                  <a:solidFill>
                    <a:srgbClr val="FF0000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1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A2AD-4B06-B51D-EA0B200D18B1}"/>
                </c:ext>
              </c:extLst>
            </c:dLbl>
            <c:dLbl>
              <c:idx val="12"/>
              <c:layout>
                <c:manualLayout>
                  <c:x val="-4.5283018867924525E-2"/>
                  <c:y val="-0.12554095510788427"/>
                </c:manualLayout>
              </c:layout>
              <c:spPr>
                <a:noFill/>
                <a:ln>
                  <a:solidFill>
                    <a:srgbClr val="FF0000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700" b="1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5446639924726394E-2"/>
                      <c:h val="6.948051948051947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0-A2AD-4B06-B51D-EA0B200D18B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accent4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Conversion!$R$4:$R$16</c:f>
              <c:numCache>
                <c:formatCode>0%</c:formatCode>
                <c:ptCount val="13"/>
                <c:pt idx="0">
                  <c:v>0.35710743801652894</c:v>
                </c:pt>
                <c:pt idx="1">
                  <c:v>0.35895522388059703</c:v>
                </c:pt>
                <c:pt idx="2">
                  <c:v>0.36880000000000002</c:v>
                </c:pt>
                <c:pt idx="3">
                  <c:v>0.31834215167548502</c:v>
                </c:pt>
                <c:pt idx="4">
                  <c:v>0.42969776609724047</c:v>
                </c:pt>
                <c:pt idx="5">
                  <c:v>0.40184443808979126</c:v>
                </c:pt>
                <c:pt idx="6">
                  <c:v>0.38396508335954704</c:v>
                </c:pt>
                <c:pt idx="7">
                  <c:v>0.45473061760840999</c:v>
                </c:pt>
                <c:pt idx="8">
                  <c:v>0.26696520840509819</c:v>
                </c:pt>
                <c:pt idx="9">
                  <c:v>0.2777730772484982</c:v>
                </c:pt>
                <c:pt idx="10">
                  <c:v>0.3073247160203682</c:v>
                </c:pt>
                <c:pt idx="11">
                  <c:v>0.31758326878388848</c:v>
                </c:pt>
                <c:pt idx="12">
                  <c:v>0.31880006045035514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1-A2AD-4B06-B51D-EA0B200D18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43993232"/>
        <c:axId val="1343991792"/>
      </c:lineChart>
      <c:catAx>
        <c:axId val="13439913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343977872"/>
        <c:crosses val="autoZero"/>
        <c:auto val="1"/>
        <c:lblAlgn val="ctr"/>
        <c:lblOffset val="100"/>
        <c:noMultiLvlLbl val="0"/>
      </c:catAx>
      <c:valAx>
        <c:axId val="1343977872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343991312"/>
        <c:crosses val="autoZero"/>
        <c:crossBetween val="between"/>
      </c:valAx>
      <c:valAx>
        <c:axId val="1343991792"/>
        <c:scaling>
          <c:orientation val="minMax"/>
        </c:scaling>
        <c:delete val="0"/>
        <c:axPos val="r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343993232"/>
        <c:crosses val="max"/>
        <c:crossBetween val="between"/>
      </c:valAx>
      <c:catAx>
        <c:axId val="1343993232"/>
        <c:scaling>
          <c:orientation val="minMax"/>
        </c:scaling>
        <c:delete val="1"/>
        <c:axPos val="b"/>
        <c:majorTickMark val="none"/>
        <c:minorTickMark val="none"/>
        <c:tickLblPos val="nextTo"/>
        <c:crossAx val="134399179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Conversion!$J$2:$J$3</c:f>
              <c:strCache>
                <c:ptCount val="2"/>
                <c:pt idx="0">
                  <c:v>Public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val>
            <c:numRef>
              <c:f>Conversion!$J$4:$J$16</c:f>
              <c:numCache>
                <c:formatCode>General</c:formatCode>
                <c:ptCount val="13"/>
                <c:pt idx="0" formatCode="#,##0">
                  <c:v>6</c:v>
                </c:pt>
                <c:pt idx="1">
                  <c:v>7</c:v>
                </c:pt>
                <c:pt idx="2">
                  <c:v>7</c:v>
                </c:pt>
                <c:pt idx="3">
                  <c:v>5</c:v>
                </c:pt>
                <c:pt idx="4">
                  <c:v>7</c:v>
                </c:pt>
                <c:pt idx="5">
                  <c:v>6</c:v>
                </c:pt>
                <c:pt idx="6">
                  <c:v>9</c:v>
                </c:pt>
                <c:pt idx="7">
                  <c:v>6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43-4234-AE59-B7D9E0A5D6FA}"/>
            </c:ext>
          </c:extLst>
        </c:ser>
        <c:ser>
          <c:idx val="1"/>
          <c:order val="1"/>
          <c:tx>
            <c:strRef>
              <c:f>Conversion!$K$2:$K$3</c:f>
              <c:strCache>
                <c:ptCount val="2"/>
                <c:pt idx="0">
                  <c:v>Private</c:v>
                </c:pt>
              </c:strCache>
            </c:strRef>
          </c:tx>
          <c:spPr>
            <a:solidFill>
              <a:srgbClr val="000099"/>
            </a:solidFill>
            <a:ln>
              <a:noFill/>
            </a:ln>
            <a:effectLst/>
          </c:spPr>
          <c:invertIfNegative val="0"/>
          <c:val>
            <c:numRef>
              <c:f>Conversion!$K$4:$K$16</c:f>
              <c:numCache>
                <c:formatCode>General</c:formatCode>
                <c:ptCount val="13"/>
                <c:pt idx="0" formatCode="#,##0">
                  <c:v>1</c:v>
                </c:pt>
                <c:pt idx="1">
                  <c:v>1</c:v>
                </c:pt>
                <c:pt idx="2">
                  <c:v>1</c:v>
                </c:pt>
                <c:pt idx="4">
                  <c:v>3</c:v>
                </c:pt>
                <c:pt idx="5">
                  <c:v>3</c:v>
                </c:pt>
                <c:pt idx="6">
                  <c:v>5</c:v>
                </c:pt>
                <c:pt idx="7">
                  <c:v>4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943-4234-AE59-B7D9E0A5D6FA}"/>
            </c:ext>
          </c:extLst>
        </c:ser>
        <c:ser>
          <c:idx val="2"/>
          <c:order val="2"/>
          <c:tx>
            <c:strRef>
              <c:f>Conversion!$L$2:$L$3</c:f>
              <c:strCache>
                <c:ptCount val="2"/>
                <c:pt idx="0">
                  <c:v>Active Users with at least 1 Opt In</c:v>
                </c:pt>
                <c:pt idx="1">
                  <c:v>the customer base that opted in to at least one mission during a given week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val>
            <c:numRef>
              <c:f>Conversion!$L$4:$L$16</c:f>
            </c:numRef>
          </c:val>
          <c:extLst>
            <c:ext xmlns:c16="http://schemas.microsoft.com/office/drawing/2014/chart" uri="{C3380CC4-5D6E-409C-BE32-E72D297353CC}">
              <c16:uniqueId val="{00000002-C943-4234-AE59-B7D9E0A5D6FA}"/>
            </c:ext>
          </c:extLst>
        </c:ser>
        <c:ser>
          <c:idx val="3"/>
          <c:order val="3"/>
          <c:tx>
            <c:strRef>
              <c:f>Conversion!$M$2:$M$3</c:f>
              <c:strCache>
                <c:ptCount val="2"/>
                <c:pt idx="0">
                  <c:v>Active User with 1 Opt-In Rate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val>
            <c:numRef>
              <c:f>Conversion!$M$4:$M$16</c:f>
            </c:numRef>
          </c:val>
          <c:extLst>
            <c:ext xmlns:c16="http://schemas.microsoft.com/office/drawing/2014/chart" uri="{C3380CC4-5D6E-409C-BE32-E72D297353CC}">
              <c16:uniqueId val="{00000003-C943-4234-AE59-B7D9E0A5D6FA}"/>
            </c:ext>
          </c:extLst>
        </c:ser>
        <c:ser>
          <c:idx val="4"/>
          <c:order val="4"/>
          <c:tx>
            <c:strRef>
              <c:f>Conversion!$N$2:$N$3</c:f>
              <c:strCache>
                <c:ptCount val="2"/>
                <c:pt idx="0">
                  <c:v>Active Users with at least 1 Completion</c:v>
                </c:pt>
                <c:pt idx="1">
                  <c:v>the customer base that completed at least one mission during a given week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val>
            <c:numRef>
              <c:f>Conversion!$N$4:$N$16</c:f>
            </c:numRef>
          </c:val>
          <c:extLst>
            <c:ext xmlns:c16="http://schemas.microsoft.com/office/drawing/2014/chart" uri="{C3380CC4-5D6E-409C-BE32-E72D297353CC}">
              <c16:uniqueId val="{00000004-C943-4234-AE59-B7D9E0A5D6FA}"/>
            </c:ext>
          </c:extLst>
        </c:ser>
        <c:ser>
          <c:idx val="5"/>
          <c:order val="5"/>
          <c:tx>
            <c:strRef>
              <c:f>Conversion!$O$2:$O$3</c:f>
              <c:strCache>
                <c:ptCount val="2"/>
                <c:pt idx="0">
                  <c:v>Active User with 1 Completion Rate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val>
            <c:numRef>
              <c:f>Conversion!$O$4:$O$16</c:f>
            </c:numRef>
          </c:val>
          <c:extLst>
            <c:ext xmlns:c16="http://schemas.microsoft.com/office/drawing/2014/chart" uri="{C3380CC4-5D6E-409C-BE32-E72D297353CC}">
              <c16:uniqueId val="{00000005-C943-4234-AE59-B7D9E0A5D6FA}"/>
            </c:ext>
          </c:extLst>
        </c:ser>
        <c:ser>
          <c:idx val="6"/>
          <c:order val="6"/>
          <c:tx>
            <c:strRef>
              <c:f>Conversion!$P$2:$P$3</c:f>
              <c:strCache>
                <c:ptCount val="2"/>
                <c:pt idx="0">
                  <c:v>Opt-ins</c:v>
                </c:pt>
                <c:pt idx="1">
                  <c:v>how many opt-ins we have, given the number of available missions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val>
            <c:numRef>
              <c:f>Conversion!$P$4:$P$16</c:f>
            </c:numRef>
          </c:val>
          <c:extLst>
            <c:ext xmlns:c16="http://schemas.microsoft.com/office/drawing/2014/chart" uri="{C3380CC4-5D6E-409C-BE32-E72D297353CC}">
              <c16:uniqueId val="{00000006-C943-4234-AE59-B7D9E0A5D6FA}"/>
            </c:ext>
          </c:extLst>
        </c:ser>
        <c:ser>
          <c:idx val="7"/>
          <c:order val="7"/>
          <c:tx>
            <c:strRef>
              <c:f>Conversion!$Q$2:$Q$3</c:f>
              <c:strCache>
                <c:ptCount val="2"/>
                <c:pt idx="0">
                  <c:v>Completions</c:v>
                </c:pt>
                <c:pt idx="1">
                  <c:v>how many completions we have, given the number of available missions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val>
            <c:numRef>
              <c:f>Conversion!$Q$4:$Q$16</c:f>
            </c:numRef>
          </c:val>
          <c:extLst>
            <c:ext xmlns:c16="http://schemas.microsoft.com/office/drawing/2014/chart" uri="{C3380CC4-5D6E-409C-BE32-E72D297353CC}">
              <c16:uniqueId val="{00000007-C943-4234-AE59-B7D9E0A5D6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43991312"/>
        <c:axId val="1343977872"/>
      </c:barChart>
      <c:lineChart>
        <c:grouping val="standard"/>
        <c:varyColors val="0"/>
        <c:ser>
          <c:idx val="8"/>
          <c:order val="8"/>
          <c:tx>
            <c:strRef>
              <c:f>Conversion!$R$2:$R$3</c:f>
              <c:strCache>
                <c:ptCount val="2"/>
                <c:pt idx="0">
                  <c:v>Completions</c:v>
                </c:pt>
                <c:pt idx="1">
                  <c:v>how many completions we have, given the number of available missions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C943-4234-AE59-B7D9E0A5D6FA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C943-4234-AE59-B7D9E0A5D6FA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C943-4234-AE59-B7D9E0A5D6FA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C943-4234-AE59-B7D9E0A5D6FA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C943-4234-AE59-B7D9E0A5D6FA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C943-4234-AE59-B7D9E0A5D6FA}"/>
                </c:ext>
              </c:extLst>
            </c:dLbl>
            <c:dLbl>
              <c:idx val="6"/>
              <c:layout>
                <c:manualLayout>
                  <c:x val="-9.1584006692122688E-2"/>
                  <c:y val="-0.1641576714211376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00" b="1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C943-4234-AE59-B7D9E0A5D6FA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C943-4234-AE59-B7D9E0A5D6FA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C943-4234-AE59-B7D9E0A5D6FA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C943-4234-AE59-B7D9E0A5D6FA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C943-4234-AE59-B7D9E0A5D6FA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C943-4234-AE59-B7D9E0A5D6FA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>
                  <c15:layout>
                    <c:manualLayout>
                      <c:w val="6.5446639924726394E-2"/>
                      <c:h val="6.948051948051947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0-C943-4234-AE59-B7D9E0A5D6F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accent4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Conversion!$R$4:$R$16</c:f>
              <c:numCache>
                <c:formatCode>0%</c:formatCode>
                <c:ptCount val="13"/>
                <c:pt idx="0">
                  <c:v>0.35710743801652894</c:v>
                </c:pt>
                <c:pt idx="1">
                  <c:v>0.35895522388059703</c:v>
                </c:pt>
                <c:pt idx="2">
                  <c:v>0.36880000000000002</c:v>
                </c:pt>
                <c:pt idx="3">
                  <c:v>0.31834215167548502</c:v>
                </c:pt>
                <c:pt idx="4">
                  <c:v>0.42969776609724047</c:v>
                </c:pt>
                <c:pt idx="5">
                  <c:v>0.40184443808979126</c:v>
                </c:pt>
                <c:pt idx="6">
                  <c:v>0.38396508335954704</c:v>
                </c:pt>
                <c:pt idx="7">
                  <c:v>0.45473061760840999</c:v>
                </c:pt>
                <c:pt idx="8">
                  <c:v>0.26696520840509819</c:v>
                </c:pt>
                <c:pt idx="9">
                  <c:v>0.2777730772484982</c:v>
                </c:pt>
                <c:pt idx="10">
                  <c:v>0.3073247160203682</c:v>
                </c:pt>
                <c:pt idx="11">
                  <c:v>0.31758326878388848</c:v>
                </c:pt>
                <c:pt idx="12">
                  <c:v>0.31880006045035514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1-C943-4234-AE59-B7D9E0A5D6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43993232"/>
        <c:axId val="1343991792"/>
      </c:lineChart>
      <c:catAx>
        <c:axId val="13439913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343977872"/>
        <c:crosses val="autoZero"/>
        <c:auto val="1"/>
        <c:lblAlgn val="ctr"/>
        <c:lblOffset val="100"/>
        <c:noMultiLvlLbl val="0"/>
      </c:catAx>
      <c:valAx>
        <c:axId val="1343977872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343991312"/>
        <c:crosses val="autoZero"/>
        <c:crossBetween val="between"/>
      </c:valAx>
      <c:valAx>
        <c:axId val="1343991792"/>
        <c:scaling>
          <c:orientation val="minMax"/>
        </c:scaling>
        <c:delete val="0"/>
        <c:axPos val="r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343993232"/>
        <c:crosses val="max"/>
        <c:crossBetween val="between"/>
      </c:valAx>
      <c:catAx>
        <c:axId val="1343993232"/>
        <c:scaling>
          <c:orientation val="minMax"/>
        </c:scaling>
        <c:delete val="1"/>
        <c:axPos val="b"/>
        <c:majorTickMark val="none"/>
        <c:minorTickMark val="none"/>
        <c:tickLblPos val="nextTo"/>
        <c:crossAx val="134399179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3.8721140989451792E-2"/>
          <c:y val="3.896103896103896E-2"/>
          <c:w val="0.91864566929133862"/>
          <c:h val="0.857229437229437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Conversion!$J$2:$J$3</c:f>
              <c:strCache>
                <c:ptCount val="2"/>
                <c:pt idx="0">
                  <c:v>Public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val>
            <c:numRef>
              <c:f>Conversion!$J$4:$J$16</c:f>
              <c:numCache>
                <c:formatCode>General</c:formatCode>
                <c:ptCount val="13"/>
                <c:pt idx="0" formatCode="#,##0">
                  <c:v>6</c:v>
                </c:pt>
                <c:pt idx="1">
                  <c:v>7</c:v>
                </c:pt>
                <c:pt idx="2">
                  <c:v>7</c:v>
                </c:pt>
                <c:pt idx="3">
                  <c:v>5</c:v>
                </c:pt>
                <c:pt idx="4">
                  <c:v>7</c:v>
                </c:pt>
                <c:pt idx="5">
                  <c:v>6</c:v>
                </c:pt>
                <c:pt idx="6">
                  <c:v>9</c:v>
                </c:pt>
                <c:pt idx="7">
                  <c:v>6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7C-44B1-9648-5E575CD26B5F}"/>
            </c:ext>
          </c:extLst>
        </c:ser>
        <c:ser>
          <c:idx val="1"/>
          <c:order val="1"/>
          <c:tx>
            <c:strRef>
              <c:f>Conversion!$K$2:$K$3</c:f>
              <c:strCache>
                <c:ptCount val="2"/>
                <c:pt idx="0">
                  <c:v>Private</c:v>
                </c:pt>
              </c:strCache>
            </c:strRef>
          </c:tx>
          <c:spPr>
            <a:solidFill>
              <a:srgbClr val="000099"/>
            </a:solidFill>
            <a:ln>
              <a:noFill/>
            </a:ln>
            <a:effectLst/>
          </c:spPr>
          <c:invertIfNegative val="0"/>
          <c:val>
            <c:numRef>
              <c:f>Conversion!$K$4:$K$16</c:f>
              <c:numCache>
                <c:formatCode>General</c:formatCode>
                <c:ptCount val="13"/>
                <c:pt idx="0" formatCode="#,##0">
                  <c:v>1</c:v>
                </c:pt>
                <c:pt idx="1">
                  <c:v>1</c:v>
                </c:pt>
                <c:pt idx="2">
                  <c:v>1</c:v>
                </c:pt>
                <c:pt idx="4">
                  <c:v>3</c:v>
                </c:pt>
                <c:pt idx="5">
                  <c:v>3</c:v>
                </c:pt>
                <c:pt idx="6">
                  <c:v>5</c:v>
                </c:pt>
                <c:pt idx="7">
                  <c:v>4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D7C-44B1-9648-5E575CD26B5F}"/>
            </c:ext>
          </c:extLst>
        </c:ser>
        <c:ser>
          <c:idx val="2"/>
          <c:order val="2"/>
          <c:tx>
            <c:strRef>
              <c:f>Conversion!$L$2:$L$3</c:f>
              <c:strCache>
                <c:ptCount val="2"/>
                <c:pt idx="0">
                  <c:v>Active Users with at least 1 Opt In</c:v>
                </c:pt>
                <c:pt idx="1">
                  <c:v>the customer base that opted in to at least one mission during a given week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val>
            <c:numRef>
              <c:f>Conversion!$L$4:$L$16</c:f>
            </c:numRef>
          </c:val>
          <c:extLst>
            <c:ext xmlns:c16="http://schemas.microsoft.com/office/drawing/2014/chart" uri="{C3380CC4-5D6E-409C-BE32-E72D297353CC}">
              <c16:uniqueId val="{00000002-4D7C-44B1-9648-5E575CD26B5F}"/>
            </c:ext>
          </c:extLst>
        </c:ser>
        <c:ser>
          <c:idx val="3"/>
          <c:order val="3"/>
          <c:tx>
            <c:strRef>
              <c:f>Conversion!$M$2:$M$3</c:f>
              <c:strCache>
                <c:ptCount val="2"/>
                <c:pt idx="0">
                  <c:v>Active User with 1 Opt-In Rate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val>
            <c:numRef>
              <c:f>Conversion!$M$4:$M$16</c:f>
            </c:numRef>
          </c:val>
          <c:extLst>
            <c:ext xmlns:c16="http://schemas.microsoft.com/office/drawing/2014/chart" uri="{C3380CC4-5D6E-409C-BE32-E72D297353CC}">
              <c16:uniqueId val="{00000003-4D7C-44B1-9648-5E575CD26B5F}"/>
            </c:ext>
          </c:extLst>
        </c:ser>
        <c:ser>
          <c:idx val="4"/>
          <c:order val="4"/>
          <c:tx>
            <c:strRef>
              <c:f>Conversion!$N$2:$N$3</c:f>
              <c:strCache>
                <c:ptCount val="2"/>
                <c:pt idx="0">
                  <c:v>Active Users with at least 1 Completion</c:v>
                </c:pt>
                <c:pt idx="1">
                  <c:v>the customer base that completed at least one mission during a given week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val>
            <c:numRef>
              <c:f>Conversion!$N$4:$N$16</c:f>
            </c:numRef>
          </c:val>
          <c:extLst>
            <c:ext xmlns:c16="http://schemas.microsoft.com/office/drawing/2014/chart" uri="{C3380CC4-5D6E-409C-BE32-E72D297353CC}">
              <c16:uniqueId val="{00000004-4D7C-44B1-9648-5E575CD26B5F}"/>
            </c:ext>
          </c:extLst>
        </c:ser>
        <c:ser>
          <c:idx val="5"/>
          <c:order val="5"/>
          <c:tx>
            <c:strRef>
              <c:f>Conversion!$O$2:$O$3</c:f>
              <c:strCache>
                <c:ptCount val="2"/>
                <c:pt idx="0">
                  <c:v>Active User with 1 Completion Rate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val>
            <c:numRef>
              <c:f>Conversion!$O$4:$O$16</c:f>
            </c:numRef>
          </c:val>
          <c:extLst>
            <c:ext xmlns:c16="http://schemas.microsoft.com/office/drawing/2014/chart" uri="{C3380CC4-5D6E-409C-BE32-E72D297353CC}">
              <c16:uniqueId val="{00000005-4D7C-44B1-9648-5E575CD26B5F}"/>
            </c:ext>
          </c:extLst>
        </c:ser>
        <c:ser>
          <c:idx val="6"/>
          <c:order val="6"/>
          <c:tx>
            <c:strRef>
              <c:f>Conversion!$P$2:$P$3</c:f>
              <c:strCache>
                <c:ptCount val="2"/>
                <c:pt idx="0">
                  <c:v>Opt-ins</c:v>
                </c:pt>
                <c:pt idx="1">
                  <c:v>how many opt-ins we have, given the number of available missions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val>
            <c:numRef>
              <c:f>Conversion!$P$4:$P$16</c:f>
            </c:numRef>
          </c:val>
          <c:extLst>
            <c:ext xmlns:c16="http://schemas.microsoft.com/office/drawing/2014/chart" uri="{C3380CC4-5D6E-409C-BE32-E72D297353CC}">
              <c16:uniqueId val="{00000006-4D7C-44B1-9648-5E575CD26B5F}"/>
            </c:ext>
          </c:extLst>
        </c:ser>
        <c:ser>
          <c:idx val="7"/>
          <c:order val="7"/>
          <c:tx>
            <c:strRef>
              <c:f>Conversion!$Q$2:$Q$3</c:f>
              <c:strCache>
                <c:ptCount val="2"/>
                <c:pt idx="0">
                  <c:v>Completions</c:v>
                </c:pt>
                <c:pt idx="1">
                  <c:v>how many completions we have, given the number of available missions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val>
            <c:numRef>
              <c:f>Conversion!$Q$4:$Q$16</c:f>
            </c:numRef>
          </c:val>
          <c:extLst>
            <c:ext xmlns:c16="http://schemas.microsoft.com/office/drawing/2014/chart" uri="{C3380CC4-5D6E-409C-BE32-E72D297353CC}">
              <c16:uniqueId val="{00000007-4D7C-44B1-9648-5E575CD26B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43991312"/>
        <c:axId val="1343977872"/>
      </c:barChart>
      <c:lineChart>
        <c:grouping val="standard"/>
        <c:varyColors val="0"/>
        <c:ser>
          <c:idx val="8"/>
          <c:order val="8"/>
          <c:tx>
            <c:strRef>
              <c:f>Conversion!$R$2:$R$3</c:f>
              <c:strCache>
                <c:ptCount val="2"/>
                <c:pt idx="0">
                  <c:v>Completions</c:v>
                </c:pt>
                <c:pt idx="1">
                  <c:v>how many completions we have, given the number of available missions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val>
            <c:numRef>
              <c:f>Conversion!$R$4:$R$16</c:f>
              <c:numCache>
                <c:formatCode>0%</c:formatCode>
                <c:ptCount val="13"/>
                <c:pt idx="0">
                  <c:v>0.35710743801652894</c:v>
                </c:pt>
                <c:pt idx="1">
                  <c:v>0.35895522388059703</c:v>
                </c:pt>
                <c:pt idx="2">
                  <c:v>0.36880000000000002</c:v>
                </c:pt>
                <c:pt idx="3">
                  <c:v>0.31834215167548502</c:v>
                </c:pt>
                <c:pt idx="4">
                  <c:v>0.42969776609724047</c:v>
                </c:pt>
                <c:pt idx="5">
                  <c:v>0.40184443808979126</c:v>
                </c:pt>
                <c:pt idx="6">
                  <c:v>0.38396508335954704</c:v>
                </c:pt>
                <c:pt idx="7">
                  <c:v>0.45473061760840999</c:v>
                </c:pt>
                <c:pt idx="8">
                  <c:v>0.26696520840509819</c:v>
                </c:pt>
                <c:pt idx="9">
                  <c:v>0.2777730772484982</c:v>
                </c:pt>
                <c:pt idx="10">
                  <c:v>0.3073247160203682</c:v>
                </c:pt>
                <c:pt idx="11">
                  <c:v>0.31758326878388848</c:v>
                </c:pt>
                <c:pt idx="12">
                  <c:v>0.31880006045035514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1-4D7C-44B1-9648-5E575CD26B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43993232"/>
        <c:axId val="1343991792"/>
      </c:lineChart>
      <c:catAx>
        <c:axId val="13439913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343977872"/>
        <c:crosses val="autoZero"/>
        <c:auto val="1"/>
        <c:lblAlgn val="ctr"/>
        <c:lblOffset val="100"/>
        <c:noMultiLvlLbl val="0"/>
      </c:catAx>
      <c:valAx>
        <c:axId val="1343977872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343991312"/>
        <c:crosses val="autoZero"/>
        <c:crossBetween val="between"/>
      </c:valAx>
      <c:valAx>
        <c:axId val="1343991792"/>
        <c:scaling>
          <c:orientation val="minMax"/>
        </c:scaling>
        <c:delete val="0"/>
        <c:axPos val="r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343993232"/>
        <c:crosses val="max"/>
        <c:crossBetween val="between"/>
      </c:valAx>
      <c:catAx>
        <c:axId val="1343993232"/>
        <c:scaling>
          <c:orientation val="minMax"/>
        </c:scaling>
        <c:delete val="1"/>
        <c:axPos val="b"/>
        <c:majorTickMark val="none"/>
        <c:minorTickMark val="none"/>
        <c:tickLblPos val="nextTo"/>
        <c:crossAx val="134399179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Conversion!$K$2</c:f>
              <c:strCache>
                <c:ptCount val="1"/>
                <c:pt idx="0">
                  <c:v>Public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val>
            <c:numRef>
              <c:f>Conversion!$K$3:$K$15</c:f>
            </c:numRef>
          </c:val>
          <c:extLst>
            <c:ext xmlns:c16="http://schemas.microsoft.com/office/drawing/2014/chart" uri="{C3380CC4-5D6E-409C-BE32-E72D297353CC}">
              <c16:uniqueId val="{00000000-D00D-4837-A768-149DE58A6F52}"/>
            </c:ext>
          </c:extLst>
        </c:ser>
        <c:ser>
          <c:idx val="1"/>
          <c:order val="1"/>
          <c:tx>
            <c:strRef>
              <c:f>Conversion!$L$2</c:f>
              <c:strCache>
                <c:ptCount val="1"/>
                <c:pt idx="0">
                  <c:v>Private</c:v>
                </c:pt>
              </c:strCache>
            </c:strRef>
          </c:tx>
          <c:spPr>
            <a:solidFill>
              <a:srgbClr val="000099"/>
            </a:solidFill>
            <a:ln>
              <a:noFill/>
            </a:ln>
            <a:effectLst/>
          </c:spPr>
          <c:invertIfNegative val="0"/>
          <c:val>
            <c:numRef>
              <c:f>Conversion!$L$3:$L$15</c:f>
            </c:numRef>
          </c:val>
          <c:extLst>
            <c:ext xmlns:c16="http://schemas.microsoft.com/office/drawing/2014/chart" uri="{C3380CC4-5D6E-409C-BE32-E72D297353CC}">
              <c16:uniqueId val="{00000001-D00D-4837-A768-149DE58A6F52}"/>
            </c:ext>
          </c:extLst>
        </c:ser>
        <c:ser>
          <c:idx val="2"/>
          <c:order val="2"/>
          <c:tx>
            <c:strRef>
              <c:f>Conversion!$M$2</c:f>
              <c:strCache>
                <c:ptCount val="1"/>
                <c:pt idx="0">
                  <c:v>Active Users with at least 1 Opt In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val>
            <c:numRef>
              <c:f>Conversion!$M$3:$M$15</c:f>
            </c:numRef>
          </c:val>
          <c:extLst>
            <c:ext xmlns:c16="http://schemas.microsoft.com/office/drawing/2014/chart" uri="{C3380CC4-5D6E-409C-BE32-E72D297353CC}">
              <c16:uniqueId val="{00000002-D00D-4837-A768-149DE58A6F52}"/>
            </c:ext>
          </c:extLst>
        </c:ser>
        <c:ser>
          <c:idx val="3"/>
          <c:order val="3"/>
          <c:tx>
            <c:strRef>
              <c:f>Conversion!$N$2</c:f>
              <c:strCache>
                <c:ptCount val="1"/>
                <c:pt idx="0">
                  <c:v>Active User with 1 Opt-In Rate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val>
            <c:numRef>
              <c:f>Conversion!$N$3:$N$15</c:f>
            </c:numRef>
          </c:val>
          <c:extLst>
            <c:ext xmlns:c16="http://schemas.microsoft.com/office/drawing/2014/chart" uri="{C3380CC4-5D6E-409C-BE32-E72D297353CC}">
              <c16:uniqueId val="{00000003-D00D-4837-A768-149DE58A6F52}"/>
            </c:ext>
          </c:extLst>
        </c:ser>
        <c:ser>
          <c:idx val="4"/>
          <c:order val="4"/>
          <c:tx>
            <c:strRef>
              <c:f>Conversion!$O$2</c:f>
              <c:strCache>
                <c:ptCount val="1"/>
                <c:pt idx="0">
                  <c:v>Active Users with at least 1 Completion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val>
            <c:numRef>
              <c:f>Conversion!$O$3:$O$15</c:f>
            </c:numRef>
          </c:val>
          <c:extLst>
            <c:ext xmlns:c16="http://schemas.microsoft.com/office/drawing/2014/chart" uri="{C3380CC4-5D6E-409C-BE32-E72D297353CC}">
              <c16:uniqueId val="{00000004-D00D-4837-A768-149DE58A6F52}"/>
            </c:ext>
          </c:extLst>
        </c:ser>
        <c:ser>
          <c:idx val="5"/>
          <c:order val="5"/>
          <c:tx>
            <c:strRef>
              <c:f>Conversion!$P$2</c:f>
              <c:strCache>
                <c:ptCount val="1"/>
                <c:pt idx="0">
                  <c:v>Active User with 1 Completion Rate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val>
            <c:numRef>
              <c:f>Conversion!$P$3:$P$15</c:f>
            </c:numRef>
          </c:val>
          <c:extLst>
            <c:ext xmlns:c16="http://schemas.microsoft.com/office/drawing/2014/chart" uri="{C3380CC4-5D6E-409C-BE32-E72D297353CC}">
              <c16:uniqueId val="{00000005-D00D-4837-A768-149DE58A6F52}"/>
            </c:ext>
          </c:extLst>
        </c:ser>
        <c:ser>
          <c:idx val="6"/>
          <c:order val="6"/>
          <c:tx>
            <c:strRef>
              <c:f>Conversion!$Q$2</c:f>
              <c:strCache>
                <c:ptCount val="1"/>
                <c:pt idx="0">
                  <c:v>Opt-ins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val>
            <c:numRef>
              <c:f>Conversion!$Q$3:$Q$15</c:f>
            </c:numRef>
          </c:val>
          <c:extLst>
            <c:ext xmlns:c16="http://schemas.microsoft.com/office/drawing/2014/chart" uri="{C3380CC4-5D6E-409C-BE32-E72D297353CC}">
              <c16:uniqueId val="{00000006-D00D-4837-A768-149DE58A6F52}"/>
            </c:ext>
          </c:extLst>
        </c:ser>
        <c:ser>
          <c:idx val="7"/>
          <c:order val="7"/>
          <c:tx>
            <c:strRef>
              <c:f>Conversion!$R$2</c:f>
              <c:strCache>
                <c:ptCount val="1"/>
                <c:pt idx="0">
                  <c:v>Completions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val>
            <c:numRef>
              <c:f>Conversion!$R$3:$R$15</c:f>
            </c:numRef>
          </c:val>
          <c:extLst>
            <c:ext xmlns:c16="http://schemas.microsoft.com/office/drawing/2014/chart" uri="{C3380CC4-5D6E-409C-BE32-E72D297353CC}">
              <c16:uniqueId val="{00000007-D00D-4837-A768-149DE58A6F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43991312"/>
        <c:axId val="1343977872"/>
      </c:barChart>
      <c:lineChart>
        <c:grouping val="standard"/>
        <c:varyColors val="0"/>
        <c:ser>
          <c:idx val="8"/>
          <c:order val="8"/>
          <c:tx>
            <c:strRef>
              <c:f>Conversion!$S$2</c:f>
              <c:strCache>
                <c:ptCount val="1"/>
                <c:pt idx="0">
                  <c:v>Conversion rate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2.7777777777777776E-2"/>
                  <c:y val="-5.55555555555555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D00D-4837-A768-149DE58A6F52}"/>
                </c:ext>
              </c:extLst>
            </c:dLbl>
            <c:dLbl>
              <c:idx val="1"/>
              <c:layout>
                <c:manualLayout>
                  <c:x val="-1.3888888888888888E-2"/>
                  <c:y val="-8.33333333333333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00D-4837-A768-149DE58A6F52}"/>
                </c:ext>
              </c:extLst>
            </c:dLbl>
            <c:dLbl>
              <c:idx val="3"/>
              <c:layout>
                <c:manualLayout>
                  <c:x val="-1.6666666666666666E-2"/>
                  <c:y val="4.166666666666666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D00D-4837-A768-149DE58A6F52}"/>
                </c:ext>
              </c:extLst>
            </c:dLbl>
            <c:dLbl>
              <c:idx val="5"/>
              <c:layout>
                <c:manualLayout>
                  <c:x val="-3.6111111111111212E-2"/>
                  <c:y val="7.40740740740740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D00D-4837-A768-149DE58A6F52}"/>
                </c:ext>
              </c:extLst>
            </c:dLbl>
            <c:dLbl>
              <c:idx val="8"/>
              <c:layout>
                <c:manualLayout>
                  <c:x val="-2.7777777777777779E-3"/>
                  <c:y val="-9.722222222222218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D00D-4837-A768-149DE58A6F52}"/>
                </c:ext>
              </c:extLst>
            </c:dLbl>
            <c:dLbl>
              <c:idx val="9"/>
              <c:layout>
                <c:manualLayout>
                  <c:x val="1.1111111111111009E-2"/>
                  <c:y val="1.38888888888888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D00D-4837-A768-149DE58A6F52}"/>
                </c:ext>
              </c:extLst>
            </c:dLbl>
            <c:dLbl>
              <c:idx val="10"/>
              <c:layout>
                <c:manualLayout>
                  <c:x val="-2.7777777777778798E-3"/>
                  <c:y val="-7.407407407407411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D00D-4837-A768-149DE58A6F52}"/>
                </c:ext>
              </c:extLst>
            </c:dLbl>
            <c:dLbl>
              <c:idx val="11"/>
              <c:layout>
                <c:manualLayout>
                  <c:x val="-2.0370135052831988E-16"/>
                  <c:y val="4.629629629629629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D00D-4837-A768-149DE58A6F52}"/>
                </c:ext>
              </c:extLst>
            </c:dLbl>
            <c:dLbl>
              <c:idx val="12"/>
              <c:layout>
                <c:manualLayout>
                  <c:x val="-4.5283018867924525E-2"/>
                  <c:y val="-0.1038959334628626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5446639924726394E-2"/>
                      <c:h val="0.1127705627705627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0-D00D-4837-A768-149DE58A6F5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accent4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Conversion!$S$3:$S$15</c:f>
              <c:numCache>
                <c:formatCode>0%</c:formatCode>
                <c:ptCount val="13"/>
                <c:pt idx="0">
                  <c:v>0.35710743801652894</c:v>
                </c:pt>
                <c:pt idx="1">
                  <c:v>0.35895522388059703</c:v>
                </c:pt>
                <c:pt idx="2">
                  <c:v>0.36880000000000002</c:v>
                </c:pt>
                <c:pt idx="3">
                  <c:v>0.31834215167548502</c:v>
                </c:pt>
                <c:pt idx="4">
                  <c:v>0.42969776609724047</c:v>
                </c:pt>
                <c:pt idx="5">
                  <c:v>0.40184443808979126</c:v>
                </c:pt>
                <c:pt idx="6">
                  <c:v>0.38396508335954704</c:v>
                </c:pt>
                <c:pt idx="7">
                  <c:v>0.45473061760840999</c:v>
                </c:pt>
                <c:pt idx="8">
                  <c:v>0.26696520840509819</c:v>
                </c:pt>
                <c:pt idx="9">
                  <c:v>0.2777730772484982</c:v>
                </c:pt>
                <c:pt idx="10">
                  <c:v>0.3073247160203682</c:v>
                </c:pt>
                <c:pt idx="11">
                  <c:v>0.31758326878388848</c:v>
                </c:pt>
                <c:pt idx="12">
                  <c:v>0.31880006045035514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1-D00D-4837-A768-149DE58A6F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43993232"/>
        <c:axId val="1343991792"/>
      </c:lineChart>
      <c:catAx>
        <c:axId val="13439913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343977872"/>
        <c:crosses val="autoZero"/>
        <c:auto val="1"/>
        <c:lblAlgn val="ctr"/>
        <c:lblOffset val="100"/>
        <c:noMultiLvlLbl val="0"/>
      </c:catAx>
      <c:valAx>
        <c:axId val="1343977872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343991312"/>
        <c:crosses val="autoZero"/>
        <c:crossBetween val="between"/>
      </c:valAx>
      <c:valAx>
        <c:axId val="1343991792"/>
        <c:scaling>
          <c:orientation val="minMax"/>
        </c:scaling>
        <c:delete val="0"/>
        <c:axPos val="r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343993232"/>
        <c:crosses val="max"/>
        <c:crossBetween val="between"/>
      </c:valAx>
      <c:catAx>
        <c:axId val="1343993232"/>
        <c:scaling>
          <c:orientation val="minMax"/>
        </c:scaling>
        <c:delete val="1"/>
        <c:axPos val="b"/>
        <c:majorTickMark val="none"/>
        <c:minorTickMark val="none"/>
        <c:tickLblPos val="nextTo"/>
        <c:crossAx val="134399179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 dir="row">Month!$G$13:$R$13</cx:f>
        <cx:lvl ptCount="12">
          <cx:pt idx="0">Jan</cx:pt>
          <cx:pt idx="1">Feb</cx:pt>
          <cx:pt idx="2">Mar</cx:pt>
          <cx:pt idx="3">Apr</cx:pt>
          <cx:pt idx="4">May</cx:pt>
          <cx:pt idx="5">Jun</cx:pt>
          <cx:pt idx="6">Jul</cx:pt>
          <cx:pt idx="7">Ago</cx:pt>
          <cx:pt idx="8">Sep</cx:pt>
          <cx:pt idx="9">Oct</cx:pt>
          <cx:pt idx="10">Nov</cx:pt>
          <cx:pt idx="11">Dec</cx:pt>
        </cx:lvl>
      </cx:strDim>
      <cx:numDim type="val">
        <cx:f dir="row">Month!$G$14:$R$14</cx:f>
        <cx:lvl ptCount="12" formatCode="_-* #,##0_-;\-* #,##0_-;_-* &quot;-&quot;??_-;_-@_-">
          <cx:pt idx="0">37.5</cx:pt>
          <cx:pt idx="1">38.25</cx:pt>
          <cx:pt idx="2">39.015000000000001</cx:pt>
          <cx:pt idx="3">39.795300000000005</cx:pt>
          <cx:pt idx="4">40.591206000000007</cx:pt>
          <cx:pt idx="5">41.403030120000004</cx:pt>
          <cx:pt idx="6">42.231090722400005</cx:pt>
          <cx:pt idx="7">43.075712536848002</cx:pt>
          <cx:pt idx="8">43.937226787584962</cx:pt>
          <cx:pt idx="9">44.815971323336662</cx:pt>
          <cx:pt idx="10">45.712290749803394</cx:pt>
          <cx:pt idx="11">46.626536564799466</cx:pt>
        </cx:lvl>
      </cx:numDim>
    </cx:data>
    <cx:data id="1">
      <cx:strDim type="cat">
        <cx:f dir="row">Month!$G$13:$R$13</cx:f>
        <cx:lvl ptCount="12">
          <cx:pt idx="0">Jan</cx:pt>
          <cx:pt idx="1">Feb</cx:pt>
          <cx:pt idx="2">Mar</cx:pt>
          <cx:pt idx="3">Apr</cx:pt>
          <cx:pt idx="4">May</cx:pt>
          <cx:pt idx="5">Jun</cx:pt>
          <cx:pt idx="6">Jul</cx:pt>
          <cx:pt idx="7">Ago</cx:pt>
          <cx:pt idx="8">Sep</cx:pt>
          <cx:pt idx="9">Oct</cx:pt>
          <cx:pt idx="10">Nov</cx:pt>
          <cx:pt idx="11">Dec</cx:pt>
        </cx:lvl>
      </cx:strDim>
      <cx:numDim type="val">
        <cx:f dir="row">Month!$G$15:$R$15</cx:f>
        <cx:lvl ptCount="12" formatCode="_-* #,##0_-;\-* #,##0_-;_-* &quot;-&quot;??_-;_-@_-">
          <cx:pt idx="0">0.75</cx:pt>
          <cx:pt idx="1">0.76500000000000001</cx:pt>
          <cx:pt idx="2">0.7803000000000001</cx:pt>
          <cx:pt idx="3">0.79590600000000011</cx:pt>
          <cx:pt idx="4">0.81182412000000015</cx:pt>
          <cx:pt idx="5">0.82806060240000012</cx:pt>
          <cx:pt idx="6">0.84462181444800011</cx:pt>
          <cx:pt idx="7">0.86151425073696009</cx:pt>
          <cx:pt idx="8">0.87874453575169931</cx:pt>
          <cx:pt idx="9">0.89631942646673324</cx:pt>
          <cx:pt idx="10">0.91424581499606794</cx:pt>
          <cx:pt idx="11">0.93253073129598929</cx:pt>
        </cx:lvl>
      </cx:numDim>
    </cx:data>
    <cx:data id="2">
      <cx:strDim type="cat">
        <cx:f dir="row">Month!$G$13:$R$13</cx:f>
        <cx:lvl ptCount="12">
          <cx:pt idx="0">Jan</cx:pt>
          <cx:pt idx="1">Feb</cx:pt>
          <cx:pt idx="2">Mar</cx:pt>
          <cx:pt idx="3">Apr</cx:pt>
          <cx:pt idx="4">May</cx:pt>
          <cx:pt idx="5">Jun</cx:pt>
          <cx:pt idx="6">Jul</cx:pt>
          <cx:pt idx="7">Ago</cx:pt>
          <cx:pt idx="8">Sep</cx:pt>
          <cx:pt idx="9">Oct</cx:pt>
          <cx:pt idx="10">Nov</cx:pt>
          <cx:pt idx="11">Dec</cx:pt>
        </cx:lvl>
      </cx:strDim>
      <cx:numDim type="val">
        <cx:f dir="row">Month!$G$16:$R$16</cx:f>
        <cx:lvl ptCount="12" formatCode="_-* #,##0_-;\-* #,##0_-;_-* &quot;-&quot;??_-;_-@_-">
          <cx:pt idx="0">18750</cx:pt>
          <cx:pt idx="1">19125</cx:pt>
          <cx:pt idx="2">19507.5</cx:pt>
          <cx:pt idx="3">19897.650000000001</cx:pt>
          <cx:pt idx="4">20295.603000000003</cx:pt>
          <cx:pt idx="5">20701.515060000002</cx:pt>
          <cx:pt idx="6">21115.545361200002</cx:pt>
          <cx:pt idx="7">21537.856268424002</cx:pt>
          <cx:pt idx="8">21968.613393792482</cx:pt>
          <cx:pt idx="9">22407.985661668332</cx:pt>
          <cx:pt idx="10">22856.145374901698</cx:pt>
          <cx:pt idx="11">23313.268282399731</cx:pt>
        </cx:lvl>
      </cx:numDim>
    </cx:data>
    <cx:data id="3">
      <cx:strDim type="cat">
        <cx:f dir="row">Month!$G$13:$R$13</cx:f>
        <cx:lvl ptCount="12">
          <cx:pt idx="0">Jan</cx:pt>
          <cx:pt idx="1">Feb</cx:pt>
          <cx:pt idx="2">Mar</cx:pt>
          <cx:pt idx="3">Apr</cx:pt>
          <cx:pt idx="4">May</cx:pt>
          <cx:pt idx="5">Jun</cx:pt>
          <cx:pt idx="6">Jul</cx:pt>
          <cx:pt idx="7">Ago</cx:pt>
          <cx:pt idx="8">Sep</cx:pt>
          <cx:pt idx="9">Oct</cx:pt>
          <cx:pt idx="10">Nov</cx:pt>
          <cx:pt idx="11">Dec</cx:pt>
        </cx:lvl>
      </cx:strDim>
      <cx:numDim type="val">
        <cx:f dir="row">Month!$G$17:$R$17</cx:f>
        <cx:lvl ptCount="12" formatCode="_-* #,##0_-;\-* #,##0_-;_-* &quot;-&quot;??_-;_-@_-">
          <cx:pt idx="0">375</cx:pt>
          <cx:pt idx="1">382.5</cx:pt>
          <cx:pt idx="2">390.15000000000003</cx:pt>
          <cx:pt idx="3">397.95300000000003</cx:pt>
          <cx:pt idx="4">405.91206000000005</cx:pt>
          <cx:pt idx="5">414.03030120000005</cx:pt>
          <cx:pt idx="6">422.31090722400006</cx:pt>
          <cx:pt idx="7">430.75712536848005</cx:pt>
          <cx:pt idx="8">439.37226787584967</cx:pt>
          <cx:pt idx="9">448.15971323336663</cx:pt>
          <cx:pt idx="10">457.12290749803395</cx:pt>
          <cx:pt idx="11">466.26536564799466</cx:pt>
        </cx:lvl>
      </cx:numDim>
    </cx:data>
    <cx:data id="4">
      <cx:strDim type="cat">
        <cx:f dir="row">Month!$G$13:$R$13</cx:f>
        <cx:lvl ptCount="12">
          <cx:pt idx="0">Jan</cx:pt>
          <cx:pt idx="1">Feb</cx:pt>
          <cx:pt idx="2">Mar</cx:pt>
          <cx:pt idx="3">Apr</cx:pt>
          <cx:pt idx="4">May</cx:pt>
          <cx:pt idx="5">Jun</cx:pt>
          <cx:pt idx="6">Jul</cx:pt>
          <cx:pt idx="7">Ago</cx:pt>
          <cx:pt idx="8">Sep</cx:pt>
          <cx:pt idx="9">Oct</cx:pt>
          <cx:pt idx="10">Nov</cx:pt>
          <cx:pt idx="11">Dec</cx:pt>
        </cx:lvl>
      </cx:strDim>
      <cx:numDim type="val">
        <cx:f dir="row">Month!$G$18:$R$18</cx:f>
        <cx:lvl ptCount="12" formatCode="_-* #,##0_-;\-* #,##0_-;_-* &quot;-&quot;??_-;_-@_-">
          <cx:pt idx="0">19125</cx:pt>
          <cx:pt idx="1">19507.5</cx:pt>
          <cx:pt idx="2">19897.650000000001</cx:pt>
          <cx:pt idx="3">20295.603000000003</cx:pt>
          <cx:pt idx="4">20701.515060000002</cx:pt>
          <cx:pt idx="5">21115.545361200002</cx:pt>
          <cx:pt idx="6">21537.856268424002</cx:pt>
          <cx:pt idx="7">21968.613393792482</cx:pt>
          <cx:pt idx="8">22407.985661668332</cx:pt>
          <cx:pt idx="9">22856.145374901698</cx:pt>
          <cx:pt idx="10">23313.268282399731</cx:pt>
          <cx:pt idx="11">23779.533648047727</cx:pt>
        </cx:lvl>
      </cx:numDim>
    </cx:data>
  </cx:chartData>
  <cx:chart>
    <cx:plotArea>
      <cx:plotAreaRegion>
        <cx:series layoutId="clusteredColumn" uniqueId="{F8D6734E-324D-466F-ABB2-B6B507361E19}" formatIdx="0">
          <cx:tx>
            <cx:txData>
              <cx:f>Month!$F$14</cx:f>
              <cx:v>Page views</cx:v>
            </cx:txData>
          </cx:tx>
          <cx:spPr>
            <a:solidFill>
              <a:schemeClr val="tx2">
                <a:lumMod val="50000"/>
                <a:lumOff val="50000"/>
              </a:schemeClr>
            </a:solidFill>
          </cx:spPr>
          <cx:dataId val="0"/>
          <cx:layoutPr>
            <cx:aggregation/>
          </cx:layoutPr>
          <cx:axisId val="1"/>
        </cx:series>
        <cx:series layoutId="paretoLine" ownerIdx="0" uniqueId="{4F9C9938-8493-42D8-845C-320F3990E549}" formatIdx="1">
          <cx:spPr>
            <a:solidFill>
              <a:srgbClr val="FFFF00"/>
            </a:solidFill>
            <a:ln>
              <a:solidFill>
                <a:srgbClr val="FFFF00"/>
              </a:solidFill>
            </a:ln>
          </cx:spPr>
          <cx:axisId val="2"/>
        </cx:series>
        <cx:series layoutId="clusteredColumn" hidden="1" uniqueId="{CAD497D3-107A-41A5-9C15-86BAF419FA4C}" formatIdx="2">
          <cx:tx>
            <cx:txData>
              <cx:v>New registration</cx:v>
            </cx:txData>
          </cx:tx>
          <cx:dataId val="1"/>
          <cx:layoutPr>
            <cx:aggregation/>
          </cx:layoutPr>
          <cx:axisId val="1"/>
        </cx:series>
        <cx:series layoutId="paretoLine" ownerIdx="2" uniqueId="{9DF26C79-70DA-4656-8904-EB3FA6DE0290}" formatIdx="3">
          <cx:axisId val="2"/>
        </cx:series>
        <cx:series layoutId="clusteredColumn" hidden="1" uniqueId="{2B8055AB-82AB-4A6D-A902-D227483A31DD}" formatIdx="4">
          <cx:tx>
            <cx:txData>
              <cx:f/>
              <cx:v>Deposit recurrent</cx:v>
            </cx:txData>
          </cx:tx>
          <cx:dataId val="2"/>
          <cx:layoutPr>
            <cx:aggregation/>
          </cx:layoutPr>
          <cx:axisId val="1"/>
        </cx:series>
        <cx:series layoutId="paretoLine" ownerIdx="4" uniqueId="{57FAEF36-6567-4DEB-8067-82B2382DAAE9}" formatIdx="5">
          <cx:axisId val="2"/>
        </cx:series>
        <cx:series layoutId="clusteredColumn" hidden="1" uniqueId="{3B5596E7-9979-4904-8C61-B6174456D3DA}" formatIdx="6">
          <cx:tx>
            <cx:txData>
              <cx:v>Conversion new</cx:v>
            </cx:txData>
          </cx:tx>
          <cx:dataId val="3"/>
          <cx:layoutPr>
            <cx:aggregation/>
          </cx:layoutPr>
          <cx:axisId val="1"/>
        </cx:series>
        <cx:series layoutId="paretoLine" ownerIdx="6" uniqueId="{0A00309D-8AAD-4475-8BC8-66B267607100}" formatIdx="7">
          <cx:axisId val="2"/>
        </cx:series>
        <cx:series layoutId="clusteredColumn" hidden="1" uniqueId="{AF3BB35E-7376-4E0B-B2DE-4A771D8E3B28}" formatIdx="8">
          <cx:tx>
            <cx:txData>
              <cx:v>Total Conversion</cx:v>
            </cx:txData>
          </cx:tx>
          <cx:dataId val="4"/>
          <cx:layoutPr>
            <cx:aggregation/>
          </cx:layoutPr>
          <cx:axisId val="1"/>
        </cx:series>
        <cx:series layoutId="paretoLine" ownerIdx="8" uniqueId="{82F69635-7C34-4C66-9F5C-05E72FF5A7CF}" formatIdx="9">
          <cx:axisId val="2"/>
        </cx:series>
      </cx:plotAreaRegion>
      <cx:axis id="0">
        <cx:catScaling gapWidth="0"/>
        <cx:tickLabels/>
      </cx:axis>
      <cx:axis id="1">
        <cx:valScaling/>
        <cx:majorGridlines/>
        <cx:tickLabels/>
      </cx:axis>
      <cx:axis id="2">
        <cx:valScaling max="1" min="0"/>
        <cx:units unit="percentage"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3BBDE0-0F1D-497F-B7A6-6AC29C70E776}" type="datetimeFigureOut">
              <a:rPr lang="es-MX" smtClean="0"/>
              <a:t>24/02/2026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F99A57-CC45-4CF8-8AE8-0F94AB7B311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54234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F99A57-CC45-4CF8-8AE8-0F94AB7B3114}" type="slidenum">
              <a:rPr lang="es-MX" smtClean="0"/>
              <a:t>10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617104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F99A57-CC45-4CF8-8AE8-0F94AB7B3114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469444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Traditionally loyalty programs require a player to "Join," "Register," or "Click to Accept" terms before they start earning points. With a no-opt-in model, </a:t>
            </a:r>
            <a:r>
              <a:rPr lang="en-US" sz="1200" dirty="0" err="1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Novibet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eliminated this requirements and made it automatic</a:t>
            </a:r>
            <a:endParaRPr lang="en-US" sz="1200" spc="50" dirty="0">
              <a:solidFill>
                <a:srgbClr val="AAAAAA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endParaRPr lang="es-MX" dirty="0"/>
          </a:p>
          <a:p>
            <a:r>
              <a:rPr lang="es-MX" dirty="0"/>
              <a:t>Premium solo gozan del primero beneficio y se van? O alcanzan </a:t>
            </a:r>
            <a:r>
              <a:rPr lang="es-MX" dirty="0" err="1"/>
              <a:t>milestones</a:t>
            </a:r>
            <a:r>
              <a:rPr lang="es-MX" dirty="0"/>
              <a:t> para ser VIP?</a:t>
            </a:r>
          </a:p>
          <a:p>
            <a:r>
              <a:rPr lang="es-MX" dirty="0"/>
              <a:t>Muchos de los jugadores reciben su dinero </a:t>
            </a:r>
            <a:r>
              <a:rPr lang="es-MX" dirty="0" err="1"/>
              <a:t>promo</a:t>
            </a:r>
            <a:r>
              <a:rPr lang="es-MX" dirty="0"/>
              <a:t> se van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F99A57-CC45-4CF8-8AE8-0F94AB7B3114}" type="slidenum">
              <a:rPr lang="es-MX" smtClean="0"/>
              <a:t>14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890144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08411-5970-F5D6-A2B5-D204AC47A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1F8E15-E8AD-C14F-1F30-10EDB11DA1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FBB486-4DA5-567A-73F1-0AA7579D5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FB3BD-63C2-6ADC-0C3C-F7967C2DEB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F99A57-CC45-4CF8-8AE8-0F94AB7B3114}" type="slidenum">
              <a:rPr lang="es-MX" smtClean="0"/>
              <a:t>15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866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1A9E5-8B0F-2B2F-38AB-1188551B47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46DD04-0729-A79E-262B-F9450B93EA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37429-4A2A-1619-9C0A-E7305B56E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2897B-0ED6-4C83-907C-70FEB0A191E8}" type="datetimeFigureOut">
              <a:rPr lang="es-MX" smtClean="0"/>
              <a:t>24/02/2026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3B719D-CB2D-B52B-8177-E0D3615C6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BC6A0-46B4-F10B-C23F-4B2F8968F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2388A-954E-4348-A4FB-845DAA7B641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20716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FB002-6ACD-2497-FB09-393BC313C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8793C-A12A-0D1D-BF49-2FA2BE779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38B4F-7CE7-DA01-D64A-CB84CC349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2897B-0ED6-4C83-907C-70FEB0A191E8}" type="datetimeFigureOut">
              <a:rPr lang="es-MX" smtClean="0"/>
              <a:t>24/02/2026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13B15-E1D8-CDD1-FF5C-1F1D081FE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13E2E-DEA7-443F-F392-E7C995A77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2388A-954E-4348-A4FB-845DAA7B641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CDFC3-7906-6F95-9BCD-C84559C50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4B160B-2D46-F487-6BAA-3C2529B5A5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9D7E3-56BA-105E-9012-E64228CF6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2897B-0ED6-4C83-907C-70FEB0A191E8}" type="datetimeFigureOut">
              <a:rPr lang="es-MX" smtClean="0"/>
              <a:t>24/02/2026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F5660-615B-1FEA-CC31-CFDFF984A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7C6E1-D42F-549B-22BD-F9DB572FF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2388A-954E-4348-A4FB-845DAA7B641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57766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97F06-1380-C84D-269D-FB11E4715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A7F2C-4382-FE60-5DE0-6BCFA7A549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0F68D2-B07D-3205-11D1-904BE7181B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0F975C-6BFD-25AA-0BD5-2CD53DDED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2897B-0ED6-4C83-907C-70FEB0A191E8}" type="datetimeFigureOut">
              <a:rPr lang="es-MX" smtClean="0"/>
              <a:t>24/02/2026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DC8B29-B8EC-3951-123F-CF11B0A19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2CAAE2-07C3-22D2-17FA-59BABCD2E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2388A-954E-4348-A4FB-845DAA7B641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63845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1057B-EC16-2447-2243-E83245954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9BD090-3452-B714-18BA-1B63D6B174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466ACA-FAC9-18DC-1871-7A7186C68E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C95133-07C7-3DEA-F661-DD5040F911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7664E5-6F72-EA09-5326-FD975DE9A5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1E6AC4-5F67-B4E5-666D-C81B225A7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2897B-0ED6-4C83-907C-70FEB0A191E8}" type="datetimeFigureOut">
              <a:rPr lang="es-MX" smtClean="0"/>
              <a:t>24/02/2026</a:t>
            </a:fld>
            <a:endParaRPr lang="es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AD4A2E-265F-6000-C5C4-F1E5B14AE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A1788D-D555-1C56-29C6-EB9F86A1A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2388A-954E-4348-A4FB-845DAA7B641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78767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F0D3C-92BD-B312-1BDC-78C8B5DF6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F58045-9F2C-7D6C-3E46-6E3BDF8B4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2897B-0ED6-4C83-907C-70FEB0A191E8}" type="datetimeFigureOut">
              <a:rPr lang="es-MX" smtClean="0"/>
              <a:t>24/02/2026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3091C7-F38E-CAAF-F723-75CE4E48C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3EABA6-7730-0E3A-6504-126530DDE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2388A-954E-4348-A4FB-845DAA7B641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22963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428CA3-9A96-4DAA-367C-EE94C836C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2897B-0ED6-4C83-907C-70FEB0A191E8}" type="datetimeFigureOut">
              <a:rPr lang="es-MX" smtClean="0"/>
              <a:t>24/02/2026</a:t>
            </a:fld>
            <a:endParaRPr lang="es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FA0248-1F26-7227-0068-865891E45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658BF-12F3-A5C5-2C7E-58CC2589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2388A-954E-4348-A4FB-845DAA7B641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41127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0324B-A21A-8A1F-B89C-F7DD58AD1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1483F-3B60-CC04-5726-72D05410B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A231F5-5654-2371-C49F-7A010F4042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6699CA-CEB0-C382-B167-0DA97A50E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2897B-0ED6-4C83-907C-70FEB0A191E8}" type="datetimeFigureOut">
              <a:rPr lang="es-MX" smtClean="0"/>
              <a:t>24/02/2026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401114-60B8-C8F5-573E-771832729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F5E046-A57A-A470-0531-042725A5B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2388A-954E-4348-A4FB-845DAA7B641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25977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C2F94-BE45-08C5-62AB-E2F407DA0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E6094F-3FCC-EBDA-BE87-08CD3DFAFF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8150EE-869C-C434-D766-6CDE5B9691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85869D-D507-5834-788A-F75FD63A5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2897B-0ED6-4C83-907C-70FEB0A191E8}" type="datetimeFigureOut">
              <a:rPr lang="es-MX" smtClean="0"/>
              <a:t>24/02/2026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09A04-5097-1914-692A-BF8D19084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D018C-18B0-7D5B-927B-FD699B37A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2388A-954E-4348-A4FB-845DAA7B641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80625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97F99-0FF4-E910-83E9-1B05B3BCE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649402-2926-1534-02C9-6FED07E112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28996-F5D3-225E-B150-EC3D39C1B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2897B-0ED6-4C83-907C-70FEB0A191E8}" type="datetimeFigureOut">
              <a:rPr lang="es-MX" smtClean="0"/>
              <a:t>24/02/2026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E61A7-9E8A-E9D1-359E-BACEE891A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75716-AE61-02D7-48DA-E62DFCDEB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2388A-954E-4348-A4FB-845DAA7B641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77126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090F23-DE4F-8278-3FF1-F9465056DD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F032D0-D1CE-6D42-287F-FE231F0FA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FE943-444F-E6AE-7C30-CC67409DC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2897B-0ED6-4C83-907C-70FEB0A191E8}" type="datetimeFigureOut">
              <a:rPr lang="es-MX" smtClean="0"/>
              <a:t>24/02/2026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B0C9D-E28D-F74F-DFE2-7B4F46E7F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AA8E9-CE08-CF67-19A3-F6BC811A3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2388A-954E-4348-A4FB-845DAA7B641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06189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52933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666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FA7B8C-0A8A-2784-7241-F1F81D137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29981B-39A2-71CB-6539-32DEE3B492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8A7F7-BE14-D68E-D60C-0FC92AB5B9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B2897B-0ED6-4C83-907C-70FEB0A191E8}" type="datetimeFigureOut">
              <a:rPr lang="es-MX" smtClean="0"/>
              <a:t>24/02/2026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83174-C76B-D24A-B160-746160EA90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A0C54-A01D-F2FB-E84B-C6F523E0FF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12388A-954E-4348-A4FB-845DAA7B641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80297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9B525065-5A63-5044-89D6-0402CDAD2DDC}"/>
              </a:ext>
            </a:extLst>
          </p:cNvPr>
          <p:cNvSpPr>
            <a:spLocks noChangeAspect="1"/>
          </p:cNvSpPr>
          <p:nvPr userDrawn="1"/>
        </p:nvSpPr>
        <p:spPr>
          <a:xfrm>
            <a:off x="11081507" y="353377"/>
            <a:ext cx="412582" cy="4114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9"/>
            <a:ext cx="10515600" cy="1325563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11122435" y="413007"/>
            <a:ext cx="361732" cy="276981"/>
          </a:xfrm>
          <a:prstGeom prst="rect">
            <a:avLst/>
          </a:prstGeom>
          <a:noFill/>
        </p:spPr>
        <p:txBody>
          <a:bodyPr wrap="square" lIns="45720" tIns="45711" rIns="45720" bIns="45711" rtlCol="0">
            <a:spAutoFit/>
          </a:bodyPr>
          <a:lstStyle/>
          <a:p>
            <a:pPr algn="ctr"/>
            <a:fld id="{260E2A6B-A809-4840-BF14-8648BC0BDF87}" type="slidenum">
              <a:rPr lang="id-ID" sz="1050" b="0" i="0" smtClean="0">
                <a:solidFill>
                  <a:schemeClr val="bg1"/>
                </a:solidFill>
                <a:latin typeface="Poppins" pitchFamily="2" charset="77"/>
                <a:ea typeface="Open Sans Light" panose="020B0306030504020204" pitchFamily="34" charset="0"/>
                <a:cs typeface="Poppins" pitchFamily="2" charset="77"/>
              </a:rPr>
              <a:pPr algn="ctr"/>
              <a:t>‹#›</a:t>
            </a:fld>
            <a:r>
              <a:rPr lang="id-ID" sz="1200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315928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hf hdr="0" ftr="0" dt="0"/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lang="en-US" sz="3000" b="0" i="0" kern="1200">
          <a:solidFill>
            <a:schemeClr val="tx1"/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1pPr>
    </p:titleStyle>
    <p:bodyStyle>
      <a:lvl1pPr marL="228555" indent="-228555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400" b="0" i="0" kern="1200" dirty="0" smtClean="0">
          <a:solidFill>
            <a:schemeClr val="tx1"/>
          </a:solidFill>
          <a:effectLst/>
          <a:latin typeface="Open Sans Light" panose="020B0306030504020204" pitchFamily="34" charset="0"/>
          <a:ea typeface="Open Sans Light" panose="020B0306030504020204" pitchFamily="34" charset="0"/>
          <a:cs typeface="Open Sans" charset="0"/>
        </a:defRPr>
      </a:lvl1pPr>
      <a:lvl2pPr marL="68566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000" b="0" i="0" kern="1200" dirty="0" smtClean="0">
          <a:solidFill>
            <a:schemeClr val="tx1"/>
          </a:solidFill>
          <a:effectLst/>
          <a:latin typeface="Open Sans Light" panose="020B0306030504020204" pitchFamily="34" charset="0"/>
          <a:ea typeface="Open Sans Light" panose="020B0306030504020204" pitchFamily="34" charset="0"/>
          <a:cs typeface="Open Sans" charset="0"/>
        </a:defRPr>
      </a:lvl2pPr>
      <a:lvl3pPr marL="1142772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b="0" i="0" kern="1200" dirty="0" smtClean="0">
          <a:solidFill>
            <a:schemeClr val="tx1"/>
          </a:solidFill>
          <a:effectLst/>
          <a:latin typeface="Open Sans Light" panose="020B0306030504020204" pitchFamily="34" charset="0"/>
          <a:ea typeface="Open Sans Light" panose="020B0306030504020204" pitchFamily="34" charset="0"/>
          <a:cs typeface="Open Sans" charset="0"/>
        </a:defRPr>
      </a:lvl3pPr>
      <a:lvl4pPr marL="1599880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0" i="0" kern="1200" dirty="0" smtClean="0">
          <a:solidFill>
            <a:schemeClr val="tx1"/>
          </a:solidFill>
          <a:effectLst/>
          <a:latin typeface="Open Sans Light" panose="020B0306030504020204" pitchFamily="34" charset="0"/>
          <a:ea typeface="Open Sans Light" panose="020B0306030504020204" pitchFamily="34" charset="0"/>
          <a:cs typeface="Open Sans" charset="0"/>
        </a:defRPr>
      </a:lvl4pPr>
      <a:lvl5pPr marL="2056989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0" i="0" kern="1200" dirty="0">
          <a:solidFill>
            <a:schemeClr val="tx1"/>
          </a:solidFill>
          <a:effectLst/>
          <a:latin typeface="Open Sans Light" panose="020B0306030504020204" pitchFamily="34" charset="0"/>
          <a:ea typeface="Open Sans Light" panose="020B0306030504020204" pitchFamily="34" charset="0"/>
          <a:cs typeface="Open Sans" charset="0"/>
        </a:defRPr>
      </a:lvl5pPr>
      <a:lvl6pPr marL="2514097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2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jpeg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7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emf"/><Relationship Id="rId5" Type="http://schemas.openxmlformats.org/officeDocument/2006/relationships/package" Target="../embeddings/Microsoft_Excel_Worksheet1.xlsx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7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6F7DDF-F082-9E96-825E-76DE6DAEDD86}"/>
              </a:ext>
            </a:extLst>
          </p:cNvPr>
          <p:cNvSpPr txBox="1"/>
          <p:nvPr/>
        </p:nvSpPr>
        <p:spPr>
          <a:xfrm>
            <a:off x="762000" y="241210"/>
            <a:ext cx="2100255" cy="6594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5000"/>
              </a:lnSpc>
            </a:pPr>
            <a:r>
              <a:rPr lang="en-US" sz="2400" b="1" dirty="0">
                <a:solidFill>
                  <a:schemeClr val="tx2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rPr>
              <a:t>Assessment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E6A943-837F-A47A-239A-943F5C7E5275}"/>
              </a:ext>
            </a:extLst>
          </p:cNvPr>
          <p:cNvSpPr txBox="1"/>
          <p:nvPr/>
        </p:nvSpPr>
        <p:spPr>
          <a:xfrm>
            <a:off x="762000" y="835905"/>
            <a:ext cx="1572738" cy="292388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1300" spc="5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Product Manager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A267F09-8F27-7DDF-28EA-8F06FAE66E15}"/>
              </a:ext>
            </a:extLst>
          </p:cNvPr>
          <p:cNvSpPr txBox="1">
            <a:spLocks/>
          </p:cNvSpPr>
          <p:nvPr/>
        </p:nvSpPr>
        <p:spPr>
          <a:xfrm>
            <a:off x="1327681" y="1642172"/>
            <a:ext cx="9841660" cy="2481770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543818">
              <a:lnSpc>
                <a:spcPts val="2050"/>
              </a:lnSpc>
            </a:pP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Am very enthusiastic about presenting this assessment and genuinely appreciate the opportunity to share an example of my work style, ideas, and a glimpse of my experience in the industry.</a:t>
            </a:r>
          </a:p>
          <a:p>
            <a:pPr algn="l" defTabSz="543818">
              <a:lnSpc>
                <a:spcPts val="2050"/>
              </a:lnSpc>
            </a:pPr>
            <a:endParaRPr lang="en-US" sz="1400" dirty="0">
              <a:solidFill>
                <a:schemeClr val="bg2">
                  <a:lumMod val="10000"/>
                </a:scheme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l" defTabSz="543818">
              <a:lnSpc>
                <a:spcPts val="2050"/>
              </a:lnSpc>
            </a:pP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I’m…Ready to learn about </a:t>
            </a:r>
            <a:r>
              <a:rPr lang="en-US" sz="1400" dirty="0" err="1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Novibet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and support the continue organization growth.</a:t>
            </a:r>
          </a:p>
          <a:p>
            <a:pPr algn="l" defTabSz="543818">
              <a:lnSpc>
                <a:spcPts val="2050"/>
              </a:lnSpc>
            </a:pPr>
            <a:endParaRPr lang="en-US" sz="1400" dirty="0">
              <a:solidFill>
                <a:schemeClr val="bg2">
                  <a:lumMod val="10000"/>
                </a:scheme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l" defTabSz="543818">
              <a:lnSpc>
                <a:spcPts val="2050"/>
              </a:lnSpc>
            </a:pPr>
            <a:endParaRPr lang="en-US" sz="1400" dirty="0">
              <a:solidFill>
                <a:schemeClr val="bg2">
                  <a:lumMod val="10000"/>
                </a:scheme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l" defTabSz="543818">
              <a:lnSpc>
                <a:spcPts val="2050"/>
              </a:lnSpc>
            </a:pP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								Sincerely, </a:t>
            </a:r>
          </a:p>
          <a:p>
            <a:pPr algn="l" defTabSz="543818">
              <a:lnSpc>
                <a:spcPts val="2050"/>
              </a:lnSpc>
            </a:pP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								Carolina González</a:t>
            </a:r>
          </a:p>
        </p:txBody>
      </p:sp>
    </p:spTree>
    <p:extLst>
      <p:ext uri="{BB962C8B-B14F-4D97-AF65-F5344CB8AC3E}">
        <p14:creationId xmlns:p14="http://schemas.microsoft.com/office/powerpoint/2010/main" val="766751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17E557D-6CEC-D907-2832-46FC81D0F2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5000"/>
              </a:lnSpc>
            </a:pPr>
            <a:r>
              <a:rPr lang="en-US" sz="2400" b="1" dirty="0">
                <a:solidFill>
                  <a:schemeClr val="tx2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rPr>
              <a:t>Google Analytics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2EBA2C-4115-AD96-A077-C4BE071C95B0}"/>
              </a:ext>
            </a:extLst>
          </p:cNvPr>
          <p:cNvSpPr/>
          <p:nvPr/>
        </p:nvSpPr>
        <p:spPr>
          <a:xfrm>
            <a:off x="-118267" y="2753975"/>
            <a:ext cx="4503733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9600" b="1" cap="none" spc="0" dirty="0">
                <a:ln/>
                <a:solidFill>
                  <a:schemeClr val="accent4"/>
                </a:solidFill>
                <a:effectLst/>
              </a:rPr>
              <a:t>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967D60-6C79-EED3-1C46-8DD9F70D4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800" y="0"/>
            <a:ext cx="1414462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932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C273770-2672-634E-9CED-ABD03AC47ED4}"/>
              </a:ext>
            </a:extLst>
          </p:cNvPr>
          <p:cNvSpPr/>
          <p:nvPr/>
        </p:nvSpPr>
        <p:spPr>
          <a:xfrm>
            <a:off x="4609473" y="2080499"/>
            <a:ext cx="2902766" cy="2902766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noFill/>
          </a:ln>
          <a:scene3d>
            <a:camera prst="orthographicFront"/>
            <a:lightRig rig="threePt" dir="t"/>
          </a:scene3d>
          <a:sp3d contourW="12700" prstMaterial="dkEdge">
            <a:bevelT prst="angle"/>
            <a:contourClr>
              <a:schemeClr val="accent2">
                <a:lumMod val="60000"/>
                <a:lumOff val="40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16EE81F-982C-B94E-94EA-88E4E27D2F48}"/>
              </a:ext>
            </a:extLst>
          </p:cNvPr>
          <p:cNvSpPr/>
          <p:nvPr/>
        </p:nvSpPr>
        <p:spPr>
          <a:xfrm>
            <a:off x="3391483" y="1137646"/>
            <a:ext cx="1975452" cy="1975452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5624E2E-9AE7-7D45-8BE0-9E5D42FC43D2}"/>
              </a:ext>
            </a:extLst>
          </p:cNvPr>
          <p:cNvSpPr/>
          <p:nvPr/>
        </p:nvSpPr>
        <p:spPr>
          <a:xfrm>
            <a:off x="6758863" y="3932675"/>
            <a:ext cx="1975452" cy="19754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B4C2237-92EF-4240-A722-59C06855B0E9}"/>
              </a:ext>
            </a:extLst>
          </p:cNvPr>
          <p:cNvSpPr/>
          <p:nvPr/>
        </p:nvSpPr>
        <p:spPr>
          <a:xfrm>
            <a:off x="3391483" y="3932675"/>
            <a:ext cx="1975452" cy="19754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A83C21B-6CFF-7E47-9A9E-EA188C626B00}"/>
              </a:ext>
            </a:extLst>
          </p:cNvPr>
          <p:cNvSpPr/>
          <p:nvPr/>
        </p:nvSpPr>
        <p:spPr>
          <a:xfrm>
            <a:off x="6758863" y="1137646"/>
            <a:ext cx="1975452" cy="197545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6294BF-7509-B84D-A5C0-485A58062EAF}"/>
              </a:ext>
            </a:extLst>
          </p:cNvPr>
          <p:cNvSpPr txBox="1"/>
          <p:nvPr/>
        </p:nvSpPr>
        <p:spPr>
          <a:xfrm>
            <a:off x="3626446" y="1351983"/>
            <a:ext cx="1505540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rPr>
              <a:t>Click/events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121E47E4-3306-1A47-BF85-AC9C44C1B506}"/>
              </a:ext>
            </a:extLst>
          </p:cNvPr>
          <p:cNvSpPr txBox="1">
            <a:spLocks/>
          </p:cNvSpPr>
          <p:nvPr/>
        </p:nvSpPr>
        <p:spPr>
          <a:xfrm>
            <a:off x="3652648" y="1690537"/>
            <a:ext cx="1453121" cy="1520609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050"/>
              </a:lnSpc>
            </a:pPr>
            <a:r>
              <a:rPr lang="en-US" sz="12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Play</a:t>
            </a:r>
          </a:p>
          <a:p>
            <a:pPr>
              <a:lnSpc>
                <a:spcPts val="2050"/>
              </a:lnSpc>
            </a:pPr>
            <a:r>
              <a:rPr lang="en-US" sz="12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Place your deposit </a:t>
            </a:r>
          </a:p>
          <a:p>
            <a:pPr>
              <a:lnSpc>
                <a:spcPts val="2050"/>
              </a:lnSpc>
            </a:pPr>
            <a:r>
              <a:rPr lang="en-US" sz="12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Play Here</a:t>
            </a:r>
          </a:p>
          <a:p>
            <a:pPr>
              <a:lnSpc>
                <a:spcPts val="2050"/>
              </a:lnSpc>
            </a:pPr>
            <a:r>
              <a:rPr lang="en-US" sz="12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Demo</a:t>
            </a:r>
          </a:p>
          <a:p>
            <a:pPr>
              <a:lnSpc>
                <a:spcPts val="2050"/>
              </a:lnSpc>
            </a:pPr>
            <a:endParaRPr lang="en-US" sz="1200" dirty="0">
              <a:solidFill>
                <a:schemeClr val="bg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1030FE-3497-9C42-A690-3234E80E0152}"/>
              </a:ext>
            </a:extLst>
          </p:cNvPr>
          <p:cNvSpPr txBox="1"/>
          <p:nvPr/>
        </p:nvSpPr>
        <p:spPr>
          <a:xfrm>
            <a:off x="7438606" y="1345901"/>
            <a:ext cx="628698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rPr>
              <a:t>KPIS</a:t>
            </a: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9394EB78-26D9-7541-9E5A-ABF74E5AA3AE}"/>
              </a:ext>
            </a:extLst>
          </p:cNvPr>
          <p:cNvSpPr txBox="1">
            <a:spLocks/>
          </p:cNvSpPr>
          <p:nvPr/>
        </p:nvSpPr>
        <p:spPr>
          <a:xfrm>
            <a:off x="7026392" y="1684455"/>
            <a:ext cx="1453121" cy="905056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050"/>
              </a:lnSpc>
            </a:pPr>
            <a:r>
              <a:rPr lang="en-US" sz="125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CTR </a:t>
            </a:r>
          </a:p>
          <a:p>
            <a:pPr>
              <a:lnSpc>
                <a:spcPts val="2050"/>
              </a:lnSpc>
            </a:pPr>
            <a:r>
              <a:rPr lang="en-US" sz="125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Conversions </a:t>
            </a:r>
          </a:p>
          <a:p>
            <a:pPr>
              <a:lnSpc>
                <a:spcPts val="2050"/>
              </a:lnSpc>
            </a:pPr>
            <a:r>
              <a:rPr lang="en-US" sz="125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RTP </a:t>
            </a:r>
            <a:r>
              <a:rPr lang="en-US" sz="10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(Return To Player)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D587AE-7954-5F41-BA35-E0F0010D87E4}"/>
              </a:ext>
            </a:extLst>
          </p:cNvPr>
          <p:cNvSpPr txBox="1"/>
          <p:nvPr/>
        </p:nvSpPr>
        <p:spPr>
          <a:xfrm>
            <a:off x="7233542" y="4205224"/>
            <a:ext cx="1051891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rPr>
              <a:t>Funnel 2</a:t>
            </a: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1D79F3BB-4999-034E-97A2-C80938CEFF70}"/>
              </a:ext>
            </a:extLst>
          </p:cNvPr>
          <p:cNvSpPr txBox="1">
            <a:spLocks/>
          </p:cNvSpPr>
          <p:nvPr/>
        </p:nvSpPr>
        <p:spPr>
          <a:xfrm>
            <a:off x="7032924" y="4543778"/>
            <a:ext cx="1453121" cy="558807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050"/>
              </a:lnSpc>
            </a:pPr>
            <a:r>
              <a:rPr lang="en-US" sz="125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Promo money </a:t>
            </a:r>
            <a:r>
              <a:rPr lang="en-US" sz="125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 Deposit  Game</a:t>
            </a:r>
            <a:endParaRPr lang="en-US" sz="1250" dirty="0">
              <a:solidFill>
                <a:schemeClr val="bg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A29C1B0-FC35-734A-9C64-2B9E5A315512}"/>
              </a:ext>
            </a:extLst>
          </p:cNvPr>
          <p:cNvSpPr txBox="1"/>
          <p:nvPr/>
        </p:nvSpPr>
        <p:spPr>
          <a:xfrm>
            <a:off x="3887805" y="4205224"/>
            <a:ext cx="1008609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rPr>
              <a:t>Funnel 1</a:t>
            </a:r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E0C64342-DB6D-284B-A616-821D71EED312}"/>
              </a:ext>
            </a:extLst>
          </p:cNvPr>
          <p:cNvSpPr txBox="1">
            <a:spLocks/>
          </p:cNvSpPr>
          <p:nvPr/>
        </p:nvSpPr>
        <p:spPr>
          <a:xfrm>
            <a:off x="3665547" y="4543778"/>
            <a:ext cx="1453121" cy="1097416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050"/>
              </a:lnSpc>
            </a:pPr>
            <a:r>
              <a:rPr lang="en-US" sz="125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 Game click –&gt; Registration  Registration  Deposit</a:t>
            </a:r>
            <a:endParaRPr lang="en-US" sz="1250" dirty="0">
              <a:solidFill>
                <a:schemeClr val="bg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336907-D5B3-934E-89EF-7FAE62F8652B}"/>
              </a:ext>
            </a:extLst>
          </p:cNvPr>
          <p:cNvSpPr txBox="1"/>
          <p:nvPr/>
        </p:nvSpPr>
        <p:spPr>
          <a:xfrm>
            <a:off x="762000" y="241210"/>
            <a:ext cx="2828018" cy="6594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5000"/>
              </a:lnSpc>
            </a:pPr>
            <a:r>
              <a:rPr lang="en-US" sz="2400" b="1" dirty="0">
                <a:solidFill>
                  <a:schemeClr val="tx2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rPr>
              <a:t>Google Analytics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CC6C85B-DC53-DC44-88B4-BC35E1920005}"/>
              </a:ext>
            </a:extLst>
          </p:cNvPr>
          <p:cNvSpPr txBox="1"/>
          <p:nvPr/>
        </p:nvSpPr>
        <p:spPr>
          <a:xfrm>
            <a:off x="762000" y="835905"/>
            <a:ext cx="1540678" cy="292388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1300" spc="5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Valuable insights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0B4A9E6-33CB-DBC1-AAD8-DF5D3229C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6286" y="2945851"/>
            <a:ext cx="1359428" cy="119201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2BA70F9-42C6-2E2D-DC2A-ECC22ED54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800" y="0"/>
            <a:ext cx="1414462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919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8A94841-2FDA-DF2C-ADB9-DF35D22CA5A5}"/>
              </a:ext>
            </a:extLst>
          </p:cNvPr>
          <p:cNvSpPr/>
          <p:nvPr/>
        </p:nvSpPr>
        <p:spPr>
          <a:xfrm>
            <a:off x="762000" y="1495316"/>
            <a:ext cx="10668001" cy="17812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en-US" sz="9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70C763-F7AC-96CD-E330-42C8270585A8}"/>
              </a:ext>
            </a:extLst>
          </p:cNvPr>
          <p:cNvSpPr txBox="1"/>
          <p:nvPr/>
        </p:nvSpPr>
        <p:spPr>
          <a:xfrm>
            <a:off x="762000" y="241210"/>
            <a:ext cx="2828018" cy="6594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5000"/>
              </a:lnSpc>
            </a:pPr>
            <a:r>
              <a:rPr lang="en-US" sz="2400" b="1" dirty="0">
                <a:solidFill>
                  <a:schemeClr val="tx2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rPr>
              <a:t>Google Analytics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06D343-F511-4B45-4EF2-52C826C9B46E}"/>
              </a:ext>
            </a:extLst>
          </p:cNvPr>
          <p:cNvSpPr txBox="1"/>
          <p:nvPr/>
        </p:nvSpPr>
        <p:spPr>
          <a:xfrm>
            <a:off x="762000" y="835905"/>
            <a:ext cx="1131913" cy="292388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1300" spc="5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Click events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490D7D-83F4-57AC-6186-89E390742E0B}"/>
              </a:ext>
            </a:extLst>
          </p:cNvPr>
          <p:cNvSpPr txBox="1"/>
          <p:nvPr/>
        </p:nvSpPr>
        <p:spPr>
          <a:xfrm>
            <a:off x="914401" y="1364771"/>
            <a:ext cx="11143115" cy="2185214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>
            <a:defPPr>
              <a:defRPr lang="es-MX"/>
            </a:defPPr>
            <a:lvl1pPr>
              <a:defRPr sz="1300" spc="5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Page views maintained steady monthly growth (2% on average), closing the year with a total increase of 24%.</a:t>
            </a:r>
            <a:r>
              <a:rPr lang="es-MX" sz="1600" dirty="0"/>
              <a:t> 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The annual CTR trend averaged 14%, a positive figure within the industry.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s-MX" sz="1600" dirty="0"/>
              <a:t>Demo </a:t>
            </a:r>
            <a:r>
              <a:rPr lang="es-MX" sz="1600" dirty="0" err="1"/>
              <a:t>games</a:t>
            </a:r>
            <a:r>
              <a:rPr lang="es-MX" sz="1600" dirty="0"/>
              <a:t> are </a:t>
            </a:r>
            <a:r>
              <a:rPr lang="es-MX" sz="1600" dirty="0" err="1"/>
              <a:t>relevant</a:t>
            </a:r>
            <a:r>
              <a:rPr lang="es-MX" sz="1600" dirty="0"/>
              <a:t>, 70% </a:t>
            </a:r>
            <a:r>
              <a:rPr lang="es-MX" sz="1600" dirty="0" err="1"/>
              <a:t>of</a:t>
            </a:r>
            <a:r>
              <a:rPr lang="es-MX" sz="1600" dirty="0"/>
              <a:t> </a:t>
            </a:r>
            <a:r>
              <a:rPr lang="es-MX" sz="1600" dirty="0" err="1"/>
              <a:t>the</a:t>
            </a:r>
            <a:r>
              <a:rPr lang="es-MX" sz="1600" dirty="0"/>
              <a:t> </a:t>
            </a:r>
            <a:r>
              <a:rPr lang="es-MX" sz="1600" dirty="0" err="1"/>
              <a:t>players</a:t>
            </a:r>
            <a:r>
              <a:rPr lang="es-MX" sz="1600" dirty="0"/>
              <a:t> try </a:t>
            </a:r>
            <a:r>
              <a:rPr lang="es-MX" sz="1600" dirty="0" err="1"/>
              <a:t>before</a:t>
            </a:r>
            <a:r>
              <a:rPr lang="es-MX" sz="1600" dirty="0"/>
              <a:t> </a:t>
            </a:r>
            <a:r>
              <a:rPr lang="es-MX" sz="1600" dirty="0" err="1"/>
              <a:t>placing</a:t>
            </a:r>
            <a:r>
              <a:rPr lang="es-MX" sz="1600" dirty="0"/>
              <a:t> </a:t>
            </a:r>
            <a:r>
              <a:rPr lang="es-MX" sz="1600" dirty="0" err="1"/>
              <a:t>bet</a:t>
            </a:r>
            <a:r>
              <a:rPr lang="es-MX" sz="1600" dirty="0"/>
              <a:t>.</a:t>
            </a:r>
          </a:p>
          <a:p>
            <a:endParaRPr lang="es-MX" sz="16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E6831E8-C231-CB1D-6952-EA42FF70CB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8450553"/>
              </p:ext>
            </p:extLst>
          </p:nvPr>
        </p:nvGraphicFramePr>
        <p:xfrm>
          <a:off x="762000" y="3871295"/>
          <a:ext cx="10515595" cy="1566384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435463">
                  <a:extLst>
                    <a:ext uri="{9D8B030D-6E8A-4147-A177-3AD203B41FA5}">
                      <a16:colId xmlns:a16="http://schemas.microsoft.com/office/drawing/2014/main" val="1300136450"/>
                    </a:ext>
                  </a:extLst>
                </a:gridCol>
                <a:gridCol w="879082">
                  <a:extLst>
                    <a:ext uri="{9D8B030D-6E8A-4147-A177-3AD203B41FA5}">
                      <a16:colId xmlns:a16="http://schemas.microsoft.com/office/drawing/2014/main" val="350390593"/>
                    </a:ext>
                  </a:extLst>
                </a:gridCol>
                <a:gridCol w="745550">
                  <a:extLst>
                    <a:ext uri="{9D8B030D-6E8A-4147-A177-3AD203B41FA5}">
                      <a16:colId xmlns:a16="http://schemas.microsoft.com/office/drawing/2014/main" val="1562304307"/>
                    </a:ext>
                  </a:extLst>
                </a:gridCol>
                <a:gridCol w="745550">
                  <a:extLst>
                    <a:ext uri="{9D8B030D-6E8A-4147-A177-3AD203B41FA5}">
                      <a16:colId xmlns:a16="http://schemas.microsoft.com/office/drawing/2014/main" val="971088268"/>
                    </a:ext>
                  </a:extLst>
                </a:gridCol>
                <a:gridCol w="745550">
                  <a:extLst>
                    <a:ext uri="{9D8B030D-6E8A-4147-A177-3AD203B41FA5}">
                      <a16:colId xmlns:a16="http://schemas.microsoft.com/office/drawing/2014/main" val="3566854042"/>
                    </a:ext>
                  </a:extLst>
                </a:gridCol>
                <a:gridCol w="745550">
                  <a:extLst>
                    <a:ext uri="{9D8B030D-6E8A-4147-A177-3AD203B41FA5}">
                      <a16:colId xmlns:a16="http://schemas.microsoft.com/office/drawing/2014/main" val="2032073511"/>
                    </a:ext>
                  </a:extLst>
                </a:gridCol>
                <a:gridCol w="745550">
                  <a:extLst>
                    <a:ext uri="{9D8B030D-6E8A-4147-A177-3AD203B41FA5}">
                      <a16:colId xmlns:a16="http://schemas.microsoft.com/office/drawing/2014/main" val="58055499"/>
                    </a:ext>
                  </a:extLst>
                </a:gridCol>
                <a:gridCol w="745550">
                  <a:extLst>
                    <a:ext uri="{9D8B030D-6E8A-4147-A177-3AD203B41FA5}">
                      <a16:colId xmlns:a16="http://schemas.microsoft.com/office/drawing/2014/main" val="755482598"/>
                    </a:ext>
                  </a:extLst>
                </a:gridCol>
                <a:gridCol w="745550">
                  <a:extLst>
                    <a:ext uri="{9D8B030D-6E8A-4147-A177-3AD203B41FA5}">
                      <a16:colId xmlns:a16="http://schemas.microsoft.com/office/drawing/2014/main" val="1715437658"/>
                    </a:ext>
                  </a:extLst>
                </a:gridCol>
                <a:gridCol w="745550">
                  <a:extLst>
                    <a:ext uri="{9D8B030D-6E8A-4147-A177-3AD203B41FA5}">
                      <a16:colId xmlns:a16="http://schemas.microsoft.com/office/drawing/2014/main" val="4036888739"/>
                    </a:ext>
                  </a:extLst>
                </a:gridCol>
                <a:gridCol w="745550">
                  <a:extLst>
                    <a:ext uri="{9D8B030D-6E8A-4147-A177-3AD203B41FA5}">
                      <a16:colId xmlns:a16="http://schemas.microsoft.com/office/drawing/2014/main" val="2823676421"/>
                    </a:ext>
                  </a:extLst>
                </a:gridCol>
                <a:gridCol w="745550">
                  <a:extLst>
                    <a:ext uri="{9D8B030D-6E8A-4147-A177-3AD203B41FA5}">
                      <a16:colId xmlns:a16="http://schemas.microsoft.com/office/drawing/2014/main" val="3828839112"/>
                    </a:ext>
                  </a:extLst>
                </a:gridCol>
                <a:gridCol w="745550">
                  <a:extLst>
                    <a:ext uri="{9D8B030D-6E8A-4147-A177-3AD203B41FA5}">
                      <a16:colId xmlns:a16="http://schemas.microsoft.com/office/drawing/2014/main" val="2898367921"/>
                    </a:ext>
                  </a:extLst>
                </a:gridCol>
              </a:tblGrid>
              <a:tr h="1602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Click events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Jan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Feb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Mar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Apr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May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Jun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Jul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Ago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Sep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Oct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Nov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Dec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extLst>
                  <a:ext uri="{0D108BD9-81ED-4DB2-BD59-A6C34878D82A}">
                    <a16:rowId xmlns:a16="http://schemas.microsoft.com/office/drawing/2014/main" val="3016595782"/>
                  </a:ext>
                </a:extLst>
              </a:tr>
              <a:tr h="1602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Page Views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      150,000 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153,000 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156,060 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159,181 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162,365 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165,612 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168,924 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172,303 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175,749 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179,264 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182,849 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186,506 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extLst>
                  <a:ext uri="{0D108BD9-81ED-4DB2-BD59-A6C34878D82A}">
                    <a16:rowId xmlns:a16="http://schemas.microsoft.com/office/drawing/2014/main" val="171926255"/>
                  </a:ext>
                </a:extLst>
              </a:tr>
              <a:tr h="1602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Button Click Play - Play Here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      145,000 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152,000 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150,060 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154,000 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157,000 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160,000 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163,000 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167,000 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170,000 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174,000 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180,000 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182,000 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extLst>
                  <a:ext uri="{0D108BD9-81ED-4DB2-BD59-A6C34878D82A}">
                    <a16:rowId xmlns:a16="http://schemas.microsoft.com/office/drawing/2014/main" val="3570671710"/>
                  </a:ext>
                </a:extLst>
              </a:tr>
              <a:tr h="1602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Click PAY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                      21,000 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   20,000 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   20,400 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   21,549 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   20,200 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   21,444 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   22,345 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   24,999 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   25,788 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   26,888 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   27,454 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   30,556 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ctr"/>
                </a:tc>
                <a:extLst>
                  <a:ext uri="{0D108BD9-81ED-4DB2-BD59-A6C34878D82A}">
                    <a16:rowId xmlns:a16="http://schemas.microsoft.com/office/drawing/2014/main" val="3380097511"/>
                  </a:ext>
                </a:extLst>
              </a:tr>
              <a:tr h="1602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CTR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14%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13%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13%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14%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12%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13%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13%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15%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15%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15%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15%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16%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ctr"/>
                </a:tc>
                <a:extLst>
                  <a:ext uri="{0D108BD9-81ED-4DB2-BD59-A6C34878D82A}">
                    <a16:rowId xmlns:a16="http://schemas.microsoft.com/office/drawing/2014/main" val="3978672709"/>
                  </a:ext>
                </a:extLst>
              </a:tr>
              <a:tr h="1602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Demo Views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      115,500 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117,810 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120,166 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122,570 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125,021 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127,521 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130,072 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132,673 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135,327 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138,033 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140,794 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             143,610 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7" marR="6677" marT="6677" marB="0" anchor="b"/>
                </a:tc>
                <a:extLst>
                  <a:ext uri="{0D108BD9-81ED-4DB2-BD59-A6C34878D82A}">
                    <a16:rowId xmlns:a16="http://schemas.microsoft.com/office/drawing/2014/main" val="104893749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4A0D13B3-DB00-89F1-90C1-A25AB23F9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800" y="0"/>
            <a:ext cx="1414462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772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BB5B6C-7C49-8442-8B2D-129452ED2261}"/>
              </a:ext>
            </a:extLst>
          </p:cNvPr>
          <p:cNvSpPr txBox="1"/>
          <p:nvPr/>
        </p:nvSpPr>
        <p:spPr>
          <a:xfrm>
            <a:off x="762000" y="241210"/>
            <a:ext cx="3541354" cy="6594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5000"/>
              </a:lnSpc>
            </a:pPr>
            <a:r>
              <a:rPr lang="en-US" sz="2400" b="1" dirty="0">
                <a:solidFill>
                  <a:schemeClr val="tx2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rPr>
              <a:t>Product performance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89F94B-4D81-1343-9656-26547373DF47}"/>
              </a:ext>
            </a:extLst>
          </p:cNvPr>
          <p:cNvSpPr txBox="1"/>
          <p:nvPr/>
        </p:nvSpPr>
        <p:spPr>
          <a:xfrm>
            <a:off x="762000" y="835905"/>
            <a:ext cx="1390124" cy="292388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1300" spc="5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Oink </a:t>
            </a:r>
            <a:r>
              <a:rPr lang="en-US" sz="1300" spc="5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Oink</a:t>
            </a:r>
            <a:r>
              <a:rPr lang="en-US" sz="1300" spc="5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n-US" sz="1300" spc="5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Oink</a:t>
            </a:r>
            <a:endParaRPr lang="en-US" sz="1300" spc="5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A06575-8F0C-DE46-AAC4-FB4BF1877AD5}"/>
              </a:ext>
            </a:extLst>
          </p:cNvPr>
          <p:cNvSpPr/>
          <p:nvPr/>
        </p:nvSpPr>
        <p:spPr>
          <a:xfrm>
            <a:off x="762000" y="3950272"/>
            <a:ext cx="7041764" cy="25267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DF9B67-2BFE-7845-A5E1-45D6585A834B}"/>
              </a:ext>
            </a:extLst>
          </p:cNvPr>
          <p:cNvSpPr/>
          <p:nvPr/>
        </p:nvSpPr>
        <p:spPr>
          <a:xfrm>
            <a:off x="762000" y="1303867"/>
            <a:ext cx="10668001" cy="25267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en-US" sz="9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C28133-0A5D-F84B-8E52-8C01C18D0F6B}"/>
              </a:ext>
            </a:extLst>
          </p:cNvPr>
          <p:cNvSpPr/>
          <p:nvPr/>
        </p:nvSpPr>
        <p:spPr>
          <a:xfrm>
            <a:off x="7922269" y="3950272"/>
            <a:ext cx="3507732" cy="25267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4A3C5C-EC59-5040-A98E-D0DBB962B540}"/>
              </a:ext>
            </a:extLst>
          </p:cNvPr>
          <p:cNvSpPr txBox="1"/>
          <p:nvPr/>
        </p:nvSpPr>
        <p:spPr>
          <a:xfrm>
            <a:off x="1044518" y="3983085"/>
            <a:ext cx="95250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en-US" sz="1600" b="1" dirty="0">
                <a:solidFill>
                  <a:schemeClr val="tx2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rPr>
              <a:t>Players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C6D03B-ADB1-454B-9397-D83B32C721CA}"/>
              </a:ext>
            </a:extLst>
          </p:cNvPr>
          <p:cNvSpPr txBox="1"/>
          <p:nvPr/>
        </p:nvSpPr>
        <p:spPr>
          <a:xfrm>
            <a:off x="8156620" y="3983085"/>
            <a:ext cx="1936749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en-US" sz="1600" b="1" dirty="0">
                <a:solidFill>
                  <a:schemeClr val="tx2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rPr>
              <a:t>Time per session</a:t>
            </a: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6" name="Chart 15">
                <a:extLst>
                  <a:ext uri="{FF2B5EF4-FFF2-40B4-BE49-F238E27FC236}">
                    <a16:creationId xmlns:a16="http://schemas.microsoft.com/office/drawing/2014/main" id="{19573F5E-89A2-4436-94AC-C77088C279C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429122554"/>
                  </p:ext>
                </p:extLst>
              </p:nvPr>
            </p:nvGraphicFramePr>
            <p:xfrm>
              <a:off x="2335435" y="3912459"/>
              <a:ext cx="4572000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16" name="Chart 15">
                <a:extLst>
                  <a:ext uri="{FF2B5EF4-FFF2-40B4-BE49-F238E27FC236}">
                    <a16:creationId xmlns:a16="http://schemas.microsoft.com/office/drawing/2014/main" id="{19573F5E-89A2-4436-94AC-C77088C279C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5435" y="3912459"/>
                <a:ext cx="4572000" cy="27432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2209FA02-809E-414E-8F83-7B4814FE9FD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84051281"/>
              </p:ext>
            </p:extLst>
          </p:nvPr>
        </p:nvGraphicFramePr>
        <p:xfrm>
          <a:off x="7922269" y="4379664"/>
          <a:ext cx="3183650" cy="21553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3074" name="Picture 2" descr="Juega Al Slot Oink Oink Oink | NetBet Casino">
            <a:extLst>
              <a:ext uri="{FF2B5EF4-FFF2-40B4-BE49-F238E27FC236}">
                <a16:creationId xmlns:a16="http://schemas.microsoft.com/office/drawing/2014/main" id="{AB59C4FC-ADD3-52E0-E5FA-9D6101A7BE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518" y="1648068"/>
            <a:ext cx="1780932" cy="1780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F6C4524-C57D-2AB2-F64E-BA9926ECC53E}"/>
              </a:ext>
            </a:extLst>
          </p:cNvPr>
          <p:cNvSpPr txBox="1"/>
          <p:nvPr/>
        </p:nvSpPr>
        <p:spPr>
          <a:xfrm>
            <a:off x="3187643" y="1254660"/>
            <a:ext cx="8242357" cy="2479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5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Players</a:t>
            </a:r>
            <a:r>
              <a:rPr lang="es-MX" sz="15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s-MX" sz="15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increase</a:t>
            </a:r>
            <a:r>
              <a:rPr lang="es-MX" sz="15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s-MX" sz="15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every</a:t>
            </a:r>
            <a:r>
              <a:rPr lang="es-MX" sz="15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s-MX" sz="15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month</a:t>
            </a:r>
            <a:r>
              <a:rPr lang="es-MX" sz="15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. </a:t>
            </a:r>
            <a:r>
              <a:rPr lang="es-MX" sz="15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Stradistics</a:t>
            </a:r>
            <a:r>
              <a:rPr lang="es-MX" sz="15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show new and </a:t>
            </a:r>
            <a:r>
              <a:rPr lang="es-MX" sz="15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frecuent</a:t>
            </a:r>
            <a:r>
              <a:rPr lang="es-MX" sz="15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s-MX" sz="15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players</a:t>
            </a:r>
            <a:endParaRPr lang="es-MX" sz="15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5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The</a:t>
            </a:r>
            <a:r>
              <a:rPr lang="es-MX" sz="15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s-MX" sz="15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game</a:t>
            </a:r>
            <a:r>
              <a:rPr lang="es-MX" sz="15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s-MX" sz="15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offers</a:t>
            </a:r>
            <a:r>
              <a:rPr lang="es-MX" sz="15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a RTP </a:t>
            </a:r>
            <a:r>
              <a:rPr lang="es-MX" sz="15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between</a:t>
            </a:r>
            <a:r>
              <a:rPr lang="es-MX" sz="15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95.9% - 96.9%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5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Time </a:t>
            </a:r>
            <a:r>
              <a:rPr lang="es-MX" sz="15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sessions</a:t>
            </a:r>
            <a:r>
              <a:rPr lang="es-MX" sz="15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show </a:t>
            </a:r>
            <a:r>
              <a:rPr lang="es-MX" sz="15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an</a:t>
            </a:r>
            <a:r>
              <a:rPr lang="es-MX" sz="15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s-MX" sz="15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average</a:t>
            </a:r>
            <a:r>
              <a:rPr lang="es-MX" sz="15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s-MX" sz="15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of</a:t>
            </a:r>
            <a:r>
              <a:rPr lang="es-MX" sz="15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48 minutes </a:t>
            </a:r>
          </a:p>
          <a:p>
            <a:pPr algn="just">
              <a:lnSpc>
                <a:spcPct val="150000"/>
              </a:lnSpc>
            </a:pPr>
            <a:endParaRPr lang="es-MX" sz="15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s-MX" sz="15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The</a:t>
            </a:r>
            <a:r>
              <a:rPr lang="es-MX" sz="15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s-MX" sz="15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game</a:t>
            </a:r>
            <a:r>
              <a:rPr lang="es-MX" sz="15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s-MX" sz="15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offers</a:t>
            </a:r>
            <a:r>
              <a:rPr lang="es-MX" sz="15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a </a:t>
            </a:r>
            <a:r>
              <a:rPr lang="es-MX" sz="15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trustable</a:t>
            </a:r>
            <a:r>
              <a:rPr lang="es-MX" sz="15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s-MX" sz="15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session</a:t>
            </a:r>
            <a:r>
              <a:rPr lang="es-MX" sz="15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s-MX" sz="15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delivering</a:t>
            </a:r>
            <a:r>
              <a:rPr lang="es-MX" sz="15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s-MX" sz="15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smalls</a:t>
            </a:r>
            <a:r>
              <a:rPr lang="es-MX" sz="15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s-MX" sz="15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wins</a:t>
            </a:r>
            <a:r>
              <a:rPr lang="es-MX" sz="15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s-MX" sz="15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with</a:t>
            </a:r>
            <a:r>
              <a:rPr lang="es-MX" sz="15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s-MX" sz="15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credits</a:t>
            </a:r>
            <a:r>
              <a:rPr lang="es-MX" sz="15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s-MX" sz="15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or</a:t>
            </a:r>
            <a:r>
              <a:rPr lang="es-MX" sz="15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mini – </a:t>
            </a:r>
            <a:r>
              <a:rPr lang="es-MX" sz="15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minor</a:t>
            </a:r>
            <a:r>
              <a:rPr lang="es-MX" sz="15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s-MX" sz="15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prizes</a:t>
            </a:r>
            <a:r>
              <a:rPr lang="es-MX" sz="15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, </a:t>
            </a:r>
            <a:r>
              <a:rPr lang="es-MX" sz="15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excitement</a:t>
            </a:r>
            <a:r>
              <a:rPr lang="es-MX" sz="15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s-MX" sz="15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for</a:t>
            </a:r>
            <a:r>
              <a:rPr lang="es-MX" sz="15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bonus, </a:t>
            </a:r>
            <a:r>
              <a:rPr lang="es-MX" sz="15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emotion</a:t>
            </a:r>
            <a:r>
              <a:rPr lang="es-MX" sz="15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s-MX" sz="15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for</a:t>
            </a:r>
            <a:r>
              <a:rPr lang="es-MX" sz="15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s-MX" sz="15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the</a:t>
            </a:r>
            <a:r>
              <a:rPr lang="es-MX" sz="15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s-MX" sz="15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possibily</a:t>
            </a:r>
            <a:r>
              <a:rPr lang="es-MX" sz="15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s-MX" sz="15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to</a:t>
            </a:r>
            <a:r>
              <a:rPr lang="es-MX" sz="15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s-MX" sz="15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obtain</a:t>
            </a:r>
            <a:r>
              <a:rPr lang="es-MX" sz="15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s-MX" sz="15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major</a:t>
            </a:r>
            <a:r>
              <a:rPr lang="es-MX" sz="15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– </a:t>
            </a:r>
            <a:r>
              <a:rPr lang="es-MX" sz="15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grand</a:t>
            </a:r>
            <a:r>
              <a:rPr lang="es-MX" sz="15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s-MX" sz="15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prizes</a:t>
            </a:r>
            <a:r>
              <a:rPr lang="es-MX" sz="15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. </a:t>
            </a:r>
            <a:r>
              <a:rPr lang="es-MX" sz="15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Therefore</a:t>
            </a:r>
            <a:r>
              <a:rPr lang="es-MX" sz="15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, </a:t>
            </a:r>
            <a:r>
              <a:rPr lang="es-MX" sz="15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</a:t>
            </a:r>
            <a:r>
              <a:rPr lang="es-MX" sz="15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s-MX" sz="15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is</a:t>
            </a:r>
            <a:r>
              <a:rPr lang="es-MX" sz="15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s-MX" sz="15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noteworthy</a:t>
            </a:r>
            <a:r>
              <a:rPr lang="es-MX" sz="15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s-MX" sz="15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that</a:t>
            </a:r>
            <a:r>
              <a:rPr lang="es-MX" sz="15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s-MX" sz="15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the</a:t>
            </a:r>
            <a:r>
              <a:rPr lang="es-MX" sz="15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s-MX" sz="15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players</a:t>
            </a:r>
            <a:r>
              <a:rPr lang="es-MX" sz="15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s-MX" sz="15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increase</a:t>
            </a:r>
            <a:r>
              <a:rPr lang="es-MX" sz="15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s-MX" sz="15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steadily</a:t>
            </a:r>
            <a:r>
              <a:rPr lang="es-MX" sz="15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2629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reeform 1">
            <a:extLst>
              <a:ext uri="{FF2B5EF4-FFF2-40B4-BE49-F238E27FC236}">
                <a16:creationId xmlns:a16="http://schemas.microsoft.com/office/drawing/2014/main" id="{ACBE782F-4BBF-49F5-E29D-7D02976855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7723" y="5071679"/>
            <a:ext cx="6803952" cy="1139963"/>
          </a:xfrm>
          <a:custGeom>
            <a:avLst/>
            <a:gdLst>
              <a:gd name="T0" fmla="*/ 1085 w 17953"/>
              <a:gd name="T1" fmla="*/ 3758 h 3759"/>
              <a:gd name="T2" fmla="*/ 0 w 17953"/>
              <a:gd name="T3" fmla="*/ 1879 h 3759"/>
              <a:gd name="T4" fmla="*/ 1085 w 17953"/>
              <a:gd name="T5" fmla="*/ 0 h 3759"/>
              <a:gd name="T6" fmla="*/ 16867 w 17953"/>
              <a:gd name="T7" fmla="*/ 0 h 3759"/>
              <a:gd name="T8" fmla="*/ 17952 w 17953"/>
              <a:gd name="T9" fmla="*/ 1879 h 3759"/>
              <a:gd name="T10" fmla="*/ 16867 w 17953"/>
              <a:gd name="T11" fmla="*/ 3758 h 3759"/>
              <a:gd name="T12" fmla="*/ 1085 w 17953"/>
              <a:gd name="T13" fmla="*/ 3758 h 37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953" h="3759">
                <a:moveTo>
                  <a:pt x="1085" y="3758"/>
                </a:moveTo>
                <a:lnTo>
                  <a:pt x="0" y="1879"/>
                </a:lnTo>
                <a:lnTo>
                  <a:pt x="1085" y="0"/>
                </a:lnTo>
                <a:lnTo>
                  <a:pt x="16867" y="0"/>
                </a:lnTo>
                <a:lnTo>
                  <a:pt x="17952" y="1879"/>
                </a:lnTo>
                <a:lnTo>
                  <a:pt x="16867" y="3758"/>
                </a:lnTo>
                <a:lnTo>
                  <a:pt x="1085" y="3758"/>
                </a:lnTo>
              </a:path>
            </a:pathLst>
          </a:custGeom>
          <a:solidFill>
            <a:srgbClr val="61DDA8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6A48EA-CADE-0B00-AC94-0CD23D637B53}"/>
              </a:ext>
            </a:extLst>
          </p:cNvPr>
          <p:cNvSpPr txBox="1"/>
          <p:nvPr/>
        </p:nvSpPr>
        <p:spPr>
          <a:xfrm>
            <a:off x="762000" y="241210"/>
            <a:ext cx="2520242" cy="6594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217">
              <a:lnSpc>
                <a:spcPts val="5000"/>
              </a:lnSpc>
            </a:pPr>
            <a:r>
              <a:rPr lang="en-US" sz="2400" b="1" dirty="0">
                <a:solidFill>
                  <a:srgbClr val="08204C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rPr>
              <a:t>Additional KPIs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92CF7A-57E1-F84C-626E-61E4E3DEDB6C}"/>
              </a:ext>
            </a:extLst>
          </p:cNvPr>
          <p:cNvSpPr txBox="1"/>
          <p:nvPr/>
        </p:nvSpPr>
        <p:spPr>
          <a:xfrm>
            <a:off x="762000" y="835905"/>
            <a:ext cx="1152880" cy="292388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defTabSz="914217"/>
            <a:r>
              <a:rPr lang="en-US" sz="1300" spc="50" dirty="0">
                <a:solidFill>
                  <a:srgbClr val="AAAAAA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Suggestions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83667DA3-247A-8931-BD59-53D4CD4DA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4029" y="3852962"/>
            <a:ext cx="6803952" cy="1139963"/>
          </a:xfrm>
          <a:custGeom>
            <a:avLst/>
            <a:gdLst>
              <a:gd name="T0" fmla="*/ 1085 w 17953"/>
              <a:gd name="T1" fmla="*/ 3757 h 3758"/>
              <a:gd name="T2" fmla="*/ 0 w 17953"/>
              <a:gd name="T3" fmla="*/ 1878 h 3758"/>
              <a:gd name="T4" fmla="*/ 1085 w 17953"/>
              <a:gd name="T5" fmla="*/ 0 h 3758"/>
              <a:gd name="T6" fmla="*/ 16867 w 17953"/>
              <a:gd name="T7" fmla="*/ 0 h 3758"/>
              <a:gd name="T8" fmla="*/ 17952 w 17953"/>
              <a:gd name="T9" fmla="*/ 1878 h 3758"/>
              <a:gd name="T10" fmla="*/ 16867 w 17953"/>
              <a:gd name="T11" fmla="*/ 3757 h 3758"/>
              <a:gd name="T12" fmla="*/ 1085 w 17953"/>
              <a:gd name="T13" fmla="*/ 3757 h 37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953" h="3758">
                <a:moveTo>
                  <a:pt x="1085" y="3757"/>
                </a:moveTo>
                <a:lnTo>
                  <a:pt x="0" y="1878"/>
                </a:lnTo>
                <a:lnTo>
                  <a:pt x="1085" y="0"/>
                </a:lnTo>
                <a:lnTo>
                  <a:pt x="16867" y="0"/>
                </a:lnTo>
                <a:lnTo>
                  <a:pt x="17952" y="1878"/>
                </a:lnTo>
                <a:lnTo>
                  <a:pt x="16867" y="3757"/>
                </a:lnTo>
                <a:lnTo>
                  <a:pt x="1085" y="3757"/>
                </a:lnTo>
              </a:path>
            </a:pathLst>
          </a:custGeom>
          <a:solidFill>
            <a:srgbClr val="6ACEE3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 dirty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809CEC12-C47E-2D9C-D7BF-78F18B6A48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3925" y="3852962"/>
            <a:ext cx="1314104" cy="1542695"/>
          </a:xfrm>
          <a:custGeom>
            <a:avLst/>
            <a:gdLst>
              <a:gd name="T0" fmla="*/ 0 w 4499"/>
              <a:gd name="T1" fmla="*/ 0 h 5083"/>
              <a:gd name="T2" fmla="*/ 4498 w 4499"/>
              <a:gd name="T3" fmla="*/ 0 h 5083"/>
              <a:gd name="T4" fmla="*/ 4498 w 4499"/>
              <a:gd name="T5" fmla="*/ 3757 h 5083"/>
              <a:gd name="T6" fmla="*/ 2248 w 4499"/>
              <a:gd name="T7" fmla="*/ 5082 h 5083"/>
              <a:gd name="T8" fmla="*/ 0 w 4499"/>
              <a:gd name="T9" fmla="*/ 3757 h 5083"/>
              <a:gd name="T10" fmla="*/ 0 w 4499"/>
              <a:gd name="T11" fmla="*/ 0 h 5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499" h="5083">
                <a:moveTo>
                  <a:pt x="0" y="0"/>
                </a:moveTo>
                <a:lnTo>
                  <a:pt x="4498" y="0"/>
                </a:lnTo>
                <a:lnTo>
                  <a:pt x="4498" y="3757"/>
                </a:lnTo>
                <a:lnTo>
                  <a:pt x="2248" y="5082"/>
                </a:lnTo>
                <a:lnTo>
                  <a:pt x="0" y="3757"/>
                </a:lnTo>
                <a:lnTo>
                  <a:pt x="0" y="0"/>
                </a:lnTo>
              </a:path>
            </a:pathLst>
          </a:custGeom>
          <a:solidFill>
            <a:srgbClr val="6ACEE3">
              <a:lumMod val="75000"/>
            </a:srgbClr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76E28714-1A8F-D3BF-81C7-C089B1AC5C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4029" y="2633167"/>
            <a:ext cx="6803952" cy="1139962"/>
          </a:xfrm>
          <a:custGeom>
            <a:avLst/>
            <a:gdLst>
              <a:gd name="T0" fmla="*/ 1085 w 17953"/>
              <a:gd name="T1" fmla="*/ 3758 h 3759"/>
              <a:gd name="T2" fmla="*/ 0 w 17953"/>
              <a:gd name="T3" fmla="*/ 1879 h 3759"/>
              <a:gd name="T4" fmla="*/ 1085 w 17953"/>
              <a:gd name="T5" fmla="*/ 0 h 3759"/>
              <a:gd name="T6" fmla="*/ 16867 w 17953"/>
              <a:gd name="T7" fmla="*/ 0 h 3759"/>
              <a:gd name="T8" fmla="*/ 17952 w 17953"/>
              <a:gd name="T9" fmla="*/ 1879 h 3759"/>
              <a:gd name="T10" fmla="*/ 16867 w 17953"/>
              <a:gd name="T11" fmla="*/ 3758 h 3759"/>
              <a:gd name="T12" fmla="*/ 1085 w 17953"/>
              <a:gd name="T13" fmla="*/ 3758 h 37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953" h="3759">
                <a:moveTo>
                  <a:pt x="1085" y="3758"/>
                </a:moveTo>
                <a:lnTo>
                  <a:pt x="0" y="1879"/>
                </a:lnTo>
                <a:lnTo>
                  <a:pt x="1085" y="0"/>
                </a:lnTo>
                <a:lnTo>
                  <a:pt x="16867" y="0"/>
                </a:lnTo>
                <a:lnTo>
                  <a:pt x="17952" y="1879"/>
                </a:lnTo>
                <a:lnTo>
                  <a:pt x="16867" y="3758"/>
                </a:lnTo>
                <a:lnTo>
                  <a:pt x="1085" y="3758"/>
                </a:lnTo>
              </a:path>
            </a:pathLst>
          </a:custGeom>
          <a:solidFill>
            <a:srgbClr val="2DADE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5" name="Freeform 6">
            <a:extLst>
              <a:ext uri="{FF2B5EF4-FFF2-40B4-BE49-F238E27FC236}">
                <a16:creationId xmlns:a16="http://schemas.microsoft.com/office/drawing/2014/main" id="{7921C2F8-EB28-79C9-9761-A2A12AFD6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3973" y="2633167"/>
            <a:ext cx="1314104" cy="1541357"/>
          </a:xfrm>
          <a:custGeom>
            <a:avLst/>
            <a:gdLst>
              <a:gd name="T0" fmla="*/ 0 w 4501"/>
              <a:gd name="T1" fmla="*/ 0 h 5082"/>
              <a:gd name="T2" fmla="*/ 4500 w 4501"/>
              <a:gd name="T3" fmla="*/ 0 h 5082"/>
              <a:gd name="T4" fmla="*/ 4500 w 4501"/>
              <a:gd name="T5" fmla="*/ 3758 h 5082"/>
              <a:gd name="T6" fmla="*/ 2250 w 4501"/>
              <a:gd name="T7" fmla="*/ 5081 h 5082"/>
              <a:gd name="T8" fmla="*/ 0 w 4501"/>
              <a:gd name="T9" fmla="*/ 3758 h 5082"/>
              <a:gd name="T10" fmla="*/ 0 w 4501"/>
              <a:gd name="T11" fmla="*/ 0 h 50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501" h="5082">
                <a:moveTo>
                  <a:pt x="0" y="0"/>
                </a:moveTo>
                <a:lnTo>
                  <a:pt x="4500" y="0"/>
                </a:lnTo>
                <a:lnTo>
                  <a:pt x="4500" y="3758"/>
                </a:lnTo>
                <a:lnTo>
                  <a:pt x="2250" y="5081"/>
                </a:lnTo>
                <a:lnTo>
                  <a:pt x="0" y="3758"/>
                </a:lnTo>
                <a:lnTo>
                  <a:pt x="0" y="0"/>
                </a:lnTo>
              </a:path>
            </a:pathLst>
          </a:custGeom>
          <a:solidFill>
            <a:srgbClr val="2DADE0">
              <a:lumMod val="75000"/>
            </a:srgbClr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8BCACBC2-F15B-36AC-78D8-80606D48B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4029" y="1412034"/>
            <a:ext cx="6803952" cy="1139963"/>
          </a:xfrm>
          <a:custGeom>
            <a:avLst/>
            <a:gdLst>
              <a:gd name="T0" fmla="*/ 1085 w 17953"/>
              <a:gd name="T1" fmla="*/ 3758 h 3759"/>
              <a:gd name="T2" fmla="*/ 0 w 17953"/>
              <a:gd name="T3" fmla="*/ 1879 h 3759"/>
              <a:gd name="T4" fmla="*/ 1085 w 17953"/>
              <a:gd name="T5" fmla="*/ 0 h 3759"/>
              <a:gd name="T6" fmla="*/ 16867 w 17953"/>
              <a:gd name="T7" fmla="*/ 0 h 3759"/>
              <a:gd name="T8" fmla="*/ 17952 w 17953"/>
              <a:gd name="T9" fmla="*/ 1879 h 3759"/>
              <a:gd name="T10" fmla="*/ 16867 w 17953"/>
              <a:gd name="T11" fmla="*/ 3758 h 3759"/>
              <a:gd name="T12" fmla="*/ 1085 w 17953"/>
              <a:gd name="T13" fmla="*/ 3758 h 37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953" h="3759">
                <a:moveTo>
                  <a:pt x="1085" y="3758"/>
                </a:moveTo>
                <a:lnTo>
                  <a:pt x="0" y="1879"/>
                </a:lnTo>
                <a:lnTo>
                  <a:pt x="1085" y="0"/>
                </a:lnTo>
                <a:lnTo>
                  <a:pt x="16867" y="0"/>
                </a:lnTo>
                <a:lnTo>
                  <a:pt x="17952" y="1879"/>
                </a:lnTo>
                <a:lnTo>
                  <a:pt x="16867" y="3758"/>
                </a:lnTo>
                <a:lnTo>
                  <a:pt x="1085" y="3758"/>
                </a:lnTo>
              </a:path>
            </a:pathLst>
          </a:custGeom>
          <a:solidFill>
            <a:srgbClr val="1073A3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27" name="Freeform 8">
            <a:extLst>
              <a:ext uri="{FF2B5EF4-FFF2-40B4-BE49-F238E27FC236}">
                <a16:creationId xmlns:a16="http://schemas.microsoft.com/office/drawing/2014/main" id="{6AB346D9-4E2A-0101-FBBF-B666866C6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4020" y="1412034"/>
            <a:ext cx="1314104" cy="1542695"/>
          </a:xfrm>
          <a:custGeom>
            <a:avLst/>
            <a:gdLst>
              <a:gd name="T0" fmla="*/ 0 w 4500"/>
              <a:gd name="T1" fmla="*/ 0 h 5084"/>
              <a:gd name="T2" fmla="*/ 4499 w 4500"/>
              <a:gd name="T3" fmla="*/ 0 h 5084"/>
              <a:gd name="T4" fmla="*/ 4499 w 4500"/>
              <a:gd name="T5" fmla="*/ 3758 h 5084"/>
              <a:gd name="T6" fmla="*/ 2250 w 4500"/>
              <a:gd name="T7" fmla="*/ 5083 h 5084"/>
              <a:gd name="T8" fmla="*/ 0 w 4500"/>
              <a:gd name="T9" fmla="*/ 3758 h 5084"/>
              <a:gd name="T10" fmla="*/ 0 w 4500"/>
              <a:gd name="T11" fmla="*/ 0 h 50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500" h="5084">
                <a:moveTo>
                  <a:pt x="0" y="0"/>
                </a:moveTo>
                <a:lnTo>
                  <a:pt x="4499" y="0"/>
                </a:lnTo>
                <a:lnTo>
                  <a:pt x="4499" y="3758"/>
                </a:lnTo>
                <a:lnTo>
                  <a:pt x="2250" y="5083"/>
                </a:lnTo>
                <a:lnTo>
                  <a:pt x="0" y="3758"/>
                </a:lnTo>
                <a:lnTo>
                  <a:pt x="0" y="0"/>
                </a:lnTo>
              </a:path>
            </a:pathLst>
          </a:custGeom>
          <a:solidFill>
            <a:srgbClr val="1073A3">
              <a:lumMod val="75000"/>
            </a:srgbClr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1DECCD5C-F8EF-652F-63CF-EE03D956808F}"/>
              </a:ext>
            </a:extLst>
          </p:cNvPr>
          <p:cNvSpPr txBox="1">
            <a:spLocks/>
          </p:cNvSpPr>
          <p:nvPr/>
        </p:nvSpPr>
        <p:spPr>
          <a:xfrm>
            <a:off x="4328957" y="1825721"/>
            <a:ext cx="3052308" cy="312586"/>
          </a:xfrm>
          <a:prstGeom prst="rect">
            <a:avLst/>
          </a:prstGeom>
        </p:spPr>
        <p:txBody>
          <a:bodyPr vert="horz" wrap="square" lIns="45720" tIns="22860" rIns="45720" bIns="4572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543818">
              <a:lnSpc>
                <a:spcPts val="2050"/>
              </a:lnSpc>
            </a:pPr>
            <a:r>
              <a:rPr lang="en-US" sz="1250" dirty="0">
                <a:solidFill>
                  <a:srgbClr val="FFFFFF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Registrations from offers page.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5C9F599-F494-0835-DFC8-6E5793BAB7BE}"/>
              </a:ext>
            </a:extLst>
          </p:cNvPr>
          <p:cNvGrpSpPr/>
          <p:nvPr/>
        </p:nvGrpSpPr>
        <p:grpSpPr>
          <a:xfrm>
            <a:off x="3044739" y="1512656"/>
            <a:ext cx="612668" cy="938718"/>
            <a:chOff x="6086304" y="2991345"/>
            <a:chExt cx="1225334" cy="1877436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3620892-8871-5491-2A4C-D3E090E94FB8}"/>
                </a:ext>
              </a:extLst>
            </p:cNvPr>
            <p:cNvSpPr txBox="1"/>
            <p:nvPr/>
          </p:nvSpPr>
          <p:spPr>
            <a:xfrm>
              <a:off x="6514239" y="2991345"/>
              <a:ext cx="369459" cy="677108"/>
            </a:xfrm>
            <a:prstGeom prst="rect">
              <a:avLst/>
            </a:prstGeom>
            <a:noFill/>
          </p:spPr>
          <p:txBody>
            <a:bodyPr wrap="none" rtlCol="0" anchor="b" anchorCtr="0">
              <a:spAutoFit/>
            </a:bodyPr>
            <a:lstStyle/>
            <a:p>
              <a:pPr algn="ctr" defTabSz="914217"/>
              <a:endParaRPr lang="en-US" sz="1600" b="1" dirty="0">
                <a:solidFill>
                  <a:srgbClr val="FFFFFF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F40F3C5-2B0B-E676-EDD0-964C6EADAB8A}"/>
                </a:ext>
              </a:extLst>
            </p:cNvPr>
            <p:cNvSpPr txBox="1"/>
            <p:nvPr/>
          </p:nvSpPr>
          <p:spPr>
            <a:xfrm>
              <a:off x="6086304" y="3668453"/>
              <a:ext cx="1225334" cy="1200328"/>
            </a:xfrm>
            <a:prstGeom prst="rect">
              <a:avLst/>
            </a:prstGeom>
            <a:noFill/>
          </p:spPr>
          <p:txBody>
            <a:bodyPr wrap="none" rtlCol="0" anchor="t" anchorCtr="0">
              <a:spAutoFit/>
            </a:bodyPr>
            <a:lstStyle/>
            <a:p>
              <a:pPr algn="ctr" defTabSz="914217"/>
              <a:r>
                <a:rPr lang="en-US" sz="3300" b="1" dirty="0">
                  <a:solidFill>
                    <a:srgbClr val="FFFFFF"/>
                  </a:solidFill>
                  <a:latin typeface="Poppins SemiBold" pitchFamily="2" charset="77"/>
                  <a:ea typeface="League Spartan" charset="0"/>
                  <a:cs typeface="Poppins SemiBold" pitchFamily="2" charset="77"/>
                </a:rPr>
                <a:t>01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DBC5DE2-2179-1247-A44D-D61B2F4A2295}"/>
              </a:ext>
            </a:extLst>
          </p:cNvPr>
          <p:cNvGrpSpPr/>
          <p:nvPr/>
        </p:nvGrpSpPr>
        <p:grpSpPr>
          <a:xfrm>
            <a:off x="4829807" y="2733788"/>
            <a:ext cx="702436" cy="938718"/>
            <a:chOff x="5996534" y="2991345"/>
            <a:chExt cx="1404872" cy="1877436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1D2D340-A00B-E02E-025C-A71066D8C090}"/>
                </a:ext>
              </a:extLst>
            </p:cNvPr>
            <p:cNvSpPr txBox="1"/>
            <p:nvPr/>
          </p:nvSpPr>
          <p:spPr>
            <a:xfrm>
              <a:off x="6514240" y="2991345"/>
              <a:ext cx="369460" cy="677108"/>
            </a:xfrm>
            <a:prstGeom prst="rect">
              <a:avLst/>
            </a:prstGeom>
            <a:noFill/>
          </p:spPr>
          <p:txBody>
            <a:bodyPr wrap="none" rtlCol="0" anchor="b" anchorCtr="0">
              <a:spAutoFit/>
            </a:bodyPr>
            <a:lstStyle/>
            <a:p>
              <a:pPr algn="ctr" defTabSz="914217"/>
              <a:endParaRPr lang="en-US" sz="1600" b="1" dirty="0">
                <a:solidFill>
                  <a:srgbClr val="FFFFFF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3A86598-BA83-8ED4-1CCB-7097A7F580D2}"/>
                </a:ext>
              </a:extLst>
            </p:cNvPr>
            <p:cNvSpPr txBox="1"/>
            <p:nvPr/>
          </p:nvSpPr>
          <p:spPr>
            <a:xfrm>
              <a:off x="5996534" y="3668453"/>
              <a:ext cx="1404872" cy="1200328"/>
            </a:xfrm>
            <a:prstGeom prst="rect">
              <a:avLst/>
            </a:prstGeom>
            <a:noFill/>
          </p:spPr>
          <p:txBody>
            <a:bodyPr wrap="none" rtlCol="0" anchor="t" anchorCtr="0">
              <a:spAutoFit/>
            </a:bodyPr>
            <a:lstStyle/>
            <a:p>
              <a:pPr algn="ctr" defTabSz="914217"/>
              <a:r>
                <a:rPr lang="en-US" sz="3300" b="1" dirty="0">
                  <a:solidFill>
                    <a:srgbClr val="FFFFFF"/>
                  </a:solidFill>
                  <a:latin typeface="Poppins SemiBold" pitchFamily="2" charset="77"/>
                  <a:ea typeface="League Spartan" charset="0"/>
                  <a:cs typeface="Poppins SemiBold" pitchFamily="2" charset="77"/>
                </a:rPr>
                <a:t>02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F9A2412-EE30-5AB3-E58B-C6EC0B0B4C1F}"/>
              </a:ext>
            </a:extLst>
          </p:cNvPr>
          <p:cNvGrpSpPr/>
          <p:nvPr/>
        </p:nvGrpSpPr>
        <p:grpSpPr>
          <a:xfrm>
            <a:off x="6654950" y="3953583"/>
            <a:ext cx="712054" cy="938718"/>
            <a:chOff x="5986918" y="2991345"/>
            <a:chExt cx="1424106" cy="1877436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C977CC7-C4C8-FA2F-1C0A-C3A5B2FB6ABA}"/>
                </a:ext>
              </a:extLst>
            </p:cNvPr>
            <p:cNvSpPr txBox="1"/>
            <p:nvPr/>
          </p:nvSpPr>
          <p:spPr>
            <a:xfrm>
              <a:off x="6514239" y="2991345"/>
              <a:ext cx="369459" cy="677108"/>
            </a:xfrm>
            <a:prstGeom prst="rect">
              <a:avLst/>
            </a:prstGeom>
            <a:noFill/>
          </p:spPr>
          <p:txBody>
            <a:bodyPr wrap="none" rtlCol="0" anchor="b" anchorCtr="0">
              <a:spAutoFit/>
            </a:bodyPr>
            <a:lstStyle/>
            <a:p>
              <a:pPr algn="ctr" defTabSz="914217"/>
              <a:endParaRPr lang="en-US" sz="1600" b="1" dirty="0">
                <a:solidFill>
                  <a:srgbClr val="FFFFFF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1D64F28-6936-300B-2E7E-B8A3EBD28FB7}"/>
                </a:ext>
              </a:extLst>
            </p:cNvPr>
            <p:cNvSpPr txBox="1"/>
            <p:nvPr/>
          </p:nvSpPr>
          <p:spPr>
            <a:xfrm>
              <a:off x="5986918" y="3668453"/>
              <a:ext cx="1424106" cy="1200328"/>
            </a:xfrm>
            <a:prstGeom prst="rect">
              <a:avLst/>
            </a:prstGeom>
            <a:noFill/>
          </p:spPr>
          <p:txBody>
            <a:bodyPr wrap="none" rtlCol="0" anchor="t" anchorCtr="0">
              <a:spAutoFit/>
            </a:bodyPr>
            <a:lstStyle/>
            <a:p>
              <a:pPr algn="ctr" defTabSz="914217"/>
              <a:r>
                <a:rPr lang="en-US" sz="3300" b="1" dirty="0">
                  <a:solidFill>
                    <a:srgbClr val="FFFFFF"/>
                  </a:solidFill>
                  <a:latin typeface="Poppins SemiBold" pitchFamily="2" charset="77"/>
                  <a:ea typeface="League Spartan" charset="0"/>
                  <a:cs typeface="Poppins SemiBold" pitchFamily="2" charset="77"/>
                </a:rPr>
                <a:t>03</a:t>
              </a:r>
            </a:p>
          </p:txBody>
        </p:sp>
      </p:grpSp>
      <p:sp>
        <p:nvSpPr>
          <p:cNvPr id="42" name="Subtitle 2">
            <a:extLst>
              <a:ext uri="{FF2B5EF4-FFF2-40B4-BE49-F238E27FC236}">
                <a16:creationId xmlns:a16="http://schemas.microsoft.com/office/drawing/2014/main" id="{782021F6-6503-B49B-C9CE-E8291D056B34}"/>
              </a:ext>
            </a:extLst>
          </p:cNvPr>
          <p:cNvSpPr txBox="1">
            <a:spLocks/>
          </p:cNvSpPr>
          <p:nvPr/>
        </p:nvSpPr>
        <p:spPr>
          <a:xfrm>
            <a:off x="3085695" y="4112762"/>
            <a:ext cx="3051583" cy="620363"/>
          </a:xfrm>
          <a:prstGeom prst="rect">
            <a:avLst/>
          </a:prstGeom>
        </p:spPr>
        <p:txBody>
          <a:bodyPr vert="horz" wrap="square" lIns="45720" tIns="22860" rIns="45720" bIns="4572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543818">
              <a:lnSpc>
                <a:spcPts val="2050"/>
              </a:lnSpc>
            </a:pPr>
            <a:r>
              <a:rPr lang="en-US" sz="1250" b="1" dirty="0">
                <a:solidFill>
                  <a:srgbClr val="FFFFFF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Conversion Rate </a:t>
            </a:r>
          </a:p>
          <a:p>
            <a:pPr algn="r" defTabSz="543818">
              <a:lnSpc>
                <a:spcPts val="2050"/>
              </a:lnSpc>
            </a:pPr>
            <a:r>
              <a:rPr lang="en-US" sz="1250" dirty="0">
                <a:solidFill>
                  <a:srgbClr val="FFFFFF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How many players subscribe on first visit.</a:t>
            </a:r>
          </a:p>
        </p:txBody>
      </p:sp>
      <p:sp>
        <p:nvSpPr>
          <p:cNvPr id="43" name="Subtitle 2">
            <a:extLst>
              <a:ext uri="{FF2B5EF4-FFF2-40B4-BE49-F238E27FC236}">
                <a16:creationId xmlns:a16="http://schemas.microsoft.com/office/drawing/2014/main" id="{EAF69DC3-9FFC-D898-DAFA-2699774E3AEF}"/>
              </a:ext>
            </a:extLst>
          </p:cNvPr>
          <p:cNvSpPr txBox="1">
            <a:spLocks/>
          </p:cNvSpPr>
          <p:nvPr/>
        </p:nvSpPr>
        <p:spPr>
          <a:xfrm>
            <a:off x="6019699" y="2910526"/>
            <a:ext cx="3051583" cy="581891"/>
          </a:xfrm>
          <a:prstGeom prst="rect">
            <a:avLst/>
          </a:prstGeom>
        </p:spPr>
        <p:txBody>
          <a:bodyPr vert="horz" wrap="square" lIns="45720" tIns="22860" rIns="45720" bIns="4572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543818">
              <a:lnSpc>
                <a:spcPts val="2050"/>
              </a:lnSpc>
            </a:pPr>
            <a:r>
              <a:rPr lang="en-US" sz="1250" dirty="0">
                <a:solidFill>
                  <a:srgbClr val="FFFFFF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n-US" sz="1250" b="1" dirty="0">
                <a:solidFill>
                  <a:srgbClr val="FFFFFF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Retentions repeat </a:t>
            </a:r>
            <a:r>
              <a:rPr lang="en-US" sz="1250" dirty="0">
                <a:solidFill>
                  <a:srgbClr val="FFFFFF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deposits from users who subscribed after an offer.</a:t>
            </a:r>
          </a:p>
        </p:txBody>
      </p:sp>
      <p:sp>
        <p:nvSpPr>
          <p:cNvPr id="54" name="Freeform 2">
            <a:extLst>
              <a:ext uri="{FF2B5EF4-FFF2-40B4-BE49-F238E27FC236}">
                <a16:creationId xmlns:a16="http://schemas.microsoft.com/office/drawing/2014/main" id="{E2DE1FB9-E713-35C4-7790-8695BBB107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3877" y="5074095"/>
            <a:ext cx="1314104" cy="1542696"/>
          </a:xfrm>
          <a:custGeom>
            <a:avLst/>
            <a:gdLst>
              <a:gd name="T0" fmla="*/ 0 w 4500"/>
              <a:gd name="T1" fmla="*/ 0 h 5084"/>
              <a:gd name="T2" fmla="*/ 4499 w 4500"/>
              <a:gd name="T3" fmla="*/ 0 h 5084"/>
              <a:gd name="T4" fmla="*/ 4499 w 4500"/>
              <a:gd name="T5" fmla="*/ 3758 h 5084"/>
              <a:gd name="T6" fmla="*/ 2250 w 4500"/>
              <a:gd name="T7" fmla="*/ 5083 h 5084"/>
              <a:gd name="T8" fmla="*/ 0 w 4500"/>
              <a:gd name="T9" fmla="*/ 3758 h 5084"/>
              <a:gd name="T10" fmla="*/ 0 w 4500"/>
              <a:gd name="T11" fmla="*/ 0 h 50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500" h="5084">
                <a:moveTo>
                  <a:pt x="0" y="0"/>
                </a:moveTo>
                <a:lnTo>
                  <a:pt x="4499" y="0"/>
                </a:lnTo>
                <a:lnTo>
                  <a:pt x="4499" y="3758"/>
                </a:lnTo>
                <a:lnTo>
                  <a:pt x="2250" y="5083"/>
                </a:lnTo>
                <a:lnTo>
                  <a:pt x="0" y="3758"/>
                </a:lnTo>
                <a:lnTo>
                  <a:pt x="0" y="0"/>
                </a:lnTo>
              </a:path>
            </a:pathLst>
          </a:custGeom>
          <a:solidFill>
            <a:srgbClr val="61DDA8">
              <a:lumMod val="75000"/>
            </a:srgbClr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Calibri" panose="020F0502020204030204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EE6D8915-78EE-15D4-11D3-B3387AF0B60F}"/>
              </a:ext>
            </a:extLst>
          </p:cNvPr>
          <p:cNvGrpSpPr/>
          <p:nvPr/>
        </p:nvGrpSpPr>
        <p:grpSpPr>
          <a:xfrm>
            <a:off x="8471277" y="5174716"/>
            <a:ext cx="739305" cy="938718"/>
            <a:chOff x="5959665" y="2991345"/>
            <a:chExt cx="1478608" cy="1877436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929578D-1396-B467-D7AC-13B1F69EEBFE}"/>
                </a:ext>
              </a:extLst>
            </p:cNvPr>
            <p:cNvSpPr txBox="1"/>
            <p:nvPr/>
          </p:nvSpPr>
          <p:spPr>
            <a:xfrm>
              <a:off x="6514238" y="2991345"/>
              <a:ext cx="369460" cy="677108"/>
            </a:xfrm>
            <a:prstGeom prst="rect">
              <a:avLst/>
            </a:prstGeom>
            <a:noFill/>
          </p:spPr>
          <p:txBody>
            <a:bodyPr wrap="none" rtlCol="0" anchor="b" anchorCtr="0">
              <a:spAutoFit/>
            </a:bodyPr>
            <a:lstStyle/>
            <a:p>
              <a:pPr algn="ctr" defTabSz="914217"/>
              <a:endParaRPr lang="en-US" sz="1600" b="1" dirty="0">
                <a:solidFill>
                  <a:srgbClr val="FFFFFF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2229B02-FD19-5319-42D3-16042A869A80}"/>
                </a:ext>
              </a:extLst>
            </p:cNvPr>
            <p:cNvSpPr txBox="1"/>
            <p:nvPr/>
          </p:nvSpPr>
          <p:spPr>
            <a:xfrm>
              <a:off x="5959665" y="3668453"/>
              <a:ext cx="1478608" cy="1200328"/>
            </a:xfrm>
            <a:prstGeom prst="rect">
              <a:avLst/>
            </a:prstGeom>
            <a:noFill/>
          </p:spPr>
          <p:txBody>
            <a:bodyPr wrap="none" rtlCol="0" anchor="t" anchorCtr="0">
              <a:spAutoFit/>
            </a:bodyPr>
            <a:lstStyle/>
            <a:p>
              <a:pPr algn="ctr" defTabSz="914217"/>
              <a:r>
                <a:rPr lang="en-US" sz="3300" b="1" dirty="0">
                  <a:solidFill>
                    <a:srgbClr val="FFFFFF"/>
                  </a:solidFill>
                  <a:latin typeface="Poppins SemiBold" pitchFamily="2" charset="77"/>
                  <a:ea typeface="League Spartan" charset="0"/>
                  <a:cs typeface="Poppins SemiBold" pitchFamily="2" charset="77"/>
                </a:rPr>
                <a:t>04</a:t>
              </a:r>
            </a:p>
          </p:txBody>
        </p:sp>
      </p:grpSp>
      <p:sp>
        <p:nvSpPr>
          <p:cNvPr id="58" name="Subtitle 2">
            <a:extLst>
              <a:ext uri="{FF2B5EF4-FFF2-40B4-BE49-F238E27FC236}">
                <a16:creationId xmlns:a16="http://schemas.microsoft.com/office/drawing/2014/main" id="{5022309B-04CC-339C-C0BC-655398D1F339}"/>
              </a:ext>
            </a:extLst>
          </p:cNvPr>
          <p:cNvSpPr txBox="1">
            <a:spLocks/>
          </p:cNvSpPr>
          <p:nvPr/>
        </p:nvSpPr>
        <p:spPr>
          <a:xfrm>
            <a:off x="4986994" y="5033012"/>
            <a:ext cx="3053183" cy="1543692"/>
          </a:xfrm>
          <a:prstGeom prst="rect">
            <a:avLst/>
          </a:prstGeom>
        </p:spPr>
        <p:txBody>
          <a:bodyPr vert="horz" wrap="square" lIns="45720" tIns="22860" rIns="45720" bIns="4572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543818">
              <a:lnSpc>
                <a:spcPts val="2050"/>
              </a:lnSpc>
            </a:pPr>
            <a:r>
              <a:rPr lang="en-US" sz="1250" b="1" dirty="0" err="1">
                <a:solidFill>
                  <a:srgbClr val="FFFFFF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Insgram</a:t>
            </a:r>
            <a:endParaRPr lang="en-US" sz="1250" b="1" dirty="0">
              <a:solidFill>
                <a:srgbClr val="FFFFFF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285750" indent="-285750" algn="r" defTabSz="543818">
              <a:lnSpc>
                <a:spcPts val="2050"/>
              </a:lnSpc>
              <a:buFontTx/>
              <a:buChar char="-"/>
            </a:pPr>
            <a:r>
              <a:rPr lang="en-US" sz="1250" dirty="0">
                <a:solidFill>
                  <a:srgbClr val="FFFFFF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Link clicks</a:t>
            </a:r>
          </a:p>
          <a:p>
            <a:pPr marL="285750" indent="-285750" algn="r" defTabSz="543818">
              <a:lnSpc>
                <a:spcPts val="2050"/>
              </a:lnSpc>
              <a:buFontTx/>
              <a:buChar char="-"/>
            </a:pPr>
            <a:r>
              <a:rPr lang="en-US" sz="1250" dirty="0">
                <a:solidFill>
                  <a:srgbClr val="FFFFFF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CTR</a:t>
            </a:r>
          </a:p>
          <a:p>
            <a:pPr marL="285750" indent="-285750" algn="r" defTabSz="543818">
              <a:lnSpc>
                <a:spcPts val="2050"/>
              </a:lnSpc>
              <a:buFontTx/>
              <a:buChar char="-"/>
            </a:pPr>
            <a:r>
              <a:rPr lang="en-US" sz="1250" dirty="0">
                <a:solidFill>
                  <a:srgbClr val="FFFFFF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Unique users who clicked</a:t>
            </a:r>
          </a:p>
          <a:p>
            <a:pPr marL="285750" indent="-285750" algn="r" defTabSz="543818">
              <a:lnSpc>
                <a:spcPts val="2050"/>
              </a:lnSpc>
              <a:buFontTx/>
              <a:buChar char="-"/>
            </a:pPr>
            <a:endParaRPr lang="en-US" sz="1250" dirty="0">
              <a:solidFill>
                <a:srgbClr val="FFFFFF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AB28C34-F54C-9129-7EB0-1A1BC5C28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800" y="0"/>
            <a:ext cx="1414462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053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0BC3D-7671-5453-7A83-33E5C0081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FEF5E9E-D80D-6292-175F-29CE552140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50" y="3903064"/>
            <a:ext cx="5264583" cy="6594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5000"/>
              </a:lnSpc>
            </a:pPr>
            <a:r>
              <a:rPr lang="en-US" sz="2400" b="1" dirty="0">
                <a:solidFill>
                  <a:schemeClr val="tx2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rPr>
              <a:t>Data Analysis &amp; Product Insights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D8D095-FA39-70F6-514E-13FEBD3ED117}"/>
              </a:ext>
            </a:extLst>
          </p:cNvPr>
          <p:cNvSpPr/>
          <p:nvPr/>
        </p:nvSpPr>
        <p:spPr>
          <a:xfrm>
            <a:off x="-118267" y="2753975"/>
            <a:ext cx="4503733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9600" b="1" dirty="0">
                <a:ln/>
                <a:solidFill>
                  <a:schemeClr val="accent4"/>
                </a:solidFill>
              </a:rPr>
              <a:t>2</a:t>
            </a:r>
            <a:endParaRPr lang="en-US" sz="9600" b="1" cap="none" spc="0" dirty="0">
              <a:ln/>
              <a:solidFill>
                <a:schemeClr val="accent4"/>
              </a:solidFill>
              <a:effectLst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906801-6864-325B-1FFD-868FE4046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800" y="0"/>
            <a:ext cx="1414462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977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>
            <a:extLst>
              <a:ext uri="{FF2B5EF4-FFF2-40B4-BE49-F238E27FC236}">
                <a16:creationId xmlns:a16="http://schemas.microsoft.com/office/drawing/2014/main" id="{C61B024C-10BE-14BB-9EEA-9B382852E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3712" y="4881191"/>
            <a:ext cx="1003304" cy="876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D150C5-C2EF-29A8-552A-2E1D75E6EDBC}"/>
              </a:ext>
            </a:extLst>
          </p:cNvPr>
          <p:cNvSpPr txBox="1"/>
          <p:nvPr/>
        </p:nvSpPr>
        <p:spPr>
          <a:xfrm>
            <a:off x="789594" y="-98113"/>
            <a:ext cx="4985660" cy="6917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MX"/>
            </a:defPPr>
            <a:lvl1pPr defTabSz="914217">
              <a:lnSpc>
                <a:spcPts val="5000"/>
              </a:lnSpc>
              <a:defRPr sz="2400" b="1">
                <a:solidFill>
                  <a:srgbClr val="08204C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defRPr>
            </a:lvl1pPr>
          </a:lstStyle>
          <a:p>
            <a:r>
              <a:rPr lang="en-US" dirty="0"/>
              <a:t>13 weeks performance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733F5F-2F81-47B8-02EF-A4713DE7B5B3}"/>
              </a:ext>
            </a:extLst>
          </p:cNvPr>
          <p:cNvSpPr txBox="1"/>
          <p:nvPr/>
        </p:nvSpPr>
        <p:spPr>
          <a:xfrm>
            <a:off x="789594" y="496582"/>
            <a:ext cx="893193" cy="292388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1300" spc="5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Analytics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230AF9-8E07-C007-A265-032999324B04}"/>
              </a:ext>
            </a:extLst>
          </p:cNvPr>
          <p:cNvSpPr txBox="1"/>
          <p:nvPr/>
        </p:nvSpPr>
        <p:spPr>
          <a:xfrm>
            <a:off x="434236" y="899681"/>
            <a:ext cx="5198533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14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Conversion rate show strong sensitivity to private missions</a:t>
            </a:r>
            <a:r>
              <a:rPr lang="en-US" sz="14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with the lowest figures recorded in weeks 4, 9, and 10, when missions were between cero or 1. </a:t>
            </a:r>
          </a:p>
          <a:p>
            <a:pPr marL="285750" indent="-285750" algn="just">
              <a:lnSpc>
                <a:spcPct val="200000"/>
              </a:lnSpc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CR is also influenced by the availability of basketball games, though with less impact compared to private missions.</a:t>
            </a:r>
          </a:p>
          <a:p>
            <a:pPr>
              <a:lnSpc>
                <a:spcPct val="200000"/>
              </a:lnSpc>
            </a:pPr>
            <a:endParaRPr lang="es-MX" sz="14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4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graphicFrame>
        <p:nvGraphicFramePr>
          <p:cNvPr id="43" name="Chart 42">
            <a:extLst>
              <a:ext uri="{FF2B5EF4-FFF2-40B4-BE49-F238E27FC236}">
                <a16:creationId xmlns:a16="http://schemas.microsoft.com/office/drawing/2014/main" id="{1C5BF8A6-8A93-C856-0D34-2DD6A21A7F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98871521"/>
              </p:ext>
            </p:extLst>
          </p:nvPr>
        </p:nvGraphicFramePr>
        <p:xfrm>
          <a:off x="6503557" y="438029"/>
          <a:ext cx="5048250" cy="2933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8" name="Picture 47">
            <a:extLst>
              <a:ext uri="{FF2B5EF4-FFF2-40B4-BE49-F238E27FC236}">
                <a16:creationId xmlns:a16="http://schemas.microsoft.com/office/drawing/2014/main" id="{68AA7930-1287-290F-6743-BDE508D543F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674455" y="2140683"/>
            <a:ext cx="219817" cy="207037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395EC28E-2670-1DA9-E15C-E5D3186AD7D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029739" y="2137968"/>
            <a:ext cx="219817" cy="207037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3DD6E561-C832-3930-C045-B0B273156D9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387991" y="2137967"/>
            <a:ext cx="219817" cy="207037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D93665DB-A350-11DD-A0B2-98038495FAE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807865" y="593615"/>
            <a:ext cx="219817" cy="207037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47B6B26A-1DC3-9AE5-2185-0E7E275D2BE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461048" y="1684597"/>
            <a:ext cx="219817" cy="207037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A221B6E1-75D4-1EC9-1CD6-E4A8E941D96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190084" y="1354398"/>
            <a:ext cx="219817" cy="207037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43CB7D89-89D4-2C20-3E79-6E82FB03A3EA}"/>
              </a:ext>
            </a:extLst>
          </p:cNvPr>
          <p:cNvSpPr txBox="1"/>
          <p:nvPr/>
        </p:nvSpPr>
        <p:spPr>
          <a:xfrm>
            <a:off x="434236" y="3943494"/>
            <a:ext cx="3350640" cy="2188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MX"/>
            </a:defPPr>
            <a:lvl1pPr marL="285750" indent="-285750" algn="just">
              <a:lnSpc>
                <a:spcPct val="200000"/>
              </a:lnSpc>
              <a:buClr>
                <a:srgbClr val="002060"/>
              </a:buClr>
              <a:buFont typeface="Arial" panose="020B0604020202020204" pitchFamily="34" charset="0"/>
              <a:buChar char="•"/>
              <a:defRPr sz="1400"/>
            </a:lvl1pPr>
          </a:lstStyle>
          <a:p>
            <a:r>
              <a:rPr lang="en-US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Create successful missions that reach a conversion rate above 40% require 3 elements as shown in week 5, 6 &amp; 8: basketball , 65-70% public and 30-35% private.  </a:t>
            </a:r>
            <a:endParaRPr lang="es-MX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graphicFrame>
        <p:nvGraphicFramePr>
          <p:cNvPr id="57" name="Object 56">
            <a:extLst>
              <a:ext uri="{FF2B5EF4-FFF2-40B4-BE49-F238E27FC236}">
                <a16:creationId xmlns:a16="http://schemas.microsoft.com/office/drawing/2014/main" id="{6FAB98AC-71AC-94F3-55BF-25F164166B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2565570"/>
              </p:ext>
            </p:extLst>
          </p:nvPr>
        </p:nvGraphicFramePr>
        <p:xfrm>
          <a:off x="4731907" y="3681017"/>
          <a:ext cx="7048500" cy="278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7048460" imgH="2781477" progId="Excel.Sheet.12">
                  <p:embed/>
                </p:oleObj>
              </mc:Choice>
              <mc:Fallback>
                <p:oleObj name="Worksheet" r:id="rId5" imgW="7048460" imgH="2781477" progId="Excel.Sheet.12">
                  <p:embed/>
                  <p:pic>
                    <p:nvPicPr>
                      <p:cNvPr id="57" name="Object 56">
                        <a:extLst>
                          <a:ext uri="{FF2B5EF4-FFF2-40B4-BE49-F238E27FC236}">
                            <a16:creationId xmlns:a16="http://schemas.microsoft.com/office/drawing/2014/main" id="{6FAB98AC-71AC-94F3-55BF-25F164166B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31907" y="3681017"/>
                        <a:ext cx="7048500" cy="278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5" name="Rectangle 6144">
            <a:extLst>
              <a:ext uri="{FF2B5EF4-FFF2-40B4-BE49-F238E27FC236}">
                <a16:creationId xmlns:a16="http://schemas.microsoft.com/office/drawing/2014/main" id="{8FA7A324-86D6-AE1B-D64B-8CFAB9381882}"/>
              </a:ext>
            </a:extLst>
          </p:cNvPr>
          <p:cNvSpPr/>
          <p:nvPr/>
        </p:nvSpPr>
        <p:spPr>
          <a:xfrm>
            <a:off x="4754550" y="4926644"/>
            <a:ext cx="7025858" cy="374452"/>
          </a:xfrm>
          <a:prstGeom prst="rect">
            <a:avLst/>
          </a:prstGeom>
          <a:solidFill>
            <a:srgbClr val="0070C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6149" name="Rectangle 6148">
            <a:extLst>
              <a:ext uri="{FF2B5EF4-FFF2-40B4-BE49-F238E27FC236}">
                <a16:creationId xmlns:a16="http://schemas.microsoft.com/office/drawing/2014/main" id="{3CC80127-2FFD-30EF-5E81-FBD4BF170601}"/>
              </a:ext>
            </a:extLst>
          </p:cNvPr>
          <p:cNvSpPr/>
          <p:nvPr/>
        </p:nvSpPr>
        <p:spPr>
          <a:xfrm>
            <a:off x="4731906" y="5454751"/>
            <a:ext cx="7025858" cy="155633"/>
          </a:xfrm>
          <a:prstGeom prst="rect">
            <a:avLst/>
          </a:prstGeom>
          <a:solidFill>
            <a:srgbClr val="0070C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7A066-D4F3-5161-AC6E-3292C36F9E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1800" y="0"/>
            <a:ext cx="1414462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612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F983F834-CB0B-32A5-8571-E19E09396D8C}"/>
              </a:ext>
            </a:extLst>
          </p:cNvPr>
          <p:cNvSpPr txBox="1"/>
          <p:nvPr/>
        </p:nvSpPr>
        <p:spPr>
          <a:xfrm>
            <a:off x="762000" y="241210"/>
            <a:ext cx="1098378" cy="6917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MX"/>
            </a:defPPr>
            <a:lvl1pPr defTabSz="914217">
              <a:lnSpc>
                <a:spcPts val="5000"/>
              </a:lnSpc>
              <a:defRPr sz="2400" b="1">
                <a:solidFill>
                  <a:srgbClr val="08204C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defRPr>
            </a:lvl1pPr>
          </a:lstStyle>
          <a:p>
            <a:r>
              <a:rPr lang="en-US" dirty="0"/>
              <a:t>KPIS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961AF0-ED1E-2164-C7F4-0C75F2E2600B}"/>
              </a:ext>
            </a:extLst>
          </p:cNvPr>
          <p:cNvSpPr txBox="1"/>
          <p:nvPr/>
        </p:nvSpPr>
        <p:spPr>
          <a:xfrm>
            <a:off x="762000" y="835905"/>
            <a:ext cx="843372" cy="292388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defTabSz="914217"/>
            <a:r>
              <a:rPr lang="en-US" sz="1300" spc="50" dirty="0">
                <a:solidFill>
                  <a:srgbClr val="AAAAAA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Strategy</a:t>
            </a:r>
          </a:p>
        </p:txBody>
      </p:sp>
      <p:sp>
        <p:nvSpPr>
          <p:cNvPr id="26" name="Freeform 1">
            <a:extLst>
              <a:ext uri="{FF2B5EF4-FFF2-40B4-BE49-F238E27FC236}">
                <a16:creationId xmlns:a16="http://schemas.microsoft.com/office/drawing/2014/main" id="{D626B908-4BEF-5CC9-4F94-EF0BB20B7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0408" y="1218363"/>
            <a:ext cx="3147778" cy="3152374"/>
          </a:xfrm>
          <a:custGeom>
            <a:avLst/>
            <a:gdLst>
              <a:gd name="T0" fmla="*/ 9063 w 9064"/>
              <a:gd name="T1" fmla="*/ 4537 h 9076"/>
              <a:gd name="T2" fmla="*/ 9063 w 9064"/>
              <a:gd name="T3" fmla="*/ 4537 h 9076"/>
              <a:gd name="T4" fmla="*/ 4536 w 9064"/>
              <a:gd name="T5" fmla="*/ 0 h 9076"/>
              <a:gd name="T6" fmla="*/ 4536 w 9064"/>
              <a:gd name="T7" fmla="*/ 0 h 9076"/>
              <a:gd name="T8" fmla="*/ 4536 w 9064"/>
              <a:gd name="T9" fmla="*/ 0 h 9076"/>
              <a:gd name="T10" fmla="*/ 4532 w 9064"/>
              <a:gd name="T11" fmla="*/ 0 h 9076"/>
              <a:gd name="T12" fmla="*/ 4532 w 9064"/>
              <a:gd name="T13" fmla="*/ 0 h 9076"/>
              <a:gd name="T14" fmla="*/ 4528 w 9064"/>
              <a:gd name="T15" fmla="*/ 0 h 9076"/>
              <a:gd name="T16" fmla="*/ 4528 w 9064"/>
              <a:gd name="T17" fmla="*/ 0 h 9076"/>
              <a:gd name="T18" fmla="*/ 4528 w 9064"/>
              <a:gd name="T19" fmla="*/ 0 h 9076"/>
              <a:gd name="T20" fmla="*/ 0 w 9064"/>
              <a:gd name="T21" fmla="*/ 4537 h 9076"/>
              <a:gd name="T22" fmla="*/ 0 w 9064"/>
              <a:gd name="T23" fmla="*/ 4537 h 9076"/>
              <a:gd name="T24" fmla="*/ 4528 w 9064"/>
              <a:gd name="T25" fmla="*/ 9075 h 9076"/>
              <a:gd name="T26" fmla="*/ 4528 w 9064"/>
              <a:gd name="T27" fmla="*/ 9075 h 9076"/>
              <a:gd name="T28" fmla="*/ 4528 w 9064"/>
              <a:gd name="T29" fmla="*/ 9075 h 9076"/>
              <a:gd name="T30" fmla="*/ 4532 w 9064"/>
              <a:gd name="T31" fmla="*/ 9075 h 9076"/>
              <a:gd name="T32" fmla="*/ 4532 w 9064"/>
              <a:gd name="T33" fmla="*/ 9075 h 9076"/>
              <a:gd name="T34" fmla="*/ 4536 w 9064"/>
              <a:gd name="T35" fmla="*/ 9075 h 9076"/>
              <a:gd name="T36" fmla="*/ 4536 w 9064"/>
              <a:gd name="T37" fmla="*/ 9075 h 9076"/>
              <a:gd name="T38" fmla="*/ 4536 w 9064"/>
              <a:gd name="T39" fmla="*/ 9075 h 9076"/>
              <a:gd name="T40" fmla="*/ 9063 w 9064"/>
              <a:gd name="T41" fmla="*/ 4537 h 90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9064" h="9076">
                <a:moveTo>
                  <a:pt x="9063" y="4537"/>
                </a:moveTo>
                <a:lnTo>
                  <a:pt x="9063" y="4537"/>
                </a:lnTo>
                <a:cubicBezTo>
                  <a:pt x="9063" y="2035"/>
                  <a:pt x="7037" y="5"/>
                  <a:pt x="4536" y="0"/>
                </a:cubicBezTo>
                <a:lnTo>
                  <a:pt x="4536" y="0"/>
                </a:lnTo>
                <a:lnTo>
                  <a:pt x="4536" y="0"/>
                </a:lnTo>
                <a:cubicBezTo>
                  <a:pt x="4534" y="0"/>
                  <a:pt x="4533" y="0"/>
                  <a:pt x="4532" y="0"/>
                </a:cubicBezTo>
                <a:lnTo>
                  <a:pt x="4532" y="0"/>
                </a:lnTo>
                <a:cubicBezTo>
                  <a:pt x="4531" y="0"/>
                  <a:pt x="4529" y="0"/>
                  <a:pt x="4528" y="0"/>
                </a:cubicBezTo>
                <a:lnTo>
                  <a:pt x="4528" y="0"/>
                </a:lnTo>
                <a:lnTo>
                  <a:pt x="4528" y="0"/>
                </a:lnTo>
                <a:cubicBezTo>
                  <a:pt x="2026" y="5"/>
                  <a:pt x="0" y="2035"/>
                  <a:pt x="0" y="4537"/>
                </a:cubicBezTo>
                <a:lnTo>
                  <a:pt x="0" y="4537"/>
                </a:lnTo>
                <a:cubicBezTo>
                  <a:pt x="0" y="7040"/>
                  <a:pt x="2026" y="9069"/>
                  <a:pt x="4528" y="9075"/>
                </a:cubicBezTo>
                <a:lnTo>
                  <a:pt x="4528" y="9075"/>
                </a:lnTo>
                <a:lnTo>
                  <a:pt x="4528" y="9075"/>
                </a:lnTo>
                <a:cubicBezTo>
                  <a:pt x="4529" y="9075"/>
                  <a:pt x="4531" y="9075"/>
                  <a:pt x="4532" y="9075"/>
                </a:cubicBezTo>
                <a:lnTo>
                  <a:pt x="4532" y="9075"/>
                </a:lnTo>
                <a:cubicBezTo>
                  <a:pt x="4533" y="9075"/>
                  <a:pt x="4534" y="9075"/>
                  <a:pt x="4536" y="9075"/>
                </a:cubicBezTo>
                <a:lnTo>
                  <a:pt x="4536" y="9075"/>
                </a:lnTo>
                <a:lnTo>
                  <a:pt x="4536" y="9075"/>
                </a:lnTo>
                <a:cubicBezTo>
                  <a:pt x="7037" y="9069"/>
                  <a:pt x="9063" y="7040"/>
                  <a:pt x="9063" y="4537"/>
                </a:cubicBezTo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217"/>
            <a:endParaRPr lang="en-US" sz="3266" dirty="0">
              <a:solidFill>
                <a:srgbClr val="AAAAAA"/>
              </a:solidFill>
              <a:latin typeface="Calibri" panose="020F0502020204030204"/>
            </a:endParaRPr>
          </a:p>
        </p:txBody>
      </p:sp>
      <p:sp>
        <p:nvSpPr>
          <p:cNvPr id="27" name="Freeform 2">
            <a:extLst>
              <a:ext uri="{FF2B5EF4-FFF2-40B4-BE49-F238E27FC236}">
                <a16:creationId xmlns:a16="http://schemas.microsoft.com/office/drawing/2014/main" id="{3CBEB95C-9D15-16D8-8204-CAA9564E4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9659" y="1780520"/>
            <a:ext cx="1720173" cy="1014029"/>
          </a:xfrm>
          <a:custGeom>
            <a:avLst/>
            <a:gdLst>
              <a:gd name="T0" fmla="*/ 4950 w 4951"/>
              <a:gd name="T1" fmla="*/ 2918 h 2919"/>
              <a:gd name="T2" fmla="*/ 4950 w 4951"/>
              <a:gd name="T3" fmla="*/ 2918 h 2919"/>
              <a:gd name="T4" fmla="*/ 4950 w 4951"/>
              <a:gd name="T5" fmla="*/ 2914 h 2919"/>
              <a:gd name="T6" fmla="*/ 4045 w 4951"/>
              <a:gd name="T7" fmla="*/ 2911 h 2919"/>
              <a:gd name="T8" fmla="*/ 4044 w 4951"/>
              <a:gd name="T9" fmla="*/ 2911 h 2919"/>
              <a:gd name="T10" fmla="*/ 4045 w 4951"/>
              <a:gd name="T11" fmla="*/ 2911 h 2919"/>
              <a:gd name="T12" fmla="*/ 4950 w 4951"/>
              <a:gd name="T13" fmla="*/ 2914 h 2919"/>
              <a:gd name="T14" fmla="*/ 4950 w 4951"/>
              <a:gd name="T15" fmla="*/ 2914 h 2919"/>
              <a:gd name="T16" fmla="*/ 4950 w 4951"/>
              <a:gd name="T17" fmla="*/ 2882 h 2919"/>
              <a:gd name="T18" fmla="*/ 4950 w 4951"/>
              <a:gd name="T19" fmla="*/ 2882 h 2919"/>
              <a:gd name="T20" fmla="*/ 4030 w 4951"/>
              <a:gd name="T21" fmla="*/ 0 h 2919"/>
              <a:gd name="T22" fmla="*/ 0 w 4951"/>
              <a:gd name="T23" fmla="*/ 2918 h 2919"/>
              <a:gd name="T24" fmla="*/ 4950 w 4951"/>
              <a:gd name="T25" fmla="*/ 2918 h 29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951" h="2919">
                <a:moveTo>
                  <a:pt x="4950" y="2918"/>
                </a:moveTo>
                <a:lnTo>
                  <a:pt x="4950" y="2918"/>
                </a:lnTo>
                <a:cubicBezTo>
                  <a:pt x="4950" y="2916"/>
                  <a:pt x="4950" y="2915"/>
                  <a:pt x="4950" y="2914"/>
                </a:cubicBezTo>
                <a:lnTo>
                  <a:pt x="4045" y="2911"/>
                </a:lnTo>
                <a:lnTo>
                  <a:pt x="4044" y="2911"/>
                </a:lnTo>
                <a:lnTo>
                  <a:pt x="4045" y="2911"/>
                </a:lnTo>
                <a:lnTo>
                  <a:pt x="4950" y="2914"/>
                </a:lnTo>
                <a:lnTo>
                  <a:pt x="4950" y="2914"/>
                </a:lnTo>
                <a:cubicBezTo>
                  <a:pt x="4950" y="2903"/>
                  <a:pt x="4950" y="2893"/>
                  <a:pt x="4950" y="2882"/>
                </a:cubicBezTo>
                <a:lnTo>
                  <a:pt x="4950" y="2882"/>
                </a:lnTo>
                <a:cubicBezTo>
                  <a:pt x="4950" y="1808"/>
                  <a:pt x="4610" y="813"/>
                  <a:pt x="4030" y="0"/>
                </a:cubicBezTo>
                <a:lnTo>
                  <a:pt x="0" y="2918"/>
                </a:lnTo>
                <a:lnTo>
                  <a:pt x="4950" y="2918"/>
                </a:lnTo>
              </a:path>
            </a:pathLst>
          </a:custGeom>
          <a:solidFill>
            <a:srgbClr val="2DADE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28" name="Freeform 4">
            <a:extLst>
              <a:ext uri="{FF2B5EF4-FFF2-40B4-BE49-F238E27FC236}">
                <a16:creationId xmlns:a16="http://schemas.microsoft.com/office/drawing/2014/main" id="{408256C8-FF36-AABD-60C4-683A4D745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2722" y="2800676"/>
            <a:ext cx="1381653" cy="1619077"/>
          </a:xfrm>
          <a:custGeom>
            <a:avLst/>
            <a:gdLst>
              <a:gd name="T0" fmla="*/ 3978 w 3979"/>
              <a:gd name="T1" fmla="*/ 2889 h 4663"/>
              <a:gd name="T2" fmla="*/ 3978 w 3979"/>
              <a:gd name="T3" fmla="*/ 2889 h 4663"/>
              <a:gd name="T4" fmla="*/ 1545 w 3979"/>
              <a:gd name="T5" fmla="*/ 4662 h 4663"/>
              <a:gd name="T6" fmla="*/ 0 w 3979"/>
              <a:gd name="T7" fmla="*/ 0 h 4663"/>
              <a:gd name="T8" fmla="*/ 3978 w 3979"/>
              <a:gd name="T9" fmla="*/ 2889 h 46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979" h="4663">
                <a:moveTo>
                  <a:pt x="3978" y="2889"/>
                </a:moveTo>
                <a:lnTo>
                  <a:pt x="3978" y="2889"/>
                </a:lnTo>
                <a:cubicBezTo>
                  <a:pt x="3376" y="3708"/>
                  <a:pt x="2529" y="4335"/>
                  <a:pt x="1545" y="4662"/>
                </a:cubicBezTo>
                <a:lnTo>
                  <a:pt x="0" y="0"/>
                </a:lnTo>
                <a:lnTo>
                  <a:pt x="3978" y="2889"/>
                </a:lnTo>
              </a:path>
            </a:pathLst>
          </a:custGeom>
          <a:solidFill>
            <a:srgbClr val="61DDA8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29" name="Freeform 5">
            <a:extLst>
              <a:ext uri="{FF2B5EF4-FFF2-40B4-BE49-F238E27FC236}">
                <a16:creationId xmlns:a16="http://schemas.microsoft.com/office/drawing/2014/main" id="{993890E7-F291-908D-8197-0E670D1CF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6595" y="2794549"/>
            <a:ext cx="1723237" cy="1009434"/>
          </a:xfrm>
          <a:custGeom>
            <a:avLst/>
            <a:gdLst>
              <a:gd name="T0" fmla="*/ 3998 w 4960"/>
              <a:gd name="T1" fmla="*/ 2904 h 2908"/>
              <a:gd name="T2" fmla="*/ 3998 w 4960"/>
              <a:gd name="T3" fmla="*/ 2904 h 2908"/>
              <a:gd name="T4" fmla="*/ 4959 w 4960"/>
              <a:gd name="T5" fmla="*/ 0 h 2908"/>
              <a:gd name="T6" fmla="*/ 9 w 4960"/>
              <a:gd name="T7" fmla="*/ 0 h 2908"/>
              <a:gd name="T8" fmla="*/ 0 w 4960"/>
              <a:gd name="T9" fmla="*/ 6 h 2908"/>
              <a:gd name="T10" fmla="*/ 3995 w 4960"/>
              <a:gd name="T11" fmla="*/ 2907 h 2908"/>
              <a:gd name="T12" fmla="*/ 3995 w 4960"/>
              <a:gd name="T13" fmla="*/ 2907 h 2908"/>
              <a:gd name="T14" fmla="*/ 3998 w 4960"/>
              <a:gd name="T15" fmla="*/ 2904 h 29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960" h="2908">
                <a:moveTo>
                  <a:pt x="3998" y="2904"/>
                </a:moveTo>
                <a:lnTo>
                  <a:pt x="3998" y="2904"/>
                </a:lnTo>
                <a:cubicBezTo>
                  <a:pt x="4596" y="2089"/>
                  <a:pt x="4951" y="1086"/>
                  <a:pt x="4959" y="0"/>
                </a:cubicBezTo>
                <a:lnTo>
                  <a:pt x="9" y="0"/>
                </a:lnTo>
                <a:lnTo>
                  <a:pt x="0" y="6"/>
                </a:lnTo>
                <a:lnTo>
                  <a:pt x="3995" y="2907"/>
                </a:lnTo>
                <a:lnTo>
                  <a:pt x="3995" y="2907"/>
                </a:lnTo>
                <a:cubicBezTo>
                  <a:pt x="3996" y="2906"/>
                  <a:pt x="3997" y="2905"/>
                  <a:pt x="3998" y="2904"/>
                </a:cubicBezTo>
              </a:path>
            </a:pathLst>
          </a:custGeom>
          <a:solidFill>
            <a:srgbClr val="6ACEE3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0" name="Freeform 14">
            <a:extLst>
              <a:ext uri="{FF2B5EF4-FFF2-40B4-BE49-F238E27FC236}">
                <a16:creationId xmlns:a16="http://schemas.microsoft.com/office/drawing/2014/main" id="{3E138098-A4D5-7168-8B36-1A32F03A1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6177" y="3830022"/>
            <a:ext cx="438085" cy="580540"/>
          </a:xfrm>
          <a:custGeom>
            <a:avLst/>
            <a:gdLst>
              <a:gd name="T0" fmla="*/ 1261 w 1262"/>
              <a:gd name="T1" fmla="*/ 1671 h 1672"/>
              <a:gd name="T2" fmla="*/ 1228 w 1262"/>
              <a:gd name="T3" fmla="*/ 967 h 1672"/>
              <a:gd name="T4" fmla="*/ 1015 w 1262"/>
              <a:gd name="T5" fmla="*/ 1121 h 1672"/>
              <a:gd name="T6" fmla="*/ 201 w 1262"/>
              <a:gd name="T7" fmla="*/ 0 h 1672"/>
              <a:gd name="T8" fmla="*/ 0 w 1262"/>
              <a:gd name="T9" fmla="*/ 145 h 1672"/>
              <a:gd name="T10" fmla="*/ 815 w 1262"/>
              <a:gd name="T11" fmla="*/ 1267 h 1672"/>
              <a:gd name="T12" fmla="*/ 603 w 1262"/>
              <a:gd name="T13" fmla="*/ 1421 h 1672"/>
              <a:gd name="T14" fmla="*/ 1261 w 1262"/>
              <a:gd name="T15" fmla="*/ 1671 h 16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62" h="1672">
                <a:moveTo>
                  <a:pt x="1261" y="1671"/>
                </a:moveTo>
                <a:lnTo>
                  <a:pt x="1228" y="967"/>
                </a:lnTo>
                <a:lnTo>
                  <a:pt x="1015" y="1121"/>
                </a:lnTo>
                <a:lnTo>
                  <a:pt x="201" y="0"/>
                </a:lnTo>
                <a:lnTo>
                  <a:pt x="0" y="145"/>
                </a:lnTo>
                <a:lnTo>
                  <a:pt x="815" y="1267"/>
                </a:lnTo>
                <a:lnTo>
                  <a:pt x="603" y="1421"/>
                </a:lnTo>
                <a:lnTo>
                  <a:pt x="1261" y="1671"/>
                </a:lnTo>
              </a:path>
            </a:pathLst>
          </a:custGeom>
          <a:solidFill>
            <a:srgbClr val="61DDA8">
              <a:lumMod val="60000"/>
              <a:lumOff val="40000"/>
            </a:srgbClr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1" name="Freeform 15">
            <a:extLst>
              <a:ext uri="{FF2B5EF4-FFF2-40B4-BE49-F238E27FC236}">
                <a16:creationId xmlns:a16="http://schemas.microsoft.com/office/drawing/2014/main" id="{B00CE12D-E36A-E64D-DC88-31AFAB026C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7699" y="3111625"/>
            <a:ext cx="666318" cy="317075"/>
          </a:xfrm>
          <a:custGeom>
            <a:avLst/>
            <a:gdLst>
              <a:gd name="T0" fmla="*/ 1916 w 1917"/>
              <a:gd name="T1" fmla="*/ 727 h 914"/>
              <a:gd name="T2" fmla="*/ 1475 w 1917"/>
              <a:gd name="T3" fmla="*/ 178 h 914"/>
              <a:gd name="T4" fmla="*/ 1394 w 1917"/>
              <a:gd name="T5" fmla="*/ 428 h 914"/>
              <a:gd name="T6" fmla="*/ 76 w 1917"/>
              <a:gd name="T7" fmla="*/ 0 h 914"/>
              <a:gd name="T8" fmla="*/ 0 w 1917"/>
              <a:gd name="T9" fmla="*/ 234 h 914"/>
              <a:gd name="T10" fmla="*/ 1318 w 1917"/>
              <a:gd name="T11" fmla="*/ 663 h 914"/>
              <a:gd name="T12" fmla="*/ 1237 w 1917"/>
              <a:gd name="T13" fmla="*/ 913 h 914"/>
              <a:gd name="T14" fmla="*/ 1916 w 1917"/>
              <a:gd name="T15" fmla="*/ 727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917" h="914">
                <a:moveTo>
                  <a:pt x="1916" y="727"/>
                </a:moveTo>
                <a:lnTo>
                  <a:pt x="1475" y="178"/>
                </a:lnTo>
                <a:lnTo>
                  <a:pt x="1394" y="428"/>
                </a:lnTo>
                <a:lnTo>
                  <a:pt x="76" y="0"/>
                </a:lnTo>
                <a:lnTo>
                  <a:pt x="0" y="234"/>
                </a:lnTo>
                <a:lnTo>
                  <a:pt x="1318" y="663"/>
                </a:lnTo>
                <a:lnTo>
                  <a:pt x="1237" y="913"/>
                </a:lnTo>
                <a:lnTo>
                  <a:pt x="1916" y="727"/>
                </a:lnTo>
              </a:path>
            </a:pathLst>
          </a:custGeom>
          <a:solidFill>
            <a:srgbClr val="6ACEE3">
              <a:lumMod val="60000"/>
              <a:lumOff val="40000"/>
            </a:srgbClr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2" name="Freeform 16">
            <a:extLst>
              <a:ext uri="{FF2B5EF4-FFF2-40B4-BE49-F238E27FC236}">
                <a16:creationId xmlns:a16="http://schemas.microsoft.com/office/drawing/2014/main" id="{8033F940-FD76-72EC-3C62-10878D93E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9579" y="2027135"/>
            <a:ext cx="666318" cy="317075"/>
          </a:xfrm>
          <a:custGeom>
            <a:avLst/>
            <a:gdLst>
              <a:gd name="T0" fmla="*/ 1916 w 1917"/>
              <a:gd name="T1" fmla="*/ 185 h 914"/>
              <a:gd name="T2" fmla="*/ 1238 w 1917"/>
              <a:gd name="T3" fmla="*/ 0 h 914"/>
              <a:gd name="T4" fmla="*/ 1318 w 1917"/>
              <a:gd name="T5" fmla="*/ 250 h 914"/>
              <a:gd name="T6" fmla="*/ 0 w 1917"/>
              <a:gd name="T7" fmla="*/ 679 h 914"/>
              <a:gd name="T8" fmla="*/ 77 w 1917"/>
              <a:gd name="T9" fmla="*/ 913 h 914"/>
              <a:gd name="T10" fmla="*/ 1394 w 1917"/>
              <a:gd name="T11" fmla="*/ 485 h 914"/>
              <a:gd name="T12" fmla="*/ 1475 w 1917"/>
              <a:gd name="T13" fmla="*/ 735 h 914"/>
              <a:gd name="T14" fmla="*/ 1916 w 1917"/>
              <a:gd name="T15" fmla="*/ 185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917" h="914">
                <a:moveTo>
                  <a:pt x="1916" y="185"/>
                </a:moveTo>
                <a:lnTo>
                  <a:pt x="1238" y="0"/>
                </a:lnTo>
                <a:lnTo>
                  <a:pt x="1318" y="250"/>
                </a:lnTo>
                <a:lnTo>
                  <a:pt x="0" y="679"/>
                </a:lnTo>
                <a:lnTo>
                  <a:pt x="77" y="913"/>
                </a:lnTo>
                <a:lnTo>
                  <a:pt x="1394" y="485"/>
                </a:lnTo>
                <a:lnTo>
                  <a:pt x="1475" y="735"/>
                </a:lnTo>
                <a:lnTo>
                  <a:pt x="1916" y="185"/>
                </a:lnTo>
              </a:path>
            </a:pathLst>
          </a:custGeom>
          <a:solidFill>
            <a:srgbClr val="2DADE0">
              <a:lumMod val="60000"/>
              <a:lumOff val="40000"/>
            </a:srgbClr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3" name="Freeform 18">
            <a:extLst>
              <a:ext uri="{FF2B5EF4-FFF2-40B4-BE49-F238E27FC236}">
                <a16:creationId xmlns:a16="http://schemas.microsoft.com/office/drawing/2014/main" id="{CBFF4BDA-D1C7-34DE-5813-738AC7504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7371" y="1385325"/>
            <a:ext cx="2813854" cy="2816918"/>
          </a:xfrm>
          <a:custGeom>
            <a:avLst/>
            <a:gdLst>
              <a:gd name="T0" fmla="*/ 8099 w 8100"/>
              <a:gd name="T1" fmla="*/ 4054 h 8110"/>
              <a:gd name="T2" fmla="*/ 8099 w 8100"/>
              <a:gd name="T3" fmla="*/ 4054 h 8110"/>
              <a:gd name="T4" fmla="*/ 4053 w 8100"/>
              <a:gd name="T5" fmla="*/ 0 h 8110"/>
              <a:gd name="T6" fmla="*/ 4053 w 8100"/>
              <a:gd name="T7" fmla="*/ 0 h 8110"/>
              <a:gd name="T8" fmla="*/ 4053 w 8100"/>
              <a:gd name="T9" fmla="*/ 0 h 8110"/>
              <a:gd name="T10" fmla="*/ 4050 w 8100"/>
              <a:gd name="T11" fmla="*/ 0 h 8110"/>
              <a:gd name="T12" fmla="*/ 4050 w 8100"/>
              <a:gd name="T13" fmla="*/ 0 h 8110"/>
              <a:gd name="T14" fmla="*/ 4046 w 8100"/>
              <a:gd name="T15" fmla="*/ 0 h 8110"/>
              <a:gd name="T16" fmla="*/ 4046 w 8100"/>
              <a:gd name="T17" fmla="*/ 0 h 8110"/>
              <a:gd name="T18" fmla="*/ 4046 w 8100"/>
              <a:gd name="T19" fmla="*/ 0 h 8110"/>
              <a:gd name="T20" fmla="*/ 0 w 8100"/>
              <a:gd name="T21" fmla="*/ 4054 h 8110"/>
              <a:gd name="T22" fmla="*/ 0 w 8100"/>
              <a:gd name="T23" fmla="*/ 4054 h 8110"/>
              <a:gd name="T24" fmla="*/ 4046 w 8100"/>
              <a:gd name="T25" fmla="*/ 8109 h 8110"/>
              <a:gd name="T26" fmla="*/ 4046 w 8100"/>
              <a:gd name="T27" fmla="*/ 8109 h 8110"/>
              <a:gd name="T28" fmla="*/ 4046 w 8100"/>
              <a:gd name="T29" fmla="*/ 8109 h 8110"/>
              <a:gd name="T30" fmla="*/ 4050 w 8100"/>
              <a:gd name="T31" fmla="*/ 8109 h 8110"/>
              <a:gd name="T32" fmla="*/ 4050 w 8100"/>
              <a:gd name="T33" fmla="*/ 8109 h 8110"/>
              <a:gd name="T34" fmla="*/ 4053 w 8100"/>
              <a:gd name="T35" fmla="*/ 8109 h 8110"/>
              <a:gd name="T36" fmla="*/ 4053 w 8100"/>
              <a:gd name="T37" fmla="*/ 8109 h 8110"/>
              <a:gd name="T38" fmla="*/ 4053 w 8100"/>
              <a:gd name="T39" fmla="*/ 8109 h 8110"/>
              <a:gd name="T40" fmla="*/ 8099 w 8100"/>
              <a:gd name="T41" fmla="*/ 4054 h 8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8100" h="8110">
                <a:moveTo>
                  <a:pt x="8099" y="4054"/>
                </a:moveTo>
                <a:lnTo>
                  <a:pt x="8099" y="4054"/>
                </a:lnTo>
                <a:cubicBezTo>
                  <a:pt x="8099" y="1818"/>
                  <a:pt x="6289" y="4"/>
                  <a:pt x="4053" y="0"/>
                </a:cubicBezTo>
                <a:lnTo>
                  <a:pt x="4053" y="0"/>
                </a:lnTo>
                <a:lnTo>
                  <a:pt x="4053" y="0"/>
                </a:lnTo>
                <a:cubicBezTo>
                  <a:pt x="4052" y="0"/>
                  <a:pt x="4051" y="0"/>
                  <a:pt x="4050" y="0"/>
                </a:cubicBezTo>
                <a:lnTo>
                  <a:pt x="4050" y="0"/>
                </a:lnTo>
                <a:cubicBezTo>
                  <a:pt x="4049" y="0"/>
                  <a:pt x="4047" y="0"/>
                  <a:pt x="4046" y="0"/>
                </a:cubicBezTo>
                <a:lnTo>
                  <a:pt x="4046" y="0"/>
                </a:lnTo>
                <a:lnTo>
                  <a:pt x="4046" y="0"/>
                </a:lnTo>
                <a:cubicBezTo>
                  <a:pt x="1811" y="4"/>
                  <a:pt x="0" y="1818"/>
                  <a:pt x="0" y="4054"/>
                </a:cubicBezTo>
                <a:lnTo>
                  <a:pt x="0" y="4054"/>
                </a:lnTo>
                <a:cubicBezTo>
                  <a:pt x="0" y="6290"/>
                  <a:pt x="1811" y="8104"/>
                  <a:pt x="4046" y="8109"/>
                </a:cubicBezTo>
                <a:lnTo>
                  <a:pt x="4046" y="8109"/>
                </a:lnTo>
                <a:lnTo>
                  <a:pt x="4046" y="8109"/>
                </a:lnTo>
                <a:cubicBezTo>
                  <a:pt x="4047" y="8109"/>
                  <a:pt x="4049" y="8109"/>
                  <a:pt x="4050" y="8109"/>
                </a:cubicBezTo>
                <a:lnTo>
                  <a:pt x="4050" y="8109"/>
                </a:lnTo>
                <a:cubicBezTo>
                  <a:pt x="4051" y="8109"/>
                  <a:pt x="4052" y="8109"/>
                  <a:pt x="4053" y="8109"/>
                </a:cubicBezTo>
                <a:lnTo>
                  <a:pt x="4053" y="8109"/>
                </a:lnTo>
                <a:lnTo>
                  <a:pt x="4053" y="8109"/>
                </a:lnTo>
                <a:cubicBezTo>
                  <a:pt x="6289" y="8104"/>
                  <a:pt x="8099" y="6290"/>
                  <a:pt x="8099" y="4054"/>
                </a:cubicBezTo>
              </a:path>
            </a:pathLst>
          </a:custGeom>
          <a:solidFill>
            <a:srgbClr val="FFFFFF">
              <a:lumMod val="95000"/>
            </a:srgbClr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217" eaLnBrk="1" fontAlgn="auto" latinLnBrk="0" hangingPunct="1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8204C"/>
                </a:solidFill>
                <a:effectLst/>
                <a:uLnTx/>
                <a:uFillTx/>
                <a:latin typeface="Poppins SemiBold" pitchFamily="2" charset="77"/>
                <a:ea typeface="League Spartan" charset="0"/>
                <a:cs typeface="Poppins SemiBold" pitchFamily="2" charset="77"/>
              </a:rPr>
              <a:t>Additional </a:t>
            </a:r>
          </a:p>
          <a:p>
            <a:pPr marL="0" marR="0" lvl="0" indent="0" algn="ctr" defTabSz="914217" eaLnBrk="1" fontAlgn="auto" latinLnBrk="0" hangingPunct="1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8204C"/>
                </a:solidFill>
                <a:effectLst/>
                <a:uLnTx/>
                <a:uFillTx/>
                <a:latin typeface="Poppins SemiBold" pitchFamily="2" charset="77"/>
                <a:ea typeface="League Spartan" charset="0"/>
                <a:cs typeface="Poppins SemiBold" pitchFamily="2" charset="77"/>
              </a:rPr>
              <a:t>KPIs</a:t>
            </a:r>
          </a:p>
        </p:txBody>
      </p:sp>
      <p:sp>
        <p:nvSpPr>
          <p:cNvPr id="34" name="Freeform 6">
            <a:extLst>
              <a:ext uri="{FF2B5EF4-FFF2-40B4-BE49-F238E27FC236}">
                <a16:creationId xmlns:a16="http://schemas.microsoft.com/office/drawing/2014/main" id="{445EC7BB-4B16-B044-C508-15FD75046D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9989" y="4271171"/>
            <a:ext cx="893020" cy="893020"/>
          </a:xfrm>
          <a:custGeom>
            <a:avLst/>
            <a:gdLst>
              <a:gd name="T0" fmla="*/ 2570 w 2571"/>
              <a:gd name="T1" fmla="*/ 1286 h 2572"/>
              <a:gd name="T2" fmla="*/ 2570 w 2571"/>
              <a:gd name="T3" fmla="*/ 1286 h 2572"/>
              <a:gd name="T4" fmla="*/ 1285 w 2571"/>
              <a:gd name="T5" fmla="*/ 2571 h 2572"/>
              <a:gd name="T6" fmla="*/ 1285 w 2571"/>
              <a:gd name="T7" fmla="*/ 2571 h 2572"/>
              <a:gd name="T8" fmla="*/ 0 w 2571"/>
              <a:gd name="T9" fmla="*/ 1286 h 2572"/>
              <a:gd name="T10" fmla="*/ 0 w 2571"/>
              <a:gd name="T11" fmla="*/ 1286 h 2572"/>
              <a:gd name="T12" fmla="*/ 1285 w 2571"/>
              <a:gd name="T13" fmla="*/ 0 h 2572"/>
              <a:gd name="T14" fmla="*/ 1285 w 2571"/>
              <a:gd name="T15" fmla="*/ 0 h 2572"/>
              <a:gd name="T16" fmla="*/ 2570 w 2571"/>
              <a:gd name="T17" fmla="*/ 1286 h 2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71" h="2572">
                <a:moveTo>
                  <a:pt x="2570" y="1286"/>
                </a:moveTo>
                <a:lnTo>
                  <a:pt x="2570" y="1286"/>
                </a:lnTo>
                <a:cubicBezTo>
                  <a:pt x="2570" y="1996"/>
                  <a:pt x="1996" y="2571"/>
                  <a:pt x="1285" y="2571"/>
                </a:cubicBezTo>
                <a:lnTo>
                  <a:pt x="1285" y="2571"/>
                </a:lnTo>
                <a:cubicBezTo>
                  <a:pt x="575" y="2571"/>
                  <a:pt x="0" y="1996"/>
                  <a:pt x="0" y="1286"/>
                </a:cubicBezTo>
                <a:lnTo>
                  <a:pt x="0" y="1286"/>
                </a:lnTo>
                <a:cubicBezTo>
                  <a:pt x="0" y="576"/>
                  <a:pt x="575" y="0"/>
                  <a:pt x="1285" y="0"/>
                </a:cubicBezTo>
                <a:lnTo>
                  <a:pt x="1285" y="0"/>
                </a:lnTo>
                <a:cubicBezTo>
                  <a:pt x="1996" y="0"/>
                  <a:pt x="2570" y="576"/>
                  <a:pt x="2570" y="1286"/>
                </a:cubicBezTo>
              </a:path>
            </a:pathLst>
          </a:custGeom>
          <a:solidFill>
            <a:srgbClr val="61DDA8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5" name="Freeform 7">
            <a:extLst>
              <a:ext uri="{FF2B5EF4-FFF2-40B4-BE49-F238E27FC236}">
                <a16:creationId xmlns:a16="http://schemas.microsoft.com/office/drawing/2014/main" id="{E0C32C4E-0CF2-0E0C-50C2-96BCDF165B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5733" y="4156289"/>
            <a:ext cx="997179" cy="1136570"/>
          </a:xfrm>
          <a:custGeom>
            <a:avLst/>
            <a:gdLst>
              <a:gd name="T0" fmla="*/ 2870 w 2871"/>
              <a:gd name="T1" fmla="*/ 1596 h 3273"/>
              <a:gd name="T2" fmla="*/ 2513 w 2871"/>
              <a:gd name="T3" fmla="*/ 1393 h 3273"/>
              <a:gd name="T4" fmla="*/ 2513 w 2871"/>
              <a:gd name="T5" fmla="*/ 1566 h 3273"/>
              <a:gd name="T6" fmla="*/ 1634 w 2871"/>
              <a:gd name="T7" fmla="*/ 1566 h 3273"/>
              <a:gd name="T8" fmla="*/ 1634 w 2871"/>
              <a:gd name="T9" fmla="*/ 1566 h 3273"/>
              <a:gd name="T10" fmla="*/ 0 w 2871"/>
              <a:gd name="T11" fmla="*/ 0 h 3273"/>
              <a:gd name="T12" fmla="*/ 0 w 2871"/>
              <a:gd name="T13" fmla="*/ 51 h 3273"/>
              <a:gd name="T14" fmla="*/ 0 w 2871"/>
              <a:gd name="T15" fmla="*/ 51 h 3273"/>
              <a:gd name="T16" fmla="*/ 1585 w 2871"/>
              <a:gd name="T17" fmla="*/ 1636 h 3273"/>
              <a:gd name="T18" fmla="*/ 1585 w 2871"/>
              <a:gd name="T19" fmla="*/ 1636 h 3273"/>
              <a:gd name="T20" fmla="*/ 0 w 2871"/>
              <a:gd name="T21" fmla="*/ 3221 h 3273"/>
              <a:gd name="T22" fmla="*/ 0 w 2871"/>
              <a:gd name="T23" fmla="*/ 3272 h 3273"/>
              <a:gd name="T24" fmla="*/ 0 w 2871"/>
              <a:gd name="T25" fmla="*/ 3272 h 3273"/>
              <a:gd name="T26" fmla="*/ 1635 w 2871"/>
              <a:gd name="T27" fmla="*/ 1636 h 3273"/>
              <a:gd name="T28" fmla="*/ 1635 w 2871"/>
              <a:gd name="T29" fmla="*/ 1636 h 3273"/>
              <a:gd name="T30" fmla="*/ 1635 w 2871"/>
              <a:gd name="T31" fmla="*/ 1617 h 3273"/>
              <a:gd name="T32" fmla="*/ 2513 w 2871"/>
              <a:gd name="T33" fmla="*/ 1617 h 3273"/>
              <a:gd name="T34" fmla="*/ 2513 w 2871"/>
              <a:gd name="T35" fmla="*/ 1800 h 3273"/>
              <a:gd name="T36" fmla="*/ 2870 w 2871"/>
              <a:gd name="T37" fmla="*/ 1596 h 32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871" h="3273">
                <a:moveTo>
                  <a:pt x="2870" y="1596"/>
                </a:moveTo>
                <a:lnTo>
                  <a:pt x="2513" y="1393"/>
                </a:lnTo>
                <a:lnTo>
                  <a:pt x="2513" y="1566"/>
                </a:lnTo>
                <a:lnTo>
                  <a:pt x="1634" y="1566"/>
                </a:lnTo>
                <a:lnTo>
                  <a:pt x="1634" y="1566"/>
                </a:lnTo>
                <a:cubicBezTo>
                  <a:pt x="1597" y="697"/>
                  <a:pt x="878" y="0"/>
                  <a:pt x="0" y="0"/>
                </a:cubicBezTo>
                <a:lnTo>
                  <a:pt x="0" y="51"/>
                </a:lnTo>
                <a:lnTo>
                  <a:pt x="0" y="51"/>
                </a:lnTo>
                <a:cubicBezTo>
                  <a:pt x="874" y="51"/>
                  <a:pt x="1585" y="762"/>
                  <a:pt x="1585" y="1636"/>
                </a:cubicBezTo>
                <a:lnTo>
                  <a:pt x="1585" y="1636"/>
                </a:lnTo>
                <a:cubicBezTo>
                  <a:pt x="1585" y="2510"/>
                  <a:pt x="874" y="3221"/>
                  <a:pt x="0" y="3221"/>
                </a:cubicBezTo>
                <a:lnTo>
                  <a:pt x="0" y="3272"/>
                </a:lnTo>
                <a:lnTo>
                  <a:pt x="0" y="3272"/>
                </a:lnTo>
                <a:cubicBezTo>
                  <a:pt x="902" y="3272"/>
                  <a:pt x="1635" y="2538"/>
                  <a:pt x="1635" y="1636"/>
                </a:cubicBezTo>
                <a:lnTo>
                  <a:pt x="1635" y="1636"/>
                </a:lnTo>
                <a:cubicBezTo>
                  <a:pt x="1635" y="1629"/>
                  <a:pt x="1635" y="1623"/>
                  <a:pt x="1635" y="1617"/>
                </a:cubicBezTo>
                <a:lnTo>
                  <a:pt x="2513" y="1617"/>
                </a:lnTo>
                <a:lnTo>
                  <a:pt x="2513" y="1800"/>
                </a:lnTo>
                <a:lnTo>
                  <a:pt x="2870" y="1596"/>
                </a:lnTo>
              </a:path>
            </a:pathLst>
          </a:custGeom>
          <a:solidFill>
            <a:srgbClr val="61DDA8">
              <a:lumMod val="75000"/>
            </a:srgbClr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FB59104-EAAC-319E-2F2F-9FCCC4CEEF6C}"/>
              </a:ext>
            </a:extLst>
          </p:cNvPr>
          <p:cNvSpPr txBox="1"/>
          <p:nvPr/>
        </p:nvSpPr>
        <p:spPr>
          <a:xfrm>
            <a:off x="6142241" y="4227871"/>
            <a:ext cx="3589444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defTabSz="914217"/>
            <a:r>
              <a:rPr lang="en-US" sz="1600" b="1" dirty="0">
                <a:solidFill>
                  <a:srgbClr val="08204C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rPr>
              <a:t>Analize public vs. private impact</a:t>
            </a:r>
          </a:p>
        </p:txBody>
      </p:sp>
      <p:sp>
        <p:nvSpPr>
          <p:cNvPr id="37" name="Subtitle 2">
            <a:extLst>
              <a:ext uri="{FF2B5EF4-FFF2-40B4-BE49-F238E27FC236}">
                <a16:creationId xmlns:a16="http://schemas.microsoft.com/office/drawing/2014/main" id="{6F843E9A-55ED-0C4B-6051-4D50C8F944BF}"/>
              </a:ext>
            </a:extLst>
          </p:cNvPr>
          <p:cNvSpPr txBox="1">
            <a:spLocks/>
          </p:cNvSpPr>
          <p:nvPr/>
        </p:nvSpPr>
        <p:spPr>
          <a:xfrm>
            <a:off x="6142241" y="4604409"/>
            <a:ext cx="3956686" cy="581891"/>
          </a:xfrm>
          <a:prstGeom prst="rect">
            <a:avLst/>
          </a:prstGeom>
        </p:spPr>
        <p:txBody>
          <a:bodyPr vert="horz" wrap="square" lIns="45720" tIns="22860" rIns="45720" bIns="4572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543818">
              <a:lnSpc>
                <a:spcPts val="2050"/>
              </a:lnSpc>
            </a:pPr>
            <a:r>
              <a:rPr lang="en-US" sz="1400" dirty="0">
                <a:solidFill>
                  <a:srgbClr val="AAAAAA">
                    <a:lumMod val="50000"/>
                  </a:srgb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Identify what triggers the growth of each one. Private obtains much more positive results. </a:t>
            </a:r>
          </a:p>
        </p:txBody>
      </p:sp>
      <p:sp>
        <p:nvSpPr>
          <p:cNvPr id="38" name="Freeform 8">
            <a:extLst>
              <a:ext uri="{FF2B5EF4-FFF2-40B4-BE49-F238E27FC236}">
                <a16:creationId xmlns:a16="http://schemas.microsoft.com/office/drawing/2014/main" id="{A2371D45-DC98-33FA-6B69-2C5AA2756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9222" y="3024881"/>
            <a:ext cx="893020" cy="893020"/>
          </a:xfrm>
          <a:custGeom>
            <a:avLst/>
            <a:gdLst>
              <a:gd name="T0" fmla="*/ 2571 w 2572"/>
              <a:gd name="T1" fmla="*/ 1285 h 2572"/>
              <a:gd name="T2" fmla="*/ 2571 w 2572"/>
              <a:gd name="T3" fmla="*/ 1285 h 2572"/>
              <a:gd name="T4" fmla="*/ 1285 w 2572"/>
              <a:gd name="T5" fmla="*/ 2571 h 2572"/>
              <a:gd name="T6" fmla="*/ 1285 w 2572"/>
              <a:gd name="T7" fmla="*/ 2571 h 2572"/>
              <a:gd name="T8" fmla="*/ 0 w 2572"/>
              <a:gd name="T9" fmla="*/ 1285 h 2572"/>
              <a:gd name="T10" fmla="*/ 0 w 2572"/>
              <a:gd name="T11" fmla="*/ 1285 h 2572"/>
              <a:gd name="T12" fmla="*/ 1285 w 2572"/>
              <a:gd name="T13" fmla="*/ 0 h 2572"/>
              <a:gd name="T14" fmla="*/ 1285 w 2572"/>
              <a:gd name="T15" fmla="*/ 0 h 2572"/>
              <a:gd name="T16" fmla="*/ 2571 w 2572"/>
              <a:gd name="T17" fmla="*/ 1285 h 2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72" h="2572">
                <a:moveTo>
                  <a:pt x="2571" y="1285"/>
                </a:moveTo>
                <a:lnTo>
                  <a:pt x="2571" y="1285"/>
                </a:lnTo>
                <a:cubicBezTo>
                  <a:pt x="2571" y="1995"/>
                  <a:pt x="1995" y="2571"/>
                  <a:pt x="1285" y="2571"/>
                </a:cubicBezTo>
                <a:lnTo>
                  <a:pt x="1285" y="2571"/>
                </a:lnTo>
                <a:cubicBezTo>
                  <a:pt x="575" y="2571"/>
                  <a:pt x="0" y="1995"/>
                  <a:pt x="0" y="1285"/>
                </a:cubicBezTo>
                <a:lnTo>
                  <a:pt x="0" y="1285"/>
                </a:lnTo>
                <a:cubicBezTo>
                  <a:pt x="0" y="575"/>
                  <a:pt x="575" y="0"/>
                  <a:pt x="1285" y="0"/>
                </a:cubicBezTo>
                <a:lnTo>
                  <a:pt x="1285" y="0"/>
                </a:lnTo>
                <a:cubicBezTo>
                  <a:pt x="1995" y="0"/>
                  <a:pt x="2571" y="575"/>
                  <a:pt x="2571" y="1285"/>
                </a:cubicBezTo>
              </a:path>
            </a:pathLst>
          </a:custGeom>
          <a:solidFill>
            <a:srgbClr val="6ACEE3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79E2160D-DFB7-0F8D-8AD4-9D91C8B20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4156" y="2914594"/>
            <a:ext cx="997179" cy="1136570"/>
          </a:xfrm>
          <a:custGeom>
            <a:avLst/>
            <a:gdLst>
              <a:gd name="T0" fmla="*/ 2871 w 2872"/>
              <a:gd name="T1" fmla="*/ 1596 h 3273"/>
              <a:gd name="T2" fmla="*/ 2514 w 2872"/>
              <a:gd name="T3" fmla="*/ 1393 h 3273"/>
              <a:gd name="T4" fmla="*/ 2514 w 2872"/>
              <a:gd name="T5" fmla="*/ 1567 h 3273"/>
              <a:gd name="T6" fmla="*/ 1634 w 2872"/>
              <a:gd name="T7" fmla="*/ 1567 h 3273"/>
              <a:gd name="T8" fmla="*/ 1634 w 2872"/>
              <a:gd name="T9" fmla="*/ 1567 h 3273"/>
              <a:gd name="T10" fmla="*/ 0 w 2872"/>
              <a:gd name="T11" fmla="*/ 0 h 3273"/>
              <a:gd name="T12" fmla="*/ 0 w 2872"/>
              <a:gd name="T13" fmla="*/ 51 h 3273"/>
              <a:gd name="T14" fmla="*/ 0 w 2872"/>
              <a:gd name="T15" fmla="*/ 51 h 3273"/>
              <a:gd name="T16" fmla="*/ 1586 w 2872"/>
              <a:gd name="T17" fmla="*/ 1636 h 3273"/>
              <a:gd name="T18" fmla="*/ 1586 w 2872"/>
              <a:gd name="T19" fmla="*/ 1636 h 3273"/>
              <a:gd name="T20" fmla="*/ 0 w 2872"/>
              <a:gd name="T21" fmla="*/ 3222 h 3273"/>
              <a:gd name="T22" fmla="*/ 0 w 2872"/>
              <a:gd name="T23" fmla="*/ 3272 h 3273"/>
              <a:gd name="T24" fmla="*/ 0 w 2872"/>
              <a:gd name="T25" fmla="*/ 3272 h 3273"/>
              <a:gd name="T26" fmla="*/ 1636 w 2872"/>
              <a:gd name="T27" fmla="*/ 1636 h 3273"/>
              <a:gd name="T28" fmla="*/ 1636 w 2872"/>
              <a:gd name="T29" fmla="*/ 1636 h 3273"/>
              <a:gd name="T30" fmla="*/ 1635 w 2872"/>
              <a:gd name="T31" fmla="*/ 1616 h 3273"/>
              <a:gd name="T32" fmla="*/ 2514 w 2872"/>
              <a:gd name="T33" fmla="*/ 1616 h 3273"/>
              <a:gd name="T34" fmla="*/ 2514 w 2872"/>
              <a:gd name="T35" fmla="*/ 1800 h 3273"/>
              <a:gd name="T36" fmla="*/ 2871 w 2872"/>
              <a:gd name="T37" fmla="*/ 1596 h 32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872" h="3273">
                <a:moveTo>
                  <a:pt x="2871" y="1596"/>
                </a:moveTo>
                <a:lnTo>
                  <a:pt x="2514" y="1393"/>
                </a:lnTo>
                <a:lnTo>
                  <a:pt x="2514" y="1567"/>
                </a:lnTo>
                <a:lnTo>
                  <a:pt x="1634" y="1567"/>
                </a:lnTo>
                <a:lnTo>
                  <a:pt x="1634" y="1567"/>
                </a:lnTo>
                <a:cubicBezTo>
                  <a:pt x="1597" y="697"/>
                  <a:pt x="878" y="0"/>
                  <a:pt x="0" y="0"/>
                </a:cubicBezTo>
                <a:lnTo>
                  <a:pt x="0" y="51"/>
                </a:lnTo>
                <a:lnTo>
                  <a:pt x="0" y="51"/>
                </a:lnTo>
                <a:cubicBezTo>
                  <a:pt x="874" y="51"/>
                  <a:pt x="1586" y="762"/>
                  <a:pt x="1586" y="1636"/>
                </a:cubicBezTo>
                <a:lnTo>
                  <a:pt x="1586" y="1636"/>
                </a:lnTo>
                <a:cubicBezTo>
                  <a:pt x="1586" y="2511"/>
                  <a:pt x="874" y="3222"/>
                  <a:pt x="0" y="3222"/>
                </a:cubicBezTo>
                <a:lnTo>
                  <a:pt x="0" y="3272"/>
                </a:lnTo>
                <a:lnTo>
                  <a:pt x="0" y="3272"/>
                </a:lnTo>
                <a:cubicBezTo>
                  <a:pt x="902" y="3272"/>
                  <a:pt x="1636" y="2538"/>
                  <a:pt x="1636" y="1636"/>
                </a:cubicBezTo>
                <a:lnTo>
                  <a:pt x="1636" y="1636"/>
                </a:lnTo>
                <a:cubicBezTo>
                  <a:pt x="1636" y="1630"/>
                  <a:pt x="1635" y="1623"/>
                  <a:pt x="1635" y="1616"/>
                </a:cubicBezTo>
                <a:lnTo>
                  <a:pt x="2514" y="1616"/>
                </a:lnTo>
                <a:lnTo>
                  <a:pt x="2514" y="1800"/>
                </a:lnTo>
                <a:lnTo>
                  <a:pt x="2871" y="1596"/>
                </a:lnTo>
              </a:path>
            </a:pathLst>
          </a:custGeom>
          <a:solidFill>
            <a:srgbClr val="6ACEE3">
              <a:lumMod val="75000"/>
            </a:srgbClr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4827BEF-F363-6ACD-A988-A09B8A649228}"/>
              </a:ext>
            </a:extLst>
          </p:cNvPr>
          <p:cNvSpPr txBox="1"/>
          <p:nvPr/>
        </p:nvSpPr>
        <p:spPr>
          <a:xfrm>
            <a:off x="7017575" y="2986176"/>
            <a:ext cx="2488182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defTabSz="914217"/>
            <a:r>
              <a:rPr lang="en-US" sz="1600" b="1" dirty="0">
                <a:solidFill>
                  <a:srgbClr val="08204C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rPr>
              <a:t>Post-Mission Drop-off</a:t>
            </a:r>
          </a:p>
        </p:txBody>
      </p:sp>
      <p:sp>
        <p:nvSpPr>
          <p:cNvPr id="41" name="Subtitle 2">
            <a:extLst>
              <a:ext uri="{FF2B5EF4-FFF2-40B4-BE49-F238E27FC236}">
                <a16:creationId xmlns:a16="http://schemas.microsoft.com/office/drawing/2014/main" id="{1028F4FE-42B2-3115-4730-2BAEF52FE57F}"/>
              </a:ext>
            </a:extLst>
          </p:cNvPr>
          <p:cNvSpPr txBox="1">
            <a:spLocks/>
          </p:cNvSpPr>
          <p:nvPr/>
        </p:nvSpPr>
        <p:spPr>
          <a:xfrm>
            <a:off x="7017574" y="3362714"/>
            <a:ext cx="3956686" cy="581891"/>
          </a:xfrm>
          <a:prstGeom prst="rect">
            <a:avLst/>
          </a:prstGeom>
        </p:spPr>
        <p:txBody>
          <a:bodyPr vert="horz" wrap="square" lIns="45720" tIns="22860" rIns="45720" bIns="4572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543818">
              <a:lnSpc>
                <a:spcPts val="2050"/>
              </a:lnSpc>
            </a:pPr>
            <a:r>
              <a:rPr lang="en-US" sz="1400" dirty="0">
                <a:solidFill>
                  <a:srgbClr val="AAAAAA">
                    <a:lumMod val="50000"/>
                  </a:srgb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Measure retention after specific sports events like basketball or relevant soccer cups .</a:t>
            </a:r>
          </a:p>
        </p:txBody>
      </p:sp>
      <p:sp>
        <p:nvSpPr>
          <p:cNvPr id="42" name="Freeform 10">
            <a:extLst>
              <a:ext uri="{FF2B5EF4-FFF2-40B4-BE49-F238E27FC236}">
                <a16:creationId xmlns:a16="http://schemas.microsoft.com/office/drawing/2014/main" id="{C9370C20-30D4-BA5C-ACC5-65E6D415FA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9222" y="1671476"/>
            <a:ext cx="893020" cy="893019"/>
          </a:xfrm>
          <a:custGeom>
            <a:avLst/>
            <a:gdLst>
              <a:gd name="T0" fmla="*/ 2571 w 2572"/>
              <a:gd name="T1" fmla="*/ 1285 h 2572"/>
              <a:gd name="T2" fmla="*/ 2571 w 2572"/>
              <a:gd name="T3" fmla="*/ 1285 h 2572"/>
              <a:gd name="T4" fmla="*/ 1285 w 2572"/>
              <a:gd name="T5" fmla="*/ 2571 h 2572"/>
              <a:gd name="T6" fmla="*/ 1285 w 2572"/>
              <a:gd name="T7" fmla="*/ 2571 h 2572"/>
              <a:gd name="T8" fmla="*/ 0 w 2572"/>
              <a:gd name="T9" fmla="*/ 1285 h 2572"/>
              <a:gd name="T10" fmla="*/ 0 w 2572"/>
              <a:gd name="T11" fmla="*/ 1285 h 2572"/>
              <a:gd name="T12" fmla="*/ 1285 w 2572"/>
              <a:gd name="T13" fmla="*/ 0 h 2572"/>
              <a:gd name="T14" fmla="*/ 1285 w 2572"/>
              <a:gd name="T15" fmla="*/ 0 h 2572"/>
              <a:gd name="T16" fmla="*/ 2571 w 2572"/>
              <a:gd name="T17" fmla="*/ 1285 h 2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72" h="2572">
                <a:moveTo>
                  <a:pt x="2571" y="1285"/>
                </a:moveTo>
                <a:lnTo>
                  <a:pt x="2571" y="1285"/>
                </a:lnTo>
                <a:cubicBezTo>
                  <a:pt x="2571" y="1995"/>
                  <a:pt x="1995" y="2571"/>
                  <a:pt x="1285" y="2571"/>
                </a:cubicBezTo>
                <a:lnTo>
                  <a:pt x="1285" y="2571"/>
                </a:lnTo>
                <a:cubicBezTo>
                  <a:pt x="575" y="2571"/>
                  <a:pt x="0" y="1995"/>
                  <a:pt x="0" y="1285"/>
                </a:cubicBezTo>
                <a:lnTo>
                  <a:pt x="0" y="1285"/>
                </a:lnTo>
                <a:cubicBezTo>
                  <a:pt x="0" y="576"/>
                  <a:pt x="575" y="0"/>
                  <a:pt x="1285" y="0"/>
                </a:cubicBezTo>
                <a:lnTo>
                  <a:pt x="1285" y="0"/>
                </a:lnTo>
                <a:cubicBezTo>
                  <a:pt x="1995" y="0"/>
                  <a:pt x="2571" y="576"/>
                  <a:pt x="2571" y="1285"/>
                </a:cubicBezTo>
              </a:path>
            </a:pathLst>
          </a:custGeom>
          <a:solidFill>
            <a:srgbClr val="2DADE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3" name="Freeform 11">
            <a:extLst>
              <a:ext uri="{FF2B5EF4-FFF2-40B4-BE49-F238E27FC236}">
                <a16:creationId xmlns:a16="http://schemas.microsoft.com/office/drawing/2014/main" id="{38930331-9F81-7765-0AD2-E8D0158E90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4156" y="1541276"/>
            <a:ext cx="997179" cy="1136570"/>
          </a:xfrm>
          <a:custGeom>
            <a:avLst/>
            <a:gdLst>
              <a:gd name="T0" fmla="*/ 2871 w 2872"/>
              <a:gd name="T1" fmla="*/ 1596 h 3272"/>
              <a:gd name="T2" fmla="*/ 2514 w 2872"/>
              <a:gd name="T3" fmla="*/ 1393 h 3272"/>
              <a:gd name="T4" fmla="*/ 2514 w 2872"/>
              <a:gd name="T5" fmla="*/ 1566 h 3272"/>
              <a:gd name="T6" fmla="*/ 1634 w 2872"/>
              <a:gd name="T7" fmla="*/ 1566 h 3272"/>
              <a:gd name="T8" fmla="*/ 1634 w 2872"/>
              <a:gd name="T9" fmla="*/ 1566 h 3272"/>
              <a:gd name="T10" fmla="*/ 0 w 2872"/>
              <a:gd name="T11" fmla="*/ 0 h 3272"/>
              <a:gd name="T12" fmla="*/ 0 w 2872"/>
              <a:gd name="T13" fmla="*/ 50 h 3272"/>
              <a:gd name="T14" fmla="*/ 0 w 2872"/>
              <a:gd name="T15" fmla="*/ 50 h 3272"/>
              <a:gd name="T16" fmla="*/ 1586 w 2872"/>
              <a:gd name="T17" fmla="*/ 1636 h 3272"/>
              <a:gd name="T18" fmla="*/ 1586 w 2872"/>
              <a:gd name="T19" fmla="*/ 1636 h 3272"/>
              <a:gd name="T20" fmla="*/ 0 w 2872"/>
              <a:gd name="T21" fmla="*/ 3221 h 3272"/>
              <a:gd name="T22" fmla="*/ 0 w 2872"/>
              <a:gd name="T23" fmla="*/ 3271 h 3272"/>
              <a:gd name="T24" fmla="*/ 0 w 2872"/>
              <a:gd name="T25" fmla="*/ 3271 h 3272"/>
              <a:gd name="T26" fmla="*/ 1636 w 2872"/>
              <a:gd name="T27" fmla="*/ 1636 h 3272"/>
              <a:gd name="T28" fmla="*/ 1636 w 2872"/>
              <a:gd name="T29" fmla="*/ 1636 h 3272"/>
              <a:gd name="T30" fmla="*/ 1635 w 2872"/>
              <a:gd name="T31" fmla="*/ 1616 h 3272"/>
              <a:gd name="T32" fmla="*/ 2514 w 2872"/>
              <a:gd name="T33" fmla="*/ 1616 h 3272"/>
              <a:gd name="T34" fmla="*/ 2514 w 2872"/>
              <a:gd name="T35" fmla="*/ 1800 h 3272"/>
              <a:gd name="T36" fmla="*/ 2871 w 2872"/>
              <a:gd name="T37" fmla="*/ 1596 h 3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872" h="3272">
                <a:moveTo>
                  <a:pt x="2871" y="1596"/>
                </a:moveTo>
                <a:lnTo>
                  <a:pt x="2514" y="1393"/>
                </a:lnTo>
                <a:lnTo>
                  <a:pt x="2514" y="1566"/>
                </a:lnTo>
                <a:lnTo>
                  <a:pt x="1634" y="1566"/>
                </a:lnTo>
                <a:lnTo>
                  <a:pt x="1634" y="1566"/>
                </a:lnTo>
                <a:cubicBezTo>
                  <a:pt x="1597" y="697"/>
                  <a:pt x="878" y="0"/>
                  <a:pt x="0" y="0"/>
                </a:cubicBezTo>
                <a:lnTo>
                  <a:pt x="0" y="50"/>
                </a:lnTo>
                <a:lnTo>
                  <a:pt x="0" y="50"/>
                </a:lnTo>
                <a:cubicBezTo>
                  <a:pt x="874" y="50"/>
                  <a:pt x="1586" y="762"/>
                  <a:pt x="1586" y="1636"/>
                </a:cubicBezTo>
                <a:lnTo>
                  <a:pt x="1586" y="1636"/>
                </a:lnTo>
                <a:cubicBezTo>
                  <a:pt x="1586" y="2510"/>
                  <a:pt x="874" y="3221"/>
                  <a:pt x="0" y="3221"/>
                </a:cubicBezTo>
                <a:lnTo>
                  <a:pt x="0" y="3271"/>
                </a:lnTo>
                <a:lnTo>
                  <a:pt x="0" y="3271"/>
                </a:lnTo>
                <a:cubicBezTo>
                  <a:pt x="902" y="3271"/>
                  <a:pt x="1636" y="2538"/>
                  <a:pt x="1636" y="1636"/>
                </a:cubicBezTo>
                <a:lnTo>
                  <a:pt x="1636" y="1636"/>
                </a:lnTo>
                <a:cubicBezTo>
                  <a:pt x="1636" y="1629"/>
                  <a:pt x="1635" y="1623"/>
                  <a:pt x="1635" y="1616"/>
                </a:cubicBezTo>
                <a:lnTo>
                  <a:pt x="2514" y="1616"/>
                </a:lnTo>
                <a:lnTo>
                  <a:pt x="2514" y="1800"/>
                </a:lnTo>
                <a:lnTo>
                  <a:pt x="2871" y="1596"/>
                </a:lnTo>
              </a:path>
            </a:pathLst>
          </a:custGeom>
          <a:solidFill>
            <a:srgbClr val="2DADE0">
              <a:lumMod val="75000"/>
            </a:srgbClr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7E521F7-7079-4E09-EC03-8120316625A7}"/>
              </a:ext>
            </a:extLst>
          </p:cNvPr>
          <p:cNvSpPr txBox="1"/>
          <p:nvPr/>
        </p:nvSpPr>
        <p:spPr>
          <a:xfrm>
            <a:off x="7017575" y="1612858"/>
            <a:ext cx="2342308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defTabSz="914217"/>
            <a:r>
              <a:rPr lang="en-US" sz="1600" b="1" dirty="0">
                <a:solidFill>
                  <a:srgbClr val="08204C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rPr>
              <a:t>Repeat participation</a:t>
            </a:r>
          </a:p>
        </p:txBody>
      </p:sp>
      <p:sp>
        <p:nvSpPr>
          <p:cNvPr id="45" name="Subtitle 2">
            <a:extLst>
              <a:ext uri="{FF2B5EF4-FFF2-40B4-BE49-F238E27FC236}">
                <a16:creationId xmlns:a16="http://schemas.microsoft.com/office/drawing/2014/main" id="{E123C043-E812-41F5-367E-64A21B5F48D1}"/>
              </a:ext>
            </a:extLst>
          </p:cNvPr>
          <p:cNvSpPr txBox="1">
            <a:spLocks/>
          </p:cNvSpPr>
          <p:nvPr/>
        </p:nvSpPr>
        <p:spPr>
          <a:xfrm>
            <a:off x="7017574" y="1989396"/>
            <a:ext cx="3956686" cy="581891"/>
          </a:xfrm>
          <a:prstGeom prst="rect">
            <a:avLst/>
          </a:prstGeom>
        </p:spPr>
        <p:txBody>
          <a:bodyPr vert="horz" wrap="square" lIns="45720" tIns="22860" rIns="45720" bIns="4572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543818">
              <a:lnSpc>
                <a:spcPts val="2050"/>
              </a:lnSpc>
            </a:pPr>
            <a:r>
              <a:rPr lang="en-US" sz="1400" dirty="0">
                <a:solidFill>
                  <a:srgbClr val="AAAAAA">
                    <a:lumMod val="50000"/>
                  </a:srgb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Players </a:t>
            </a:r>
            <a:r>
              <a:rPr lang="en-US" sz="1400" b="1" dirty="0">
                <a:solidFill>
                  <a:srgbClr val="AAAAAA">
                    <a:lumMod val="50000"/>
                  </a:srgb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opting in</a:t>
            </a:r>
            <a:r>
              <a:rPr lang="en-US" sz="1400" dirty="0">
                <a:solidFill>
                  <a:srgbClr val="AAAAAA">
                    <a:lumMod val="50000"/>
                  </a:srgb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to missions across consecutive weeks.	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688332-C91C-3960-14A7-AAF0266D0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800" y="0"/>
            <a:ext cx="1414462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242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reeform 10">
            <a:extLst>
              <a:ext uri="{FF2B5EF4-FFF2-40B4-BE49-F238E27FC236}">
                <a16:creationId xmlns:a16="http://schemas.microsoft.com/office/drawing/2014/main" id="{2850350A-AACC-10DB-BE25-7E19F728B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645" y="1527633"/>
            <a:ext cx="5875867" cy="49812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defTabSz="914217"/>
            <a:endParaRPr lang="en-US" sz="3266">
              <a:solidFill>
                <a:srgbClr val="AAAAAA"/>
              </a:solidFill>
              <a:latin typeface="Calibri" panose="020F050202020403020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F7FB38-7B0D-394F-9C35-B5D86DADD77B}"/>
              </a:ext>
            </a:extLst>
          </p:cNvPr>
          <p:cNvSpPr txBox="1"/>
          <p:nvPr/>
        </p:nvSpPr>
        <p:spPr>
          <a:xfrm>
            <a:off x="294660" y="246909"/>
            <a:ext cx="4033476" cy="6917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MX"/>
            </a:defPPr>
            <a:lvl1pPr defTabSz="914217">
              <a:lnSpc>
                <a:spcPts val="5000"/>
              </a:lnSpc>
              <a:defRPr sz="2400" b="1">
                <a:solidFill>
                  <a:srgbClr val="08204C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defRPr>
            </a:lvl1pPr>
          </a:lstStyle>
          <a:p>
            <a:r>
              <a:rPr lang="en-US" dirty="0"/>
              <a:t>Success looks like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9F9AEA-2269-4443-8070-9A9BA033B4EF}"/>
              </a:ext>
            </a:extLst>
          </p:cNvPr>
          <p:cNvSpPr txBox="1"/>
          <p:nvPr/>
        </p:nvSpPr>
        <p:spPr>
          <a:xfrm>
            <a:off x="294660" y="841604"/>
            <a:ext cx="4211281" cy="292388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defTabSz="914217"/>
            <a:r>
              <a:rPr lang="en-US" sz="1300" spc="50" dirty="0">
                <a:solidFill>
                  <a:srgbClr val="AAAAAA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Success is defined by a sustained CR close to 40%</a:t>
            </a:r>
          </a:p>
        </p:txBody>
      </p:sp>
      <p:sp>
        <p:nvSpPr>
          <p:cNvPr id="14" name="Freeform 10">
            <a:extLst>
              <a:ext uri="{FF2B5EF4-FFF2-40B4-BE49-F238E27FC236}">
                <a16:creationId xmlns:a16="http://schemas.microsoft.com/office/drawing/2014/main" id="{6DAA9FD3-4787-5C40-A3FC-FF0356A35A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2708" y="223988"/>
            <a:ext cx="5875867" cy="30855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defTabSz="914217"/>
            <a:endParaRPr lang="en-US" sz="3266">
              <a:solidFill>
                <a:srgbClr val="AAAAAA"/>
              </a:solidFill>
              <a:latin typeface="Calibri" panose="020F0502020204030204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E18D9E2-61C8-3742-99FA-8CC049467A47}"/>
              </a:ext>
            </a:extLst>
          </p:cNvPr>
          <p:cNvSpPr txBox="1"/>
          <p:nvPr/>
        </p:nvSpPr>
        <p:spPr>
          <a:xfrm>
            <a:off x="265645" y="1521313"/>
            <a:ext cx="2045753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defTabSz="914217"/>
            <a:r>
              <a:rPr lang="en-US" sz="1600" b="1" dirty="0">
                <a:solidFill>
                  <a:srgbClr val="08204C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rPr>
              <a:t>Weeks 1,2,3,6,7 - 8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AFC52FA9-C439-737F-0AE6-45A8CC0FE7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95478700"/>
              </p:ext>
            </p:extLst>
          </p:nvPr>
        </p:nvGraphicFramePr>
        <p:xfrm>
          <a:off x="6503557" y="438029"/>
          <a:ext cx="3050751" cy="23983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67988F5-72FA-3C8D-AA62-3595115B34EE}"/>
              </a:ext>
            </a:extLst>
          </p:cNvPr>
          <p:cNvSpPr/>
          <p:nvPr/>
        </p:nvSpPr>
        <p:spPr>
          <a:xfrm>
            <a:off x="7901370" y="740547"/>
            <a:ext cx="193486" cy="1995986"/>
          </a:xfrm>
          <a:prstGeom prst="roundRect">
            <a:avLst/>
          </a:prstGeom>
          <a:solidFill>
            <a:schemeClr val="accent6">
              <a:alpha val="2902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0BC16442-53C1-7C0A-D3F6-20A21BFE7108}"/>
              </a:ext>
            </a:extLst>
          </p:cNvPr>
          <p:cNvSpPr txBox="1">
            <a:spLocks/>
          </p:cNvSpPr>
          <p:nvPr/>
        </p:nvSpPr>
        <p:spPr>
          <a:xfrm>
            <a:off x="9860155" y="380864"/>
            <a:ext cx="2005258" cy="2928687"/>
          </a:xfrm>
          <a:prstGeom prst="rect">
            <a:avLst/>
          </a:prstGeom>
        </p:spPr>
        <p:txBody>
          <a:bodyPr vert="horz" wrap="square" lIns="45720" tIns="22860" rIns="45720" bIns="4572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 defTabSz="543818">
              <a:lnSpc>
                <a:spcPts val="2050"/>
              </a:lnSpc>
              <a:buFont typeface="Wingdings" panose="05000000000000000000" pitchFamily="2" charset="2"/>
              <a:buChar char="ü"/>
            </a:pPr>
            <a:r>
              <a:rPr lang="en-US" sz="1250" dirty="0">
                <a:solidFill>
                  <a:srgbClr val="AAAAAA">
                    <a:lumMod val="50000"/>
                  </a:srgb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Active users 29,100</a:t>
            </a:r>
          </a:p>
          <a:p>
            <a:pPr marL="285750" indent="-285750" algn="l" defTabSz="543818">
              <a:lnSpc>
                <a:spcPts val="2050"/>
              </a:lnSpc>
              <a:buFont typeface="Wingdings" panose="05000000000000000000" pitchFamily="2" charset="2"/>
              <a:buChar char="ü"/>
            </a:pPr>
            <a:r>
              <a:rPr lang="en-US" sz="1250" dirty="0">
                <a:solidFill>
                  <a:srgbClr val="AAAAAA">
                    <a:lumMod val="50000"/>
                  </a:srgb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25,432 opt-in</a:t>
            </a:r>
          </a:p>
          <a:p>
            <a:pPr marL="285750" indent="-285750" algn="l" defTabSz="543818">
              <a:lnSpc>
                <a:spcPts val="2050"/>
              </a:lnSpc>
              <a:buFont typeface="Wingdings" panose="05000000000000000000" pitchFamily="2" charset="2"/>
              <a:buChar char="ü"/>
            </a:pPr>
            <a:r>
              <a:rPr lang="en-US" sz="1250" dirty="0">
                <a:solidFill>
                  <a:srgbClr val="AAAAAA">
                    <a:lumMod val="50000"/>
                  </a:srgb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9,765 completions</a:t>
            </a:r>
          </a:p>
          <a:p>
            <a:pPr marL="285750" indent="-285750" algn="l" defTabSz="543818">
              <a:lnSpc>
                <a:spcPts val="2050"/>
              </a:lnSpc>
              <a:buFont typeface="Wingdings" panose="05000000000000000000" pitchFamily="2" charset="2"/>
              <a:buChar char="ü"/>
            </a:pPr>
            <a:r>
              <a:rPr lang="en-US" sz="1250" dirty="0">
                <a:solidFill>
                  <a:srgbClr val="AAAAAA">
                    <a:lumMod val="50000"/>
                  </a:srgbClr>
                </a:solidFill>
                <a:highlight>
                  <a:srgbClr val="FFFF00"/>
                </a:highligh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CR 38%</a:t>
            </a:r>
          </a:p>
          <a:p>
            <a:pPr marL="285750" indent="-285750" algn="l" defTabSz="543818">
              <a:lnSpc>
                <a:spcPts val="2050"/>
              </a:lnSpc>
              <a:buFont typeface="Wingdings" panose="05000000000000000000" pitchFamily="2" charset="2"/>
              <a:buChar char="ü"/>
            </a:pPr>
            <a:r>
              <a:rPr lang="en-US" sz="1250" dirty="0">
                <a:solidFill>
                  <a:srgbClr val="AAAAAA">
                    <a:lumMod val="50000"/>
                  </a:srgb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Private &amp; public invitations</a:t>
            </a:r>
          </a:p>
          <a:p>
            <a:pPr algn="l" defTabSz="543818">
              <a:lnSpc>
                <a:spcPts val="2050"/>
              </a:lnSpc>
            </a:pPr>
            <a:r>
              <a:rPr lang="en-US" sz="1250" dirty="0">
                <a:solidFill>
                  <a:srgbClr val="AAAAAA">
                    <a:lumMod val="50000"/>
                  </a:srgb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4 key elements for missions are present: basketball, football, private and public	</a:t>
            </a:r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62156C22-B202-877F-F822-A6B2FE7AC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9329" y="3500430"/>
            <a:ext cx="5875867" cy="30084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defTabSz="914217"/>
            <a:endParaRPr lang="en-US" sz="3266">
              <a:solidFill>
                <a:srgbClr val="AAAAAA"/>
              </a:solidFill>
              <a:latin typeface="Calibri" panose="020F050202020403020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E12098-FF7B-73AD-C933-D7EC09EF3599}"/>
              </a:ext>
            </a:extLst>
          </p:cNvPr>
          <p:cNvSpPr txBox="1"/>
          <p:nvPr/>
        </p:nvSpPr>
        <p:spPr>
          <a:xfrm>
            <a:off x="6339995" y="3640810"/>
            <a:ext cx="94769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defTabSz="914217"/>
            <a:r>
              <a:rPr lang="en-US" sz="1600" b="1" dirty="0">
                <a:solidFill>
                  <a:srgbClr val="08204C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rPr>
              <a:t>Week 5</a:t>
            </a:r>
          </a:p>
        </p:txBody>
      </p:sp>
      <p:graphicFrame>
        <p:nvGraphicFramePr>
          <p:cNvPr id="29" name="Chart 28">
            <a:extLst>
              <a:ext uri="{FF2B5EF4-FFF2-40B4-BE49-F238E27FC236}">
                <a16:creationId xmlns:a16="http://schemas.microsoft.com/office/drawing/2014/main" id="{CEA39FD8-D011-7E45-8246-71AD4BC1B6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6939720"/>
              </p:ext>
            </p:extLst>
          </p:nvPr>
        </p:nvGraphicFramePr>
        <p:xfrm>
          <a:off x="6503557" y="3699752"/>
          <a:ext cx="3050751" cy="26079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B9ABA42-9422-69B5-C617-5B81CBEE6FD6}"/>
              </a:ext>
            </a:extLst>
          </p:cNvPr>
          <p:cNvSpPr/>
          <p:nvPr/>
        </p:nvSpPr>
        <p:spPr>
          <a:xfrm>
            <a:off x="7465455" y="4104638"/>
            <a:ext cx="225979" cy="2093850"/>
          </a:xfrm>
          <a:prstGeom prst="roundRect">
            <a:avLst/>
          </a:prstGeom>
          <a:solidFill>
            <a:schemeClr val="accent6">
              <a:alpha val="2902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6F1CCA-3BB8-3740-8CC8-6A928ED39218}"/>
              </a:ext>
            </a:extLst>
          </p:cNvPr>
          <p:cNvSpPr txBox="1"/>
          <p:nvPr/>
        </p:nvSpPr>
        <p:spPr>
          <a:xfrm>
            <a:off x="7346957" y="3810087"/>
            <a:ext cx="874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dirty="0">
                <a:solidFill>
                  <a:srgbClr val="FF0000"/>
                </a:solidFill>
              </a:rPr>
              <a:t>43%</a:t>
            </a:r>
          </a:p>
        </p:txBody>
      </p:sp>
      <p:sp>
        <p:nvSpPr>
          <p:cNvPr id="39" name="Subtitle 2">
            <a:extLst>
              <a:ext uri="{FF2B5EF4-FFF2-40B4-BE49-F238E27FC236}">
                <a16:creationId xmlns:a16="http://schemas.microsoft.com/office/drawing/2014/main" id="{070AF5D1-98F2-FA78-89CA-34DC96F06F3A}"/>
              </a:ext>
            </a:extLst>
          </p:cNvPr>
          <p:cNvSpPr txBox="1">
            <a:spLocks/>
          </p:cNvSpPr>
          <p:nvPr/>
        </p:nvSpPr>
        <p:spPr>
          <a:xfrm>
            <a:off x="9880662" y="3979364"/>
            <a:ext cx="2005258" cy="2082301"/>
          </a:xfrm>
          <a:prstGeom prst="rect">
            <a:avLst/>
          </a:prstGeom>
        </p:spPr>
        <p:txBody>
          <a:bodyPr vert="horz" wrap="square" lIns="45720" tIns="22860" rIns="45720" bIns="4572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 defTabSz="543818">
              <a:lnSpc>
                <a:spcPts val="2050"/>
              </a:lnSpc>
              <a:buFont typeface="Wingdings" panose="05000000000000000000" pitchFamily="2" charset="2"/>
              <a:buChar char="ü"/>
            </a:pPr>
            <a:r>
              <a:rPr lang="en-US" sz="1250" dirty="0">
                <a:solidFill>
                  <a:srgbClr val="AAAAAA">
                    <a:lumMod val="50000"/>
                  </a:srgb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3 private missions</a:t>
            </a:r>
          </a:p>
          <a:p>
            <a:pPr marL="285750" indent="-285750" algn="l" defTabSz="543818">
              <a:lnSpc>
                <a:spcPts val="2050"/>
              </a:lnSpc>
              <a:buFont typeface="Wingdings" panose="05000000000000000000" pitchFamily="2" charset="2"/>
              <a:buChar char="ü"/>
            </a:pPr>
            <a:r>
              <a:rPr lang="en-US" sz="1250" dirty="0">
                <a:solidFill>
                  <a:srgbClr val="AAAAAA">
                    <a:lumMod val="50000"/>
                  </a:srgb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6,540 completions</a:t>
            </a:r>
          </a:p>
          <a:p>
            <a:pPr marL="285750" indent="-285750" algn="l" defTabSz="543818">
              <a:lnSpc>
                <a:spcPts val="2050"/>
              </a:lnSpc>
              <a:buFont typeface="Wingdings" panose="05000000000000000000" pitchFamily="2" charset="2"/>
              <a:buChar char="ü"/>
            </a:pPr>
            <a:r>
              <a:rPr lang="en-US" sz="1250" dirty="0">
                <a:solidFill>
                  <a:srgbClr val="AAAAAA">
                    <a:lumMod val="50000"/>
                  </a:srgbClr>
                </a:solidFill>
                <a:highlight>
                  <a:srgbClr val="FFFF00"/>
                </a:highligh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CR 43%</a:t>
            </a:r>
          </a:p>
          <a:p>
            <a:pPr marL="285750" indent="-285750" algn="l" defTabSz="543818">
              <a:lnSpc>
                <a:spcPts val="2050"/>
              </a:lnSpc>
              <a:buFont typeface="Wingdings" panose="05000000000000000000" pitchFamily="2" charset="2"/>
              <a:buChar char="ü"/>
            </a:pPr>
            <a:endParaRPr lang="en-US" sz="1250" dirty="0">
              <a:solidFill>
                <a:srgbClr val="AAAAAA">
                  <a:lumMod val="50000"/>
                </a:srgb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l" defTabSz="543818">
              <a:lnSpc>
                <a:spcPts val="2050"/>
              </a:lnSpc>
            </a:pPr>
            <a:r>
              <a:rPr lang="en-US" sz="1250" dirty="0">
                <a:solidFill>
                  <a:srgbClr val="AAAAAA">
                    <a:lumMod val="50000"/>
                  </a:srgb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Success is very notorious after a week 4 with 0 private mission.</a:t>
            </a:r>
          </a:p>
        </p:txBody>
      </p:sp>
      <p:graphicFrame>
        <p:nvGraphicFramePr>
          <p:cNvPr id="45" name="Chart 44">
            <a:extLst>
              <a:ext uri="{FF2B5EF4-FFF2-40B4-BE49-F238E27FC236}">
                <a16:creationId xmlns:a16="http://schemas.microsoft.com/office/drawing/2014/main" id="{1C5BF8A6-8A93-C856-0D34-2DD6A21A7F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0078591"/>
              </p:ext>
            </p:extLst>
          </p:nvPr>
        </p:nvGraphicFramePr>
        <p:xfrm>
          <a:off x="684062" y="1778524"/>
          <a:ext cx="5048250" cy="23393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4" name="Subtitle 2">
            <a:extLst>
              <a:ext uri="{FF2B5EF4-FFF2-40B4-BE49-F238E27FC236}">
                <a16:creationId xmlns:a16="http://schemas.microsoft.com/office/drawing/2014/main" id="{5EC36CF3-3258-DFB9-CE7F-B13D923DDF1B}"/>
              </a:ext>
            </a:extLst>
          </p:cNvPr>
          <p:cNvSpPr txBox="1">
            <a:spLocks/>
          </p:cNvSpPr>
          <p:nvPr/>
        </p:nvSpPr>
        <p:spPr>
          <a:xfrm>
            <a:off x="378010" y="4530363"/>
            <a:ext cx="5423333" cy="1812997"/>
          </a:xfrm>
          <a:prstGeom prst="rect">
            <a:avLst/>
          </a:prstGeom>
        </p:spPr>
        <p:txBody>
          <a:bodyPr vert="horz" wrap="square" lIns="45720" tIns="22860" rIns="45720" bIns="4572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 defTabSz="543818">
              <a:lnSpc>
                <a:spcPts val="2050"/>
              </a:lnSpc>
              <a:buFont typeface="Wingdings" panose="05000000000000000000" pitchFamily="2" charset="2"/>
              <a:buChar char="ü"/>
            </a:pPr>
            <a:r>
              <a:rPr lang="en-US" sz="1250" dirty="0">
                <a:solidFill>
                  <a:srgbClr val="AAAAAA">
                    <a:lumMod val="50000"/>
                  </a:srgb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Basketball missions</a:t>
            </a:r>
          </a:p>
          <a:p>
            <a:pPr marL="285750" indent="-285750" algn="l" defTabSz="543818">
              <a:lnSpc>
                <a:spcPts val="2050"/>
              </a:lnSpc>
              <a:buFont typeface="Wingdings" panose="05000000000000000000" pitchFamily="2" charset="2"/>
              <a:buChar char="ü"/>
            </a:pPr>
            <a:r>
              <a:rPr lang="en-US" sz="1250" dirty="0">
                <a:solidFill>
                  <a:srgbClr val="AAAAAA">
                    <a:lumMod val="50000"/>
                  </a:srgbClr>
                </a:solidFill>
                <a:highlight>
                  <a:srgbClr val="FFFF00"/>
                </a:highligh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Average 25,104 active users</a:t>
            </a:r>
          </a:p>
          <a:p>
            <a:pPr marL="285750" indent="-285750" algn="l" defTabSz="543818">
              <a:lnSpc>
                <a:spcPts val="2050"/>
              </a:lnSpc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AAAAAA">
                    <a:lumMod val="50000"/>
                  </a:srgb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CR rate 39% (average)</a:t>
            </a:r>
          </a:p>
          <a:p>
            <a:pPr algn="l" defTabSz="543818">
              <a:lnSpc>
                <a:spcPts val="2050"/>
              </a:lnSpc>
            </a:pPr>
            <a:endParaRPr lang="en-US" sz="1250" dirty="0">
              <a:solidFill>
                <a:srgbClr val="AAAAAA">
                  <a:lumMod val="50000"/>
                </a:srgb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l" defTabSz="543818">
              <a:lnSpc>
                <a:spcPts val="2050"/>
              </a:lnSpc>
            </a:pPr>
            <a:r>
              <a:rPr lang="en-US" sz="1250" dirty="0">
                <a:solidFill>
                  <a:srgbClr val="AAAAAA">
                    <a:lumMod val="50000"/>
                  </a:srgb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Basketball is the boost for the missions, after it end CR drops dramatically down. E.G Week 8, vs 9.	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4A78D069-07D9-63F6-7A36-87FA60649ADD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37057" y="2412184"/>
            <a:ext cx="219817" cy="207037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0DD20048-A73D-F4DA-FF23-4361A43E4770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91065" y="2363148"/>
            <a:ext cx="219817" cy="207037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4068A2D0-49EA-6130-6520-495A9C212AA3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43767" y="2363148"/>
            <a:ext cx="219817" cy="207037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74C014-2128-789A-FDA4-C76AD76BB4EA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686470" y="2205147"/>
            <a:ext cx="219817" cy="207037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4C85BFB-2075-E1C4-45A3-B9B631A97342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992317" y="2259629"/>
            <a:ext cx="219817" cy="207037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A8E07139-8E4E-F887-1B5A-BB610B78F97B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416195" y="2025318"/>
            <a:ext cx="219817" cy="207037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81A0F7A7-8CDD-8EE0-DC19-265D8323F6FE}"/>
              </a:ext>
            </a:extLst>
          </p:cNvPr>
          <p:cNvSpPr txBox="1"/>
          <p:nvPr/>
        </p:nvSpPr>
        <p:spPr>
          <a:xfrm>
            <a:off x="6465108" y="413241"/>
            <a:ext cx="928459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defTabSz="914217"/>
            <a:r>
              <a:rPr lang="en-US" sz="1600" b="1" dirty="0">
                <a:solidFill>
                  <a:srgbClr val="08204C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rPr>
              <a:t>Week 7</a:t>
            </a:r>
          </a:p>
        </p:txBody>
      </p:sp>
    </p:spTree>
    <p:extLst>
      <p:ext uri="{BB962C8B-B14F-4D97-AF65-F5344CB8AC3E}">
        <p14:creationId xmlns:p14="http://schemas.microsoft.com/office/powerpoint/2010/main" val="535969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8A4F7A-F5CA-429A-72CA-233607F3645A}"/>
              </a:ext>
            </a:extLst>
          </p:cNvPr>
          <p:cNvSpPr txBox="1"/>
          <p:nvPr/>
        </p:nvSpPr>
        <p:spPr>
          <a:xfrm>
            <a:off x="294660" y="246909"/>
            <a:ext cx="4923143" cy="6917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MX"/>
            </a:defPPr>
            <a:lvl1pPr defTabSz="914217">
              <a:lnSpc>
                <a:spcPts val="5000"/>
              </a:lnSpc>
              <a:defRPr sz="2400" b="1">
                <a:solidFill>
                  <a:srgbClr val="08204C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defRPr>
            </a:lvl1pPr>
          </a:lstStyle>
          <a:p>
            <a:r>
              <a:rPr lang="en-US" dirty="0"/>
              <a:t>Product improvement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A39E45-4229-6225-E1E1-3F0F2FD18ACD}"/>
              </a:ext>
            </a:extLst>
          </p:cNvPr>
          <p:cNvSpPr txBox="1"/>
          <p:nvPr/>
        </p:nvSpPr>
        <p:spPr>
          <a:xfrm>
            <a:off x="294660" y="841604"/>
            <a:ext cx="1132041" cy="292388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defTabSz="914217"/>
            <a:r>
              <a:rPr lang="en-US" sz="1300" spc="50" dirty="0">
                <a:solidFill>
                  <a:srgbClr val="AAAAAA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Explanation</a:t>
            </a:r>
          </a:p>
        </p:txBody>
      </p:sp>
      <p:sp>
        <p:nvSpPr>
          <p:cNvPr id="4" name="Freeform 7">
            <a:extLst>
              <a:ext uri="{FF2B5EF4-FFF2-40B4-BE49-F238E27FC236}">
                <a16:creationId xmlns:a16="http://schemas.microsoft.com/office/drawing/2014/main" id="{D65D1C47-226B-C27F-64A5-4EB89028D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7211" y="4317142"/>
            <a:ext cx="4034030" cy="1260260"/>
          </a:xfrm>
          <a:custGeom>
            <a:avLst/>
            <a:gdLst>
              <a:gd name="T0" fmla="*/ 10017 w 11872"/>
              <a:gd name="T1" fmla="*/ 0 h 3708"/>
              <a:gd name="T2" fmla="*/ 1853 w 11872"/>
              <a:gd name="T3" fmla="*/ 0 h 3708"/>
              <a:gd name="T4" fmla="*/ 1853 w 11872"/>
              <a:gd name="T5" fmla="*/ 0 h 3708"/>
              <a:gd name="T6" fmla="*/ 0 w 11872"/>
              <a:gd name="T7" fmla="*/ 1854 h 3708"/>
              <a:gd name="T8" fmla="*/ 0 w 11872"/>
              <a:gd name="T9" fmla="*/ 1854 h 3708"/>
              <a:gd name="T10" fmla="*/ 0 w 11872"/>
              <a:gd name="T11" fmla="*/ 1854 h 3708"/>
              <a:gd name="T12" fmla="*/ 1853 w 11872"/>
              <a:gd name="T13" fmla="*/ 3707 h 3708"/>
              <a:gd name="T14" fmla="*/ 10017 w 11872"/>
              <a:gd name="T15" fmla="*/ 3707 h 3708"/>
              <a:gd name="T16" fmla="*/ 10017 w 11872"/>
              <a:gd name="T17" fmla="*/ 3707 h 3708"/>
              <a:gd name="T18" fmla="*/ 11871 w 11872"/>
              <a:gd name="T19" fmla="*/ 1854 h 3708"/>
              <a:gd name="T20" fmla="*/ 11871 w 11872"/>
              <a:gd name="T21" fmla="*/ 1854 h 3708"/>
              <a:gd name="T22" fmla="*/ 11871 w 11872"/>
              <a:gd name="T23" fmla="*/ 1854 h 3708"/>
              <a:gd name="T24" fmla="*/ 10017 w 11872"/>
              <a:gd name="T25" fmla="*/ 0 h 37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72" h="3708">
                <a:moveTo>
                  <a:pt x="10017" y="0"/>
                </a:moveTo>
                <a:lnTo>
                  <a:pt x="1853" y="0"/>
                </a:lnTo>
                <a:lnTo>
                  <a:pt x="1853" y="0"/>
                </a:lnTo>
                <a:cubicBezTo>
                  <a:pt x="830" y="0"/>
                  <a:pt x="0" y="830"/>
                  <a:pt x="0" y="1854"/>
                </a:cubicBezTo>
                <a:lnTo>
                  <a:pt x="0" y="1854"/>
                </a:lnTo>
                <a:lnTo>
                  <a:pt x="0" y="1854"/>
                </a:lnTo>
                <a:cubicBezTo>
                  <a:pt x="0" y="2877"/>
                  <a:pt x="830" y="3707"/>
                  <a:pt x="1853" y="3707"/>
                </a:cubicBezTo>
                <a:lnTo>
                  <a:pt x="10017" y="3707"/>
                </a:lnTo>
                <a:lnTo>
                  <a:pt x="10017" y="3707"/>
                </a:lnTo>
                <a:cubicBezTo>
                  <a:pt x="11042" y="3707"/>
                  <a:pt x="11871" y="2877"/>
                  <a:pt x="11871" y="1854"/>
                </a:cubicBezTo>
                <a:lnTo>
                  <a:pt x="11871" y="1854"/>
                </a:lnTo>
                <a:lnTo>
                  <a:pt x="11871" y="1854"/>
                </a:lnTo>
                <a:cubicBezTo>
                  <a:pt x="11871" y="830"/>
                  <a:pt x="11042" y="0"/>
                  <a:pt x="10017" y="0"/>
                </a:cubicBezTo>
              </a:path>
            </a:pathLst>
          </a:custGeom>
          <a:solidFill>
            <a:srgbClr val="08204C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CC396B2D-D45D-3A4E-65A6-903A53FFC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5047" y="4074382"/>
            <a:ext cx="1619905" cy="1747281"/>
          </a:xfrm>
          <a:custGeom>
            <a:avLst/>
            <a:gdLst>
              <a:gd name="T0" fmla="*/ 2194 w 4765"/>
              <a:gd name="T1" fmla="*/ 5139 h 5140"/>
              <a:gd name="T2" fmla="*/ 0 w 4765"/>
              <a:gd name="T3" fmla="*/ 5139 h 5140"/>
              <a:gd name="T4" fmla="*/ 0 w 4765"/>
              <a:gd name="T5" fmla="*/ 4991 h 5140"/>
              <a:gd name="T6" fmla="*/ 2194 w 4765"/>
              <a:gd name="T7" fmla="*/ 4991 h 5140"/>
              <a:gd name="T8" fmla="*/ 2194 w 4765"/>
              <a:gd name="T9" fmla="*/ 4991 h 5140"/>
              <a:gd name="T10" fmla="*/ 4616 w 4765"/>
              <a:gd name="T11" fmla="*/ 2570 h 5140"/>
              <a:gd name="T12" fmla="*/ 4616 w 4765"/>
              <a:gd name="T13" fmla="*/ 2570 h 5140"/>
              <a:gd name="T14" fmla="*/ 2194 w 4765"/>
              <a:gd name="T15" fmla="*/ 148 h 5140"/>
              <a:gd name="T16" fmla="*/ 0 w 4765"/>
              <a:gd name="T17" fmla="*/ 148 h 5140"/>
              <a:gd name="T18" fmla="*/ 0 w 4765"/>
              <a:gd name="T19" fmla="*/ 0 h 5140"/>
              <a:gd name="T20" fmla="*/ 2194 w 4765"/>
              <a:gd name="T21" fmla="*/ 0 h 5140"/>
              <a:gd name="T22" fmla="*/ 2194 w 4765"/>
              <a:gd name="T23" fmla="*/ 0 h 5140"/>
              <a:gd name="T24" fmla="*/ 4764 w 4765"/>
              <a:gd name="T25" fmla="*/ 2570 h 5140"/>
              <a:gd name="T26" fmla="*/ 4764 w 4765"/>
              <a:gd name="T27" fmla="*/ 2570 h 5140"/>
              <a:gd name="T28" fmla="*/ 2194 w 4765"/>
              <a:gd name="T29" fmla="*/ 5139 h 5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4765" h="5140">
                <a:moveTo>
                  <a:pt x="2194" y="5139"/>
                </a:moveTo>
                <a:lnTo>
                  <a:pt x="0" y="5139"/>
                </a:lnTo>
                <a:lnTo>
                  <a:pt x="0" y="4991"/>
                </a:lnTo>
                <a:lnTo>
                  <a:pt x="2194" y="4991"/>
                </a:lnTo>
                <a:lnTo>
                  <a:pt x="2194" y="4991"/>
                </a:lnTo>
                <a:cubicBezTo>
                  <a:pt x="3529" y="4991"/>
                  <a:pt x="4616" y="3904"/>
                  <a:pt x="4616" y="2570"/>
                </a:cubicBezTo>
                <a:lnTo>
                  <a:pt x="4616" y="2570"/>
                </a:lnTo>
                <a:cubicBezTo>
                  <a:pt x="4616" y="1235"/>
                  <a:pt x="3529" y="148"/>
                  <a:pt x="2194" y="148"/>
                </a:cubicBezTo>
                <a:lnTo>
                  <a:pt x="0" y="148"/>
                </a:lnTo>
                <a:lnTo>
                  <a:pt x="0" y="0"/>
                </a:lnTo>
                <a:lnTo>
                  <a:pt x="2194" y="0"/>
                </a:lnTo>
                <a:lnTo>
                  <a:pt x="2194" y="0"/>
                </a:lnTo>
                <a:cubicBezTo>
                  <a:pt x="3611" y="0"/>
                  <a:pt x="4764" y="1152"/>
                  <a:pt x="4764" y="2570"/>
                </a:cubicBezTo>
                <a:lnTo>
                  <a:pt x="4764" y="2570"/>
                </a:lnTo>
                <a:cubicBezTo>
                  <a:pt x="4764" y="3986"/>
                  <a:pt x="3611" y="5139"/>
                  <a:pt x="2194" y="5139"/>
                </a:cubicBezTo>
              </a:path>
            </a:pathLst>
          </a:custGeom>
          <a:solidFill>
            <a:srgbClr val="08204C"/>
          </a:solidFill>
          <a:ln w="38100" cap="flat">
            <a:noFill/>
            <a:bevel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2810D031-AE24-CF75-CD46-A6E65EBC3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6497" y="4074382"/>
            <a:ext cx="1619907" cy="1747281"/>
          </a:xfrm>
          <a:custGeom>
            <a:avLst/>
            <a:gdLst>
              <a:gd name="T0" fmla="*/ 4765 w 4766"/>
              <a:gd name="T1" fmla="*/ 5139 h 5140"/>
              <a:gd name="T2" fmla="*/ 2570 w 4766"/>
              <a:gd name="T3" fmla="*/ 5139 h 5140"/>
              <a:gd name="T4" fmla="*/ 2570 w 4766"/>
              <a:gd name="T5" fmla="*/ 5139 h 5140"/>
              <a:gd name="T6" fmla="*/ 0 w 4766"/>
              <a:gd name="T7" fmla="*/ 2570 h 5140"/>
              <a:gd name="T8" fmla="*/ 0 w 4766"/>
              <a:gd name="T9" fmla="*/ 2570 h 5140"/>
              <a:gd name="T10" fmla="*/ 2570 w 4766"/>
              <a:gd name="T11" fmla="*/ 0 h 5140"/>
              <a:gd name="T12" fmla="*/ 4765 w 4766"/>
              <a:gd name="T13" fmla="*/ 0 h 5140"/>
              <a:gd name="T14" fmla="*/ 4765 w 4766"/>
              <a:gd name="T15" fmla="*/ 148 h 5140"/>
              <a:gd name="T16" fmla="*/ 2570 w 4766"/>
              <a:gd name="T17" fmla="*/ 148 h 5140"/>
              <a:gd name="T18" fmla="*/ 2570 w 4766"/>
              <a:gd name="T19" fmla="*/ 148 h 5140"/>
              <a:gd name="T20" fmla="*/ 149 w 4766"/>
              <a:gd name="T21" fmla="*/ 2570 h 5140"/>
              <a:gd name="T22" fmla="*/ 149 w 4766"/>
              <a:gd name="T23" fmla="*/ 2570 h 5140"/>
              <a:gd name="T24" fmla="*/ 2570 w 4766"/>
              <a:gd name="T25" fmla="*/ 4991 h 5140"/>
              <a:gd name="T26" fmla="*/ 4765 w 4766"/>
              <a:gd name="T27" fmla="*/ 4991 h 5140"/>
              <a:gd name="T28" fmla="*/ 4765 w 4766"/>
              <a:gd name="T29" fmla="*/ 5139 h 5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4766" h="5140">
                <a:moveTo>
                  <a:pt x="4765" y="5139"/>
                </a:moveTo>
                <a:lnTo>
                  <a:pt x="2570" y="5139"/>
                </a:lnTo>
                <a:lnTo>
                  <a:pt x="2570" y="5139"/>
                </a:lnTo>
                <a:cubicBezTo>
                  <a:pt x="1153" y="5139"/>
                  <a:pt x="0" y="3986"/>
                  <a:pt x="0" y="2570"/>
                </a:cubicBezTo>
                <a:lnTo>
                  <a:pt x="0" y="2570"/>
                </a:lnTo>
                <a:cubicBezTo>
                  <a:pt x="0" y="1152"/>
                  <a:pt x="1153" y="0"/>
                  <a:pt x="2570" y="0"/>
                </a:cubicBezTo>
                <a:lnTo>
                  <a:pt x="4765" y="0"/>
                </a:lnTo>
                <a:lnTo>
                  <a:pt x="4765" y="148"/>
                </a:lnTo>
                <a:lnTo>
                  <a:pt x="2570" y="148"/>
                </a:lnTo>
                <a:lnTo>
                  <a:pt x="2570" y="148"/>
                </a:lnTo>
                <a:cubicBezTo>
                  <a:pt x="1235" y="148"/>
                  <a:pt x="149" y="1235"/>
                  <a:pt x="149" y="2570"/>
                </a:cubicBezTo>
                <a:lnTo>
                  <a:pt x="149" y="2570"/>
                </a:lnTo>
                <a:cubicBezTo>
                  <a:pt x="149" y="3904"/>
                  <a:pt x="1235" y="4991"/>
                  <a:pt x="2570" y="4991"/>
                </a:cubicBezTo>
                <a:lnTo>
                  <a:pt x="4765" y="4991"/>
                </a:lnTo>
                <a:lnTo>
                  <a:pt x="4765" y="5139"/>
                </a:lnTo>
              </a:path>
            </a:pathLst>
          </a:custGeom>
          <a:solidFill>
            <a:srgbClr val="08204C"/>
          </a:solidFill>
          <a:ln w="38100" cap="flat">
            <a:noFill/>
            <a:bevel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7" name="Freeform 20">
            <a:extLst>
              <a:ext uri="{FF2B5EF4-FFF2-40B4-BE49-F238E27FC236}">
                <a16:creationId xmlns:a16="http://schemas.microsoft.com/office/drawing/2014/main" id="{D5B256DA-B772-6D86-5B8A-60A2E9A83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7282" y="5737744"/>
            <a:ext cx="116886" cy="116886"/>
          </a:xfrm>
          <a:custGeom>
            <a:avLst/>
            <a:gdLst>
              <a:gd name="T0" fmla="*/ 342 w 343"/>
              <a:gd name="T1" fmla="*/ 173 h 345"/>
              <a:gd name="T2" fmla="*/ 342 w 343"/>
              <a:gd name="T3" fmla="*/ 173 h 345"/>
              <a:gd name="T4" fmla="*/ 171 w 343"/>
              <a:gd name="T5" fmla="*/ 344 h 345"/>
              <a:gd name="T6" fmla="*/ 171 w 343"/>
              <a:gd name="T7" fmla="*/ 344 h 345"/>
              <a:gd name="T8" fmla="*/ 0 w 343"/>
              <a:gd name="T9" fmla="*/ 173 h 345"/>
              <a:gd name="T10" fmla="*/ 0 w 343"/>
              <a:gd name="T11" fmla="*/ 173 h 345"/>
              <a:gd name="T12" fmla="*/ 171 w 343"/>
              <a:gd name="T13" fmla="*/ 0 h 345"/>
              <a:gd name="T14" fmla="*/ 171 w 343"/>
              <a:gd name="T15" fmla="*/ 0 h 345"/>
              <a:gd name="T16" fmla="*/ 342 w 343"/>
              <a:gd name="T17" fmla="*/ 173 h 3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43" h="345">
                <a:moveTo>
                  <a:pt x="342" y="173"/>
                </a:moveTo>
                <a:lnTo>
                  <a:pt x="342" y="173"/>
                </a:lnTo>
                <a:cubicBezTo>
                  <a:pt x="342" y="267"/>
                  <a:pt x="265" y="344"/>
                  <a:pt x="171" y="344"/>
                </a:cubicBezTo>
                <a:lnTo>
                  <a:pt x="171" y="344"/>
                </a:lnTo>
                <a:cubicBezTo>
                  <a:pt x="77" y="344"/>
                  <a:pt x="0" y="267"/>
                  <a:pt x="0" y="173"/>
                </a:cubicBezTo>
                <a:lnTo>
                  <a:pt x="0" y="173"/>
                </a:lnTo>
                <a:cubicBezTo>
                  <a:pt x="0" y="77"/>
                  <a:pt x="77" y="0"/>
                  <a:pt x="171" y="0"/>
                </a:cubicBezTo>
                <a:lnTo>
                  <a:pt x="171" y="0"/>
                </a:lnTo>
                <a:cubicBezTo>
                  <a:pt x="265" y="0"/>
                  <a:pt x="342" y="77"/>
                  <a:pt x="342" y="173"/>
                </a:cubicBezTo>
              </a:path>
            </a:pathLst>
          </a:custGeom>
          <a:solidFill>
            <a:srgbClr val="FFD25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8" name="Freeform 21">
            <a:extLst>
              <a:ext uri="{FF2B5EF4-FFF2-40B4-BE49-F238E27FC236}">
                <a16:creationId xmlns:a16="http://schemas.microsoft.com/office/drawing/2014/main" id="{B92C9915-2EC0-746B-EEAB-8DC0EE2BAD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9406" y="5737744"/>
            <a:ext cx="116886" cy="116886"/>
          </a:xfrm>
          <a:custGeom>
            <a:avLst/>
            <a:gdLst>
              <a:gd name="T0" fmla="*/ 344 w 345"/>
              <a:gd name="T1" fmla="*/ 173 h 345"/>
              <a:gd name="T2" fmla="*/ 344 w 345"/>
              <a:gd name="T3" fmla="*/ 173 h 345"/>
              <a:gd name="T4" fmla="*/ 172 w 345"/>
              <a:gd name="T5" fmla="*/ 344 h 345"/>
              <a:gd name="T6" fmla="*/ 172 w 345"/>
              <a:gd name="T7" fmla="*/ 344 h 345"/>
              <a:gd name="T8" fmla="*/ 0 w 345"/>
              <a:gd name="T9" fmla="*/ 173 h 345"/>
              <a:gd name="T10" fmla="*/ 0 w 345"/>
              <a:gd name="T11" fmla="*/ 173 h 345"/>
              <a:gd name="T12" fmla="*/ 172 w 345"/>
              <a:gd name="T13" fmla="*/ 0 h 345"/>
              <a:gd name="T14" fmla="*/ 172 w 345"/>
              <a:gd name="T15" fmla="*/ 0 h 345"/>
              <a:gd name="T16" fmla="*/ 344 w 345"/>
              <a:gd name="T17" fmla="*/ 173 h 3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45" h="345">
                <a:moveTo>
                  <a:pt x="344" y="173"/>
                </a:moveTo>
                <a:lnTo>
                  <a:pt x="344" y="173"/>
                </a:lnTo>
                <a:cubicBezTo>
                  <a:pt x="344" y="267"/>
                  <a:pt x="267" y="344"/>
                  <a:pt x="172" y="344"/>
                </a:cubicBezTo>
                <a:lnTo>
                  <a:pt x="172" y="344"/>
                </a:lnTo>
                <a:cubicBezTo>
                  <a:pt x="77" y="344"/>
                  <a:pt x="0" y="267"/>
                  <a:pt x="0" y="173"/>
                </a:cubicBezTo>
                <a:lnTo>
                  <a:pt x="0" y="173"/>
                </a:lnTo>
                <a:cubicBezTo>
                  <a:pt x="0" y="77"/>
                  <a:pt x="77" y="0"/>
                  <a:pt x="172" y="0"/>
                </a:cubicBezTo>
                <a:lnTo>
                  <a:pt x="172" y="0"/>
                </a:lnTo>
                <a:cubicBezTo>
                  <a:pt x="267" y="0"/>
                  <a:pt x="344" y="77"/>
                  <a:pt x="344" y="173"/>
                </a:cubicBezTo>
              </a:path>
            </a:pathLst>
          </a:custGeom>
          <a:solidFill>
            <a:srgbClr val="FF8F1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9" name="Freeform 22">
            <a:extLst>
              <a:ext uri="{FF2B5EF4-FFF2-40B4-BE49-F238E27FC236}">
                <a16:creationId xmlns:a16="http://schemas.microsoft.com/office/drawing/2014/main" id="{BCE72474-D16D-7DB6-3F05-4742B41A6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3659" y="5737744"/>
            <a:ext cx="116886" cy="116886"/>
          </a:xfrm>
          <a:custGeom>
            <a:avLst/>
            <a:gdLst>
              <a:gd name="T0" fmla="*/ 344 w 345"/>
              <a:gd name="T1" fmla="*/ 173 h 345"/>
              <a:gd name="T2" fmla="*/ 344 w 345"/>
              <a:gd name="T3" fmla="*/ 173 h 345"/>
              <a:gd name="T4" fmla="*/ 172 w 345"/>
              <a:gd name="T5" fmla="*/ 344 h 345"/>
              <a:gd name="T6" fmla="*/ 172 w 345"/>
              <a:gd name="T7" fmla="*/ 344 h 345"/>
              <a:gd name="T8" fmla="*/ 0 w 345"/>
              <a:gd name="T9" fmla="*/ 173 h 345"/>
              <a:gd name="T10" fmla="*/ 0 w 345"/>
              <a:gd name="T11" fmla="*/ 173 h 345"/>
              <a:gd name="T12" fmla="*/ 172 w 345"/>
              <a:gd name="T13" fmla="*/ 0 h 345"/>
              <a:gd name="T14" fmla="*/ 172 w 345"/>
              <a:gd name="T15" fmla="*/ 0 h 345"/>
              <a:gd name="T16" fmla="*/ 344 w 345"/>
              <a:gd name="T17" fmla="*/ 173 h 3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45" h="345">
                <a:moveTo>
                  <a:pt x="344" y="173"/>
                </a:moveTo>
                <a:lnTo>
                  <a:pt x="344" y="173"/>
                </a:lnTo>
                <a:cubicBezTo>
                  <a:pt x="344" y="267"/>
                  <a:pt x="267" y="344"/>
                  <a:pt x="172" y="344"/>
                </a:cubicBezTo>
                <a:lnTo>
                  <a:pt x="172" y="344"/>
                </a:lnTo>
                <a:cubicBezTo>
                  <a:pt x="77" y="344"/>
                  <a:pt x="0" y="267"/>
                  <a:pt x="0" y="173"/>
                </a:cubicBezTo>
                <a:lnTo>
                  <a:pt x="0" y="173"/>
                </a:lnTo>
                <a:cubicBezTo>
                  <a:pt x="0" y="77"/>
                  <a:pt x="77" y="0"/>
                  <a:pt x="172" y="0"/>
                </a:cubicBezTo>
                <a:lnTo>
                  <a:pt x="172" y="0"/>
                </a:lnTo>
                <a:cubicBezTo>
                  <a:pt x="267" y="0"/>
                  <a:pt x="344" y="77"/>
                  <a:pt x="344" y="173"/>
                </a:cubicBezTo>
              </a:path>
            </a:pathLst>
          </a:custGeom>
          <a:solidFill>
            <a:srgbClr val="61DDA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2" name="Freeform 24">
            <a:extLst>
              <a:ext uri="{FF2B5EF4-FFF2-40B4-BE49-F238E27FC236}">
                <a16:creationId xmlns:a16="http://schemas.microsoft.com/office/drawing/2014/main" id="{85E0ABDA-293D-0223-34CD-58586F961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0356" y="3459986"/>
            <a:ext cx="2958092" cy="647364"/>
          </a:xfrm>
          <a:custGeom>
            <a:avLst/>
            <a:gdLst>
              <a:gd name="T0" fmla="*/ 24 w 5508"/>
              <a:gd name="T1" fmla="*/ 1905 h 1906"/>
              <a:gd name="T2" fmla="*/ 24 w 5508"/>
              <a:gd name="T3" fmla="*/ 1905 h 1906"/>
              <a:gd name="T4" fmla="*/ 0 w 5508"/>
              <a:gd name="T5" fmla="*/ 1880 h 1906"/>
              <a:gd name="T6" fmla="*/ 0 w 5508"/>
              <a:gd name="T7" fmla="*/ 1366 h 1906"/>
              <a:gd name="T8" fmla="*/ 0 w 5508"/>
              <a:gd name="T9" fmla="*/ 1366 h 1906"/>
              <a:gd name="T10" fmla="*/ 656 w 5508"/>
              <a:gd name="T11" fmla="*/ 709 h 1906"/>
              <a:gd name="T12" fmla="*/ 4773 w 5508"/>
              <a:gd name="T13" fmla="*/ 709 h 1906"/>
              <a:gd name="T14" fmla="*/ 4773 w 5508"/>
              <a:gd name="T15" fmla="*/ 709 h 1906"/>
              <a:gd name="T16" fmla="*/ 5458 w 5508"/>
              <a:gd name="T17" fmla="*/ 25 h 1906"/>
              <a:gd name="T18" fmla="*/ 5458 w 5508"/>
              <a:gd name="T19" fmla="*/ 25 h 1906"/>
              <a:gd name="T20" fmla="*/ 5482 w 5508"/>
              <a:gd name="T21" fmla="*/ 0 h 1906"/>
              <a:gd name="T22" fmla="*/ 5482 w 5508"/>
              <a:gd name="T23" fmla="*/ 0 h 1906"/>
              <a:gd name="T24" fmla="*/ 5507 w 5508"/>
              <a:gd name="T25" fmla="*/ 25 h 1906"/>
              <a:gd name="T26" fmla="*/ 5507 w 5508"/>
              <a:gd name="T27" fmla="*/ 25 h 1906"/>
              <a:gd name="T28" fmla="*/ 4773 w 5508"/>
              <a:gd name="T29" fmla="*/ 758 h 1906"/>
              <a:gd name="T30" fmla="*/ 656 w 5508"/>
              <a:gd name="T31" fmla="*/ 758 h 1906"/>
              <a:gd name="T32" fmla="*/ 656 w 5508"/>
              <a:gd name="T33" fmla="*/ 758 h 1906"/>
              <a:gd name="T34" fmla="*/ 49 w 5508"/>
              <a:gd name="T35" fmla="*/ 1366 h 1906"/>
              <a:gd name="T36" fmla="*/ 49 w 5508"/>
              <a:gd name="T37" fmla="*/ 1880 h 1906"/>
              <a:gd name="T38" fmla="*/ 49 w 5508"/>
              <a:gd name="T39" fmla="*/ 1880 h 1906"/>
              <a:gd name="T40" fmla="*/ 24 w 5508"/>
              <a:gd name="T41" fmla="*/ 1905 h 19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5508" h="1906">
                <a:moveTo>
                  <a:pt x="24" y="1905"/>
                </a:moveTo>
                <a:lnTo>
                  <a:pt x="24" y="1905"/>
                </a:lnTo>
                <a:cubicBezTo>
                  <a:pt x="11" y="1905"/>
                  <a:pt x="0" y="1893"/>
                  <a:pt x="0" y="1880"/>
                </a:cubicBezTo>
                <a:lnTo>
                  <a:pt x="0" y="1366"/>
                </a:lnTo>
                <a:lnTo>
                  <a:pt x="0" y="1366"/>
                </a:lnTo>
                <a:cubicBezTo>
                  <a:pt x="0" y="1004"/>
                  <a:pt x="295" y="709"/>
                  <a:pt x="656" y="709"/>
                </a:cubicBezTo>
                <a:lnTo>
                  <a:pt x="4773" y="709"/>
                </a:lnTo>
                <a:lnTo>
                  <a:pt x="4773" y="709"/>
                </a:lnTo>
                <a:cubicBezTo>
                  <a:pt x="5151" y="709"/>
                  <a:pt x="5458" y="402"/>
                  <a:pt x="5458" y="25"/>
                </a:cubicBezTo>
                <a:lnTo>
                  <a:pt x="5458" y="25"/>
                </a:lnTo>
                <a:cubicBezTo>
                  <a:pt x="5458" y="11"/>
                  <a:pt x="5468" y="0"/>
                  <a:pt x="5482" y="0"/>
                </a:cubicBezTo>
                <a:lnTo>
                  <a:pt x="5482" y="0"/>
                </a:lnTo>
                <a:cubicBezTo>
                  <a:pt x="5496" y="0"/>
                  <a:pt x="5507" y="11"/>
                  <a:pt x="5507" y="25"/>
                </a:cubicBezTo>
                <a:lnTo>
                  <a:pt x="5507" y="25"/>
                </a:lnTo>
                <a:cubicBezTo>
                  <a:pt x="5507" y="429"/>
                  <a:pt x="5177" y="758"/>
                  <a:pt x="4773" y="758"/>
                </a:cubicBezTo>
                <a:lnTo>
                  <a:pt x="656" y="758"/>
                </a:lnTo>
                <a:lnTo>
                  <a:pt x="656" y="758"/>
                </a:lnTo>
                <a:cubicBezTo>
                  <a:pt x="322" y="758"/>
                  <a:pt x="49" y="1031"/>
                  <a:pt x="49" y="1366"/>
                </a:cubicBezTo>
                <a:lnTo>
                  <a:pt x="49" y="1880"/>
                </a:lnTo>
                <a:lnTo>
                  <a:pt x="49" y="1880"/>
                </a:lnTo>
                <a:cubicBezTo>
                  <a:pt x="49" y="1893"/>
                  <a:pt x="38" y="1905"/>
                  <a:pt x="24" y="1905"/>
                </a:cubicBezTo>
              </a:path>
            </a:pathLst>
          </a:custGeom>
          <a:solidFill>
            <a:srgbClr val="08204C"/>
          </a:solidFill>
          <a:ln w="38100" cap="flat">
            <a:solidFill>
              <a:srgbClr val="08204C"/>
            </a:solidFill>
            <a:bevel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5" name="Freeform 25">
            <a:extLst>
              <a:ext uri="{FF2B5EF4-FFF2-40B4-BE49-F238E27FC236}">
                <a16:creationId xmlns:a16="http://schemas.microsoft.com/office/drawing/2014/main" id="{A2B4D284-361C-9749-31E8-7EF8167FE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3552" y="3459986"/>
            <a:ext cx="2957542" cy="647364"/>
          </a:xfrm>
          <a:custGeom>
            <a:avLst/>
            <a:gdLst>
              <a:gd name="T0" fmla="*/ 5483 w 5509"/>
              <a:gd name="T1" fmla="*/ 1905 h 1906"/>
              <a:gd name="T2" fmla="*/ 5483 w 5509"/>
              <a:gd name="T3" fmla="*/ 1905 h 1906"/>
              <a:gd name="T4" fmla="*/ 5458 w 5509"/>
              <a:gd name="T5" fmla="*/ 1880 h 1906"/>
              <a:gd name="T6" fmla="*/ 5458 w 5509"/>
              <a:gd name="T7" fmla="*/ 1366 h 1906"/>
              <a:gd name="T8" fmla="*/ 5458 w 5509"/>
              <a:gd name="T9" fmla="*/ 1366 h 1906"/>
              <a:gd name="T10" fmla="*/ 4851 w 5509"/>
              <a:gd name="T11" fmla="*/ 758 h 1906"/>
              <a:gd name="T12" fmla="*/ 734 w 5509"/>
              <a:gd name="T13" fmla="*/ 758 h 1906"/>
              <a:gd name="T14" fmla="*/ 734 w 5509"/>
              <a:gd name="T15" fmla="*/ 758 h 1906"/>
              <a:gd name="T16" fmla="*/ 0 w 5509"/>
              <a:gd name="T17" fmla="*/ 25 h 1906"/>
              <a:gd name="T18" fmla="*/ 0 w 5509"/>
              <a:gd name="T19" fmla="*/ 25 h 1906"/>
              <a:gd name="T20" fmla="*/ 25 w 5509"/>
              <a:gd name="T21" fmla="*/ 0 h 1906"/>
              <a:gd name="T22" fmla="*/ 25 w 5509"/>
              <a:gd name="T23" fmla="*/ 0 h 1906"/>
              <a:gd name="T24" fmla="*/ 50 w 5509"/>
              <a:gd name="T25" fmla="*/ 25 h 1906"/>
              <a:gd name="T26" fmla="*/ 50 w 5509"/>
              <a:gd name="T27" fmla="*/ 25 h 1906"/>
              <a:gd name="T28" fmla="*/ 734 w 5509"/>
              <a:gd name="T29" fmla="*/ 709 h 1906"/>
              <a:gd name="T30" fmla="*/ 4851 w 5509"/>
              <a:gd name="T31" fmla="*/ 709 h 1906"/>
              <a:gd name="T32" fmla="*/ 4851 w 5509"/>
              <a:gd name="T33" fmla="*/ 709 h 1906"/>
              <a:gd name="T34" fmla="*/ 5508 w 5509"/>
              <a:gd name="T35" fmla="*/ 1366 h 1906"/>
              <a:gd name="T36" fmla="*/ 5508 w 5509"/>
              <a:gd name="T37" fmla="*/ 1880 h 1906"/>
              <a:gd name="T38" fmla="*/ 5508 w 5509"/>
              <a:gd name="T39" fmla="*/ 1880 h 1906"/>
              <a:gd name="T40" fmla="*/ 5483 w 5509"/>
              <a:gd name="T41" fmla="*/ 1905 h 19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5509" h="1906">
                <a:moveTo>
                  <a:pt x="5483" y="1905"/>
                </a:moveTo>
                <a:lnTo>
                  <a:pt x="5483" y="1905"/>
                </a:lnTo>
                <a:cubicBezTo>
                  <a:pt x="5469" y="1905"/>
                  <a:pt x="5458" y="1893"/>
                  <a:pt x="5458" y="1880"/>
                </a:cubicBezTo>
                <a:lnTo>
                  <a:pt x="5458" y="1366"/>
                </a:lnTo>
                <a:lnTo>
                  <a:pt x="5458" y="1366"/>
                </a:lnTo>
                <a:cubicBezTo>
                  <a:pt x="5458" y="1031"/>
                  <a:pt x="5186" y="758"/>
                  <a:pt x="4851" y="758"/>
                </a:cubicBezTo>
                <a:lnTo>
                  <a:pt x="734" y="758"/>
                </a:lnTo>
                <a:lnTo>
                  <a:pt x="734" y="758"/>
                </a:lnTo>
                <a:cubicBezTo>
                  <a:pt x="330" y="758"/>
                  <a:pt x="0" y="429"/>
                  <a:pt x="0" y="25"/>
                </a:cubicBezTo>
                <a:lnTo>
                  <a:pt x="0" y="25"/>
                </a:lnTo>
                <a:cubicBezTo>
                  <a:pt x="0" y="11"/>
                  <a:pt x="12" y="0"/>
                  <a:pt x="25" y="0"/>
                </a:cubicBezTo>
                <a:lnTo>
                  <a:pt x="25" y="0"/>
                </a:lnTo>
                <a:cubicBezTo>
                  <a:pt x="39" y="0"/>
                  <a:pt x="50" y="11"/>
                  <a:pt x="50" y="25"/>
                </a:cubicBezTo>
                <a:lnTo>
                  <a:pt x="50" y="25"/>
                </a:lnTo>
                <a:cubicBezTo>
                  <a:pt x="50" y="402"/>
                  <a:pt x="357" y="709"/>
                  <a:pt x="734" y="709"/>
                </a:cubicBezTo>
                <a:lnTo>
                  <a:pt x="4851" y="709"/>
                </a:lnTo>
                <a:lnTo>
                  <a:pt x="4851" y="709"/>
                </a:lnTo>
                <a:cubicBezTo>
                  <a:pt x="5213" y="709"/>
                  <a:pt x="5508" y="1004"/>
                  <a:pt x="5508" y="1366"/>
                </a:cubicBezTo>
                <a:lnTo>
                  <a:pt x="5508" y="1880"/>
                </a:lnTo>
                <a:lnTo>
                  <a:pt x="5508" y="1880"/>
                </a:lnTo>
                <a:cubicBezTo>
                  <a:pt x="5508" y="1893"/>
                  <a:pt x="5497" y="1905"/>
                  <a:pt x="5483" y="1905"/>
                </a:cubicBezTo>
              </a:path>
            </a:pathLst>
          </a:custGeom>
          <a:solidFill>
            <a:srgbClr val="08204C"/>
          </a:solidFill>
          <a:ln w="38100" cap="flat">
            <a:solidFill>
              <a:srgbClr val="08204C"/>
            </a:solidFill>
            <a:bevel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6" name="Freeform 26">
            <a:extLst>
              <a:ext uri="{FF2B5EF4-FFF2-40B4-BE49-F238E27FC236}">
                <a16:creationId xmlns:a16="http://schemas.microsoft.com/office/drawing/2014/main" id="{82587842-17BE-2236-F581-22CEA3409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5679" y="1900021"/>
            <a:ext cx="2726375" cy="1384637"/>
          </a:xfrm>
          <a:prstGeom prst="roundRect">
            <a:avLst/>
          </a:prstGeom>
          <a:solidFill>
            <a:srgbClr val="2DAD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8" name="Freeform 28">
            <a:extLst>
              <a:ext uri="{FF2B5EF4-FFF2-40B4-BE49-F238E27FC236}">
                <a16:creationId xmlns:a16="http://schemas.microsoft.com/office/drawing/2014/main" id="{6E95898F-DE01-20DF-1EE0-8F003228E0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9357" y="1900021"/>
            <a:ext cx="2726375" cy="1384637"/>
          </a:xfrm>
          <a:prstGeom prst="roundRect">
            <a:avLst/>
          </a:prstGeom>
          <a:solidFill>
            <a:srgbClr val="1073A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20" name="Freeform 30">
            <a:extLst>
              <a:ext uri="{FF2B5EF4-FFF2-40B4-BE49-F238E27FC236}">
                <a16:creationId xmlns:a16="http://schemas.microsoft.com/office/drawing/2014/main" id="{EE922B4B-8B3C-CA22-80F0-6A52175493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1012" y="3410535"/>
            <a:ext cx="116886" cy="116886"/>
          </a:xfrm>
          <a:custGeom>
            <a:avLst/>
            <a:gdLst>
              <a:gd name="T0" fmla="*/ 344 w 345"/>
              <a:gd name="T1" fmla="*/ 172 h 344"/>
              <a:gd name="T2" fmla="*/ 344 w 345"/>
              <a:gd name="T3" fmla="*/ 172 h 344"/>
              <a:gd name="T4" fmla="*/ 172 w 345"/>
              <a:gd name="T5" fmla="*/ 0 h 344"/>
              <a:gd name="T6" fmla="*/ 172 w 345"/>
              <a:gd name="T7" fmla="*/ 0 h 344"/>
              <a:gd name="T8" fmla="*/ 0 w 345"/>
              <a:gd name="T9" fmla="*/ 172 h 344"/>
              <a:gd name="T10" fmla="*/ 0 w 345"/>
              <a:gd name="T11" fmla="*/ 172 h 344"/>
              <a:gd name="T12" fmla="*/ 172 w 345"/>
              <a:gd name="T13" fmla="*/ 343 h 344"/>
              <a:gd name="T14" fmla="*/ 172 w 345"/>
              <a:gd name="T15" fmla="*/ 343 h 344"/>
              <a:gd name="T16" fmla="*/ 344 w 345"/>
              <a:gd name="T17" fmla="*/ 172 h 3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45" h="344">
                <a:moveTo>
                  <a:pt x="344" y="172"/>
                </a:moveTo>
                <a:lnTo>
                  <a:pt x="344" y="172"/>
                </a:lnTo>
                <a:cubicBezTo>
                  <a:pt x="344" y="76"/>
                  <a:pt x="267" y="0"/>
                  <a:pt x="172" y="0"/>
                </a:cubicBezTo>
                <a:lnTo>
                  <a:pt x="172" y="0"/>
                </a:lnTo>
                <a:cubicBezTo>
                  <a:pt x="77" y="0"/>
                  <a:pt x="0" y="76"/>
                  <a:pt x="0" y="172"/>
                </a:cubicBezTo>
                <a:lnTo>
                  <a:pt x="0" y="172"/>
                </a:lnTo>
                <a:cubicBezTo>
                  <a:pt x="0" y="266"/>
                  <a:pt x="77" y="343"/>
                  <a:pt x="172" y="343"/>
                </a:cubicBezTo>
                <a:lnTo>
                  <a:pt x="172" y="343"/>
                </a:lnTo>
                <a:cubicBezTo>
                  <a:pt x="267" y="343"/>
                  <a:pt x="344" y="266"/>
                  <a:pt x="344" y="172"/>
                </a:cubicBezTo>
              </a:path>
            </a:pathLst>
          </a:custGeom>
          <a:solidFill>
            <a:srgbClr val="6ACEE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21" name="Freeform 31">
            <a:extLst>
              <a:ext uri="{FF2B5EF4-FFF2-40B4-BE49-F238E27FC236}">
                <a16:creationId xmlns:a16="http://schemas.microsoft.com/office/drawing/2014/main" id="{62342286-A6C4-B410-9449-35E879D45A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102" y="3410535"/>
            <a:ext cx="116886" cy="116886"/>
          </a:xfrm>
          <a:custGeom>
            <a:avLst/>
            <a:gdLst>
              <a:gd name="T0" fmla="*/ 344 w 345"/>
              <a:gd name="T1" fmla="*/ 172 h 344"/>
              <a:gd name="T2" fmla="*/ 344 w 345"/>
              <a:gd name="T3" fmla="*/ 172 h 344"/>
              <a:gd name="T4" fmla="*/ 172 w 345"/>
              <a:gd name="T5" fmla="*/ 0 h 344"/>
              <a:gd name="T6" fmla="*/ 172 w 345"/>
              <a:gd name="T7" fmla="*/ 0 h 344"/>
              <a:gd name="T8" fmla="*/ 0 w 345"/>
              <a:gd name="T9" fmla="*/ 172 h 344"/>
              <a:gd name="T10" fmla="*/ 0 w 345"/>
              <a:gd name="T11" fmla="*/ 172 h 344"/>
              <a:gd name="T12" fmla="*/ 172 w 345"/>
              <a:gd name="T13" fmla="*/ 343 h 344"/>
              <a:gd name="T14" fmla="*/ 172 w 345"/>
              <a:gd name="T15" fmla="*/ 343 h 344"/>
              <a:gd name="T16" fmla="*/ 344 w 345"/>
              <a:gd name="T17" fmla="*/ 172 h 3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45" h="344">
                <a:moveTo>
                  <a:pt x="344" y="172"/>
                </a:moveTo>
                <a:lnTo>
                  <a:pt x="344" y="172"/>
                </a:lnTo>
                <a:cubicBezTo>
                  <a:pt x="344" y="76"/>
                  <a:pt x="267" y="0"/>
                  <a:pt x="172" y="0"/>
                </a:cubicBezTo>
                <a:lnTo>
                  <a:pt x="172" y="0"/>
                </a:lnTo>
                <a:cubicBezTo>
                  <a:pt x="78" y="0"/>
                  <a:pt x="0" y="76"/>
                  <a:pt x="0" y="172"/>
                </a:cubicBezTo>
                <a:lnTo>
                  <a:pt x="0" y="172"/>
                </a:lnTo>
                <a:cubicBezTo>
                  <a:pt x="0" y="266"/>
                  <a:pt x="78" y="343"/>
                  <a:pt x="172" y="343"/>
                </a:cubicBezTo>
                <a:lnTo>
                  <a:pt x="172" y="343"/>
                </a:lnTo>
                <a:cubicBezTo>
                  <a:pt x="267" y="343"/>
                  <a:pt x="344" y="266"/>
                  <a:pt x="344" y="172"/>
                </a:cubicBezTo>
              </a:path>
            </a:pathLst>
          </a:custGeom>
          <a:solidFill>
            <a:srgbClr val="1073A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23" name="Freeform 33">
            <a:extLst>
              <a:ext uri="{FF2B5EF4-FFF2-40B4-BE49-F238E27FC236}">
                <a16:creationId xmlns:a16="http://schemas.microsoft.com/office/drawing/2014/main" id="{D0176D4E-C479-6473-E21D-BA877523B4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9406" y="4041414"/>
            <a:ext cx="116886" cy="116886"/>
          </a:xfrm>
          <a:custGeom>
            <a:avLst/>
            <a:gdLst>
              <a:gd name="T0" fmla="*/ 344 w 345"/>
              <a:gd name="T1" fmla="*/ 172 h 345"/>
              <a:gd name="T2" fmla="*/ 344 w 345"/>
              <a:gd name="T3" fmla="*/ 172 h 345"/>
              <a:gd name="T4" fmla="*/ 172 w 345"/>
              <a:gd name="T5" fmla="*/ 0 h 345"/>
              <a:gd name="T6" fmla="*/ 172 w 345"/>
              <a:gd name="T7" fmla="*/ 0 h 345"/>
              <a:gd name="T8" fmla="*/ 0 w 345"/>
              <a:gd name="T9" fmla="*/ 172 h 345"/>
              <a:gd name="T10" fmla="*/ 0 w 345"/>
              <a:gd name="T11" fmla="*/ 172 h 345"/>
              <a:gd name="T12" fmla="*/ 172 w 345"/>
              <a:gd name="T13" fmla="*/ 344 h 345"/>
              <a:gd name="T14" fmla="*/ 172 w 345"/>
              <a:gd name="T15" fmla="*/ 344 h 345"/>
              <a:gd name="T16" fmla="*/ 344 w 345"/>
              <a:gd name="T17" fmla="*/ 172 h 3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45" h="345">
                <a:moveTo>
                  <a:pt x="344" y="172"/>
                </a:moveTo>
                <a:lnTo>
                  <a:pt x="344" y="172"/>
                </a:lnTo>
                <a:cubicBezTo>
                  <a:pt x="344" y="77"/>
                  <a:pt x="267" y="0"/>
                  <a:pt x="172" y="0"/>
                </a:cubicBezTo>
                <a:lnTo>
                  <a:pt x="172" y="0"/>
                </a:lnTo>
                <a:cubicBezTo>
                  <a:pt x="77" y="0"/>
                  <a:pt x="0" y="77"/>
                  <a:pt x="0" y="172"/>
                </a:cubicBezTo>
                <a:lnTo>
                  <a:pt x="0" y="172"/>
                </a:lnTo>
                <a:cubicBezTo>
                  <a:pt x="0" y="267"/>
                  <a:pt x="77" y="344"/>
                  <a:pt x="172" y="344"/>
                </a:cubicBezTo>
                <a:lnTo>
                  <a:pt x="172" y="344"/>
                </a:lnTo>
                <a:cubicBezTo>
                  <a:pt x="267" y="344"/>
                  <a:pt x="344" y="267"/>
                  <a:pt x="344" y="172"/>
                </a:cubicBezTo>
              </a:path>
            </a:pathLst>
          </a:custGeom>
          <a:solidFill>
            <a:srgbClr val="6ACEE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9" name="Freeform 34">
            <a:extLst>
              <a:ext uri="{FF2B5EF4-FFF2-40B4-BE49-F238E27FC236}">
                <a16:creationId xmlns:a16="http://schemas.microsoft.com/office/drawing/2014/main" id="{CE27ABAA-F1A6-5909-0D8B-6C0432A8CB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3659" y="4041414"/>
            <a:ext cx="116886" cy="116886"/>
          </a:xfrm>
          <a:custGeom>
            <a:avLst/>
            <a:gdLst>
              <a:gd name="T0" fmla="*/ 344 w 345"/>
              <a:gd name="T1" fmla="*/ 172 h 345"/>
              <a:gd name="T2" fmla="*/ 344 w 345"/>
              <a:gd name="T3" fmla="*/ 172 h 345"/>
              <a:gd name="T4" fmla="*/ 172 w 345"/>
              <a:gd name="T5" fmla="*/ 0 h 345"/>
              <a:gd name="T6" fmla="*/ 172 w 345"/>
              <a:gd name="T7" fmla="*/ 0 h 345"/>
              <a:gd name="T8" fmla="*/ 0 w 345"/>
              <a:gd name="T9" fmla="*/ 172 h 345"/>
              <a:gd name="T10" fmla="*/ 0 w 345"/>
              <a:gd name="T11" fmla="*/ 172 h 345"/>
              <a:gd name="T12" fmla="*/ 172 w 345"/>
              <a:gd name="T13" fmla="*/ 344 h 345"/>
              <a:gd name="T14" fmla="*/ 172 w 345"/>
              <a:gd name="T15" fmla="*/ 344 h 345"/>
              <a:gd name="T16" fmla="*/ 344 w 345"/>
              <a:gd name="T17" fmla="*/ 172 h 3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45" h="345">
                <a:moveTo>
                  <a:pt x="344" y="172"/>
                </a:moveTo>
                <a:lnTo>
                  <a:pt x="344" y="172"/>
                </a:lnTo>
                <a:cubicBezTo>
                  <a:pt x="344" y="77"/>
                  <a:pt x="267" y="0"/>
                  <a:pt x="172" y="0"/>
                </a:cubicBezTo>
                <a:lnTo>
                  <a:pt x="172" y="0"/>
                </a:lnTo>
                <a:cubicBezTo>
                  <a:pt x="77" y="0"/>
                  <a:pt x="0" y="77"/>
                  <a:pt x="0" y="172"/>
                </a:cubicBezTo>
                <a:lnTo>
                  <a:pt x="0" y="172"/>
                </a:lnTo>
                <a:cubicBezTo>
                  <a:pt x="0" y="267"/>
                  <a:pt x="77" y="344"/>
                  <a:pt x="172" y="344"/>
                </a:cubicBezTo>
                <a:lnTo>
                  <a:pt x="172" y="344"/>
                </a:lnTo>
                <a:cubicBezTo>
                  <a:pt x="267" y="344"/>
                  <a:pt x="344" y="267"/>
                  <a:pt x="344" y="172"/>
                </a:cubicBezTo>
              </a:path>
            </a:pathLst>
          </a:custGeom>
          <a:solidFill>
            <a:srgbClr val="1073A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460AD50-7C1F-8011-3C5B-CAD36CCE04B2}"/>
              </a:ext>
            </a:extLst>
          </p:cNvPr>
          <p:cNvSpPr txBox="1"/>
          <p:nvPr/>
        </p:nvSpPr>
        <p:spPr>
          <a:xfrm>
            <a:off x="5159515" y="4650246"/>
            <a:ext cx="1869423" cy="59554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3300" b="1" dirty="0">
                <a:solidFill>
                  <a:srgbClr val="FFFFFF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rPr>
              <a:t>Product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D7C562-88D0-FEF0-DA38-1B4B043736E1}"/>
              </a:ext>
            </a:extLst>
          </p:cNvPr>
          <p:cNvSpPr txBox="1"/>
          <p:nvPr/>
        </p:nvSpPr>
        <p:spPr>
          <a:xfrm>
            <a:off x="1498801" y="2110142"/>
            <a:ext cx="2547493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rPr>
              <a:t>Guarantee 10 missions</a:t>
            </a:r>
          </a:p>
        </p:txBody>
      </p:sp>
      <p:sp>
        <p:nvSpPr>
          <p:cNvPr id="45" name="Subtitle 2">
            <a:extLst>
              <a:ext uri="{FF2B5EF4-FFF2-40B4-BE49-F238E27FC236}">
                <a16:creationId xmlns:a16="http://schemas.microsoft.com/office/drawing/2014/main" id="{BCA37376-9B05-685A-72EE-4EE06095CEF5}"/>
              </a:ext>
            </a:extLst>
          </p:cNvPr>
          <p:cNvSpPr txBox="1">
            <a:spLocks/>
          </p:cNvSpPr>
          <p:nvPr/>
        </p:nvSpPr>
        <p:spPr>
          <a:xfrm>
            <a:off x="1685471" y="2457668"/>
            <a:ext cx="2174148" cy="1197444"/>
          </a:xfrm>
          <a:prstGeom prst="rect">
            <a:avLst/>
          </a:prstGeom>
        </p:spPr>
        <p:txBody>
          <a:bodyPr vert="horz" wrap="square" lIns="45720" tIns="22860" rIns="45720" bIns="4572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050"/>
              </a:lnSpc>
            </a:pPr>
            <a:r>
              <a:rPr lang="en-US" sz="1250" dirty="0">
                <a:solidFill>
                  <a:srgbClr val="FFFFFF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Based on 3 key elements:</a:t>
            </a:r>
          </a:p>
          <a:p>
            <a:pPr>
              <a:lnSpc>
                <a:spcPts val="2050"/>
              </a:lnSpc>
            </a:pPr>
            <a:r>
              <a:rPr lang="en-US" sz="1250" dirty="0">
                <a:solidFill>
                  <a:srgbClr val="FFFFFF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Private + public + engaging sport</a:t>
            </a:r>
          </a:p>
          <a:p>
            <a:pPr>
              <a:lnSpc>
                <a:spcPts val="2050"/>
              </a:lnSpc>
            </a:pPr>
            <a:endParaRPr lang="en-US" sz="1250" dirty="0">
              <a:solidFill>
                <a:srgbClr val="FFFFFF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5452876-3770-10C8-5396-03E179EF2F5B}"/>
              </a:ext>
            </a:extLst>
          </p:cNvPr>
          <p:cNvSpPr txBox="1"/>
          <p:nvPr/>
        </p:nvSpPr>
        <p:spPr>
          <a:xfrm>
            <a:off x="8337852" y="1863921"/>
            <a:ext cx="2438488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rPr>
              <a:t>Introduce new sports </a:t>
            </a:r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rPr>
              <a:t>in missions</a:t>
            </a:r>
          </a:p>
        </p:txBody>
      </p:sp>
      <p:sp>
        <p:nvSpPr>
          <p:cNvPr id="47" name="Subtitle 2">
            <a:extLst>
              <a:ext uri="{FF2B5EF4-FFF2-40B4-BE49-F238E27FC236}">
                <a16:creationId xmlns:a16="http://schemas.microsoft.com/office/drawing/2014/main" id="{505F7C0D-AE0F-15A2-DB3D-4435A16E82F6}"/>
              </a:ext>
            </a:extLst>
          </p:cNvPr>
          <p:cNvSpPr txBox="1">
            <a:spLocks/>
          </p:cNvSpPr>
          <p:nvPr/>
        </p:nvSpPr>
        <p:spPr>
          <a:xfrm>
            <a:off x="8470018" y="2457668"/>
            <a:ext cx="2174148" cy="581891"/>
          </a:xfrm>
          <a:prstGeom prst="rect">
            <a:avLst/>
          </a:prstGeom>
        </p:spPr>
        <p:txBody>
          <a:bodyPr vert="horz" wrap="square" lIns="45720" tIns="22860" rIns="45720" bIns="4572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050"/>
              </a:lnSpc>
            </a:pPr>
            <a:r>
              <a:rPr lang="en-US" sz="1250" dirty="0">
                <a:solidFill>
                  <a:srgbClr val="FFFFFF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Analyze Mexican engaging sports: Box, Baseball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A7776C-D4BB-D1DF-45D0-328C7A046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800" y="0"/>
            <a:ext cx="1414462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170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B77D1-CB01-C51B-0B4A-6394D0423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ACC418-7893-BC6C-F8B9-5BF692C97553}"/>
              </a:ext>
            </a:extLst>
          </p:cNvPr>
          <p:cNvSpPr txBox="1"/>
          <p:nvPr/>
        </p:nvSpPr>
        <p:spPr>
          <a:xfrm>
            <a:off x="762000" y="241210"/>
            <a:ext cx="1811714" cy="6594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MX"/>
            </a:defPPr>
            <a:lvl1pPr defTabSz="914217">
              <a:lnSpc>
                <a:spcPts val="5000"/>
              </a:lnSpc>
              <a:defRPr sz="2400" b="1">
                <a:solidFill>
                  <a:srgbClr val="08204C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defRPr>
            </a:lvl1pPr>
          </a:lstStyle>
          <a:p>
            <a:r>
              <a:rPr lang="en-US" dirty="0"/>
              <a:t>Next steps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09DA6B-7D44-D5BD-D4E0-06E2FB551DC1}"/>
              </a:ext>
            </a:extLst>
          </p:cNvPr>
          <p:cNvSpPr txBox="1"/>
          <p:nvPr/>
        </p:nvSpPr>
        <p:spPr>
          <a:xfrm>
            <a:off x="762000" y="835905"/>
            <a:ext cx="1609158" cy="292388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1300" spc="5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For Product Team</a:t>
            </a:r>
          </a:p>
        </p:txBody>
      </p:sp>
      <p:sp>
        <p:nvSpPr>
          <p:cNvPr id="35" name="Freeform 7">
            <a:extLst>
              <a:ext uri="{FF2B5EF4-FFF2-40B4-BE49-F238E27FC236}">
                <a16:creationId xmlns:a16="http://schemas.microsoft.com/office/drawing/2014/main" id="{05AD27DA-E547-095F-81E8-ED26050D188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16200000">
            <a:off x="2948435" y="3196226"/>
            <a:ext cx="1098723" cy="234612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ACEE3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7" name="Freeform 7">
            <a:extLst>
              <a:ext uri="{FF2B5EF4-FFF2-40B4-BE49-F238E27FC236}">
                <a16:creationId xmlns:a16="http://schemas.microsoft.com/office/drawing/2014/main" id="{C7C5931A-104B-F7EC-9F2D-D865180D759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16200000">
            <a:off x="2948434" y="1917272"/>
            <a:ext cx="1098723" cy="234612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DADE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9" name="Freeform 7">
            <a:extLst>
              <a:ext uri="{FF2B5EF4-FFF2-40B4-BE49-F238E27FC236}">
                <a16:creationId xmlns:a16="http://schemas.microsoft.com/office/drawing/2014/main" id="{34947857-319C-13B2-832A-60BBB894477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16200000">
            <a:off x="2948434" y="638317"/>
            <a:ext cx="1098723" cy="234612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073A3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2" name="Shape 2748">
            <a:extLst>
              <a:ext uri="{FF2B5EF4-FFF2-40B4-BE49-F238E27FC236}">
                <a16:creationId xmlns:a16="http://schemas.microsoft.com/office/drawing/2014/main" id="{D571B290-6E36-1873-7707-2A03144B23BF}"/>
              </a:ext>
            </a:extLst>
          </p:cNvPr>
          <p:cNvSpPr>
            <a:spLocks noChangeAspect="1"/>
          </p:cNvSpPr>
          <p:nvPr/>
        </p:nvSpPr>
        <p:spPr>
          <a:xfrm>
            <a:off x="2654534" y="4159715"/>
            <a:ext cx="419144" cy="4191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8280" y="18579"/>
                </a:moveTo>
                <a:cubicBezTo>
                  <a:pt x="20323" y="16614"/>
                  <a:pt x="21600" y="13859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cubicBezTo>
                  <a:pt x="4836" y="0"/>
                  <a:pt x="0" y="4835"/>
                  <a:pt x="0" y="10800"/>
                </a:cubicBezTo>
                <a:cubicBezTo>
                  <a:pt x="0" y="13859"/>
                  <a:pt x="1277" y="16614"/>
                  <a:pt x="3320" y="18579"/>
                </a:cubicBezTo>
                <a:lnTo>
                  <a:pt x="2107" y="20762"/>
                </a:lnTo>
                <a:cubicBezTo>
                  <a:pt x="2019" y="20851"/>
                  <a:pt x="1964" y="20974"/>
                  <a:pt x="1964" y="21109"/>
                </a:cubicBezTo>
                <a:cubicBezTo>
                  <a:pt x="1964" y="21380"/>
                  <a:pt x="2184" y="21600"/>
                  <a:pt x="2455" y="21600"/>
                </a:cubicBezTo>
                <a:cubicBezTo>
                  <a:pt x="2590" y="21600"/>
                  <a:pt x="2713" y="21545"/>
                  <a:pt x="2802" y="21456"/>
                </a:cubicBezTo>
                <a:cubicBezTo>
                  <a:pt x="2858" y="21400"/>
                  <a:pt x="2894" y="21327"/>
                  <a:pt x="2917" y="21248"/>
                </a:cubicBezTo>
                <a:lnTo>
                  <a:pt x="4044" y="19219"/>
                </a:lnTo>
                <a:cubicBezTo>
                  <a:pt x="5895" y="20706"/>
                  <a:pt x="8242" y="21600"/>
                  <a:pt x="10800" y="21600"/>
                </a:cubicBezTo>
                <a:cubicBezTo>
                  <a:pt x="13358" y="21600"/>
                  <a:pt x="15705" y="20706"/>
                  <a:pt x="17555" y="19219"/>
                </a:cubicBezTo>
                <a:lnTo>
                  <a:pt x="18683" y="21248"/>
                </a:lnTo>
                <a:cubicBezTo>
                  <a:pt x="18743" y="21450"/>
                  <a:pt x="18923" y="21600"/>
                  <a:pt x="19145" y="21600"/>
                </a:cubicBezTo>
                <a:cubicBezTo>
                  <a:pt x="19416" y="21600"/>
                  <a:pt x="19636" y="21380"/>
                  <a:pt x="19636" y="21109"/>
                </a:cubicBezTo>
                <a:cubicBezTo>
                  <a:pt x="19636" y="20974"/>
                  <a:pt x="19581" y="20851"/>
                  <a:pt x="19493" y="20762"/>
                </a:cubicBezTo>
                <a:cubicBezTo>
                  <a:pt x="19493" y="20762"/>
                  <a:pt x="18280" y="18579"/>
                  <a:pt x="18280" y="18579"/>
                </a:cubicBezTo>
                <a:close/>
                <a:moveTo>
                  <a:pt x="10800" y="16691"/>
                </a:moveTo>
                <a:cubicBezTo>
                  <a:pt x="7547" y="16691"/>
                  <a:pt x="4909" y="14053"/>
                  <a:pt x="4909" y="10800"/>
                </a:cubicBezTo>
                <a:cubicBezTo>
                  <a:pt x="4909" y="7547"/>
                  <a:pt x="7547" y="4909"/>
                  <a:pt x="10800" y="4909"/>
                </a:cubicBezTo>
                <a:cubicBezTo>
                  <a:pt x="14053" y="4909"/>
                  <a:pt x="16691" y="7547"/>
                  <a:pt x="16691" y="10800"/>
                </a:cubicBezTo>
                <a:cubicBezTo>
                  <a:pt x="16691" y="14053"/>
                  <a:pt x="14053" y="16691"/>
                  <a:pt x="10800" y="16691"/>
                </a:cubicBezTo>
                <a:moveTo>
                  <a:pt x="10800" y="3927"/>
                </a:moveTo>
                <a:cubicBezTo>
                  <a:pt x="7004" y="3927"/>
                  <a:pt x="3927" y="7004"/>
                  <a:pt x="3927" y="10800"/>
                </a:cubicBezTo>
                <a:cubicBezTo>
                  <a:pt x="3927" y="14596"/>
                  <a:pt x="7004" y="17673"/>
                  <a:pt x="10800" y="17673"/>
                </a:cubicBezTo>
                <a:cubicBezTo>
                  <a:pt x="14596" y="17673"/>
                  <a:pt x="17673" y="14596"/>
                  <a:pt x="17673" y="10800"/>
                </a:cubicBezTo>
                <a:cubicBezTo>
                  <a:pt x="17673" y="7004"/>
                  <a:pt x="14596" y="3927"/>
                  <a:pt x="10800" y="3927"/>
                </a:cubicBezTo>
                <a:moveTo>
                  <a:pt x="10800" y="12764"/>
                </a:moveTo>
                <a:cubicBezTo>
                  <a:pt x="9716" y="12764"/>
                  <a:pt x="8836" y="11884"/>
                  <a:pt x="8836" y="10800"/>
                </a:cubicBezTo>
                <a:cubicBezTo>
                  <a:pt x="8836" y="9716"/>
                  <a:pt x="9716" y="8836"/>
                  <a:pt x="10800" y="8836"/>
                </a:cubicBezTo>
                <a:cubicBezTo>
                  <a:pt x="11884" y="8836"/>
                  <a:pt x="12764" y="9716"/>
                  <a:pt x="12764" y="10800"/>
                </a:cubicBezTo>
                <a:cubicBezTo>
                  <a:pt x="12764" y="11884"/>
                  <a:pt x="11884" y="12764"/>
                  <a:pt x="10800" y="12764"/>
                </a:cubicBezTo>
                <a:moveTo>
                  <a:pt x="10800" y="7855"/>
                </a:moveTo>
                <a:cubicBezTo>
                  <a:pt x="9173" y="7855"/>
                  <a:pt x="7855" y="9173"/>
                  <a:pt x="7855" y="10800"/>
                </a:cubicBezTo>
                <a:cubicBezTo>
                  <a:pt x="7855" y="12427"/>
                  <a:pt x="9173" y="13745"/>
                  <a:pt x="10800" y="13745"/>
                </a:cubicBezTo>
                <a:cubicBezTo>
                  <a:pt x="12427" y="13745"/>
                  <a:pt x="13745" y="12427"/>
                  <a:pt x="13745" y="10800"/>
                </a:cubicBezTo>
                <a:cubicBezTo>
                  <a:pt x="13745" y="9173"/>
                  <a:pt x="12427" y="7855"/>
                  <a:pt x="10800" y="7855"/>
                </a:cubicBezTo>
              </a:path>
            </a:pathLst>
          </a:custGeom>
          <a:solidFill>
            <a:srgbClr val="08204C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marL="0" marR="0" lvl="0" indent="0" defTabSz="22853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Open Sans Semibold" charset="0"/>
              <a:ea typeface="Open Sans Semibold" charset="0"/>
              <a:cs typeface="Open Sans Semibold" charset="0"/>
              <a:sym typeface="Gill San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08FDBE3-76F5-9F2F-9567-07EFD982847C}"/>
              </a:ext>
            </a:extLst>
          </p:cNvPr>
          <p:cNvSpPr txBox="1"/>
          <p:nvPr/>
        </p:nvSpPr>
        <p:spPr>
          <a:xfrm>
            <a:off x="3517944" y="1362873"/>
            <a:ext cx="889988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 defTabSz="914217"/>
            <a:r>
              <a:rPr lang="en-US" sz="1600" b="1" dirty="0">
                <a:solidFill>
                  <a:srgbClr val="FFFFFF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rPr>
              <a:t>Option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1FD1DC7-B444-4063-4FD7-96DFD310C875}"/>
              </a:ext>
            </a:extLst>
          </p:cNvPr>
          <p:cNvSpPr txBox="1"/>
          <p:nvPr/>
        </p:nvSpPr>
        <p:spPr>
          <a:xfrm>
            <a:off x="3517943" y="2641827"/>
            <a:ext cx="889988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 defTabSz="914217"/>
            <a:r>
              <a:rPr lang="en-US" sz="1600" b="1" dirty="0">
                <a:solidFill>
                  <a:srgbClr val="FFFFFF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rPr>
              <a:t>Option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A9149FE-C1A7-30B2-CC2A-3021F4CE5C19}"/>
              </a:ext>
            </a:extLst>
          </p:cNvPr>
          <p:cNvSpPr txBox="1"/>
          <p:nvPr/>
        </p:nvSpPr>
        <p:spPr>
          <a:xfrm>
            <a:off x="3517943" y="3920782"/>
            <a:ext cx="889988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 defTabSz="914217"/>
            <a:r>
              <a:rPr lang="en-US" sz="1600" b="1" dirty="0">
                <a:solidFill>
                  <a:srgbClr val="FFFFFF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rPr>
              <a:t>Option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D420560-DFDF-D03D-A3C9-A01A363531A4}"/>
              </a:ext>
            </a:extLst>
          </p:cNvPr>
          <p:cNvSpPr txBox="1"/>
          <p:nvPr/>
        </p:nvSpPr>
        <p:spPr>
          <a:xfrm>
            <a:off x="3606911" y="4259336"/>
            <a:ext cx="712054" cy="60016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ctr" defTabSz="914217"/>
            <a:r>
              <a:rPr lang="en-US" sz="3300" b="1" dirty="0">
                <a:solidFill>
                  <a:srgbClr val="FFFFFF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rPr>
              <a:t>03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AAA99F4-BC3E-B114-FA52-970AC809B586}"/>
              </a:ext>
            </a:extLst>
          </p:cNvPr>
          <p:cNvSpPr txBox="1"/>
          <p:nvPr/>
        </p:nvSpPr>
        <p:spPr>
          <a:xfrm>
            <a:off x="3611719" y="2979990"/>
            <a:ext cx="702436" cy="60016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ctr" defTabSz="914217"/>
            <a:r>
              <a:rPr lang="en-US" sz="3300" b="1" dirty="0">
                <a:solidFill>
                  <a:srgbClr val="FFFFFF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rPr>
              <a:t>02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46B2FAE-0336-A00F-6048-DF888D68ADF8}"/>
              </a:ext>
            </a:extLst>
          </p:cNvPr>
          <p:cNvSpPr txBox="1"/>
          <p:nvPr/>
        </p:nvSpPr>
        <p:spPr>
          <a:xfrm>
            <a:off x="3656603" y="1701232"/>
            <a:ext cx="612668" cy="60016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ctr" defTabSz="914217"/>
            <a:r>
              <a:rPr lang="en-US" sz="3300" b="1" dirty="0">
                <a:solidFill>
                  <a:srgbClr val="FFFFFF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rPr>
              <a:t>01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DF440AF-B245-1D32-BE13-2A03E07B8F3F}"/>
              </a:ext>
            </a:extLst>
          </p:cNvPr>
          <p:cNvSpPr txBox="1"/>
          <p:nvPr/>
        </p:nvSpPr>
        <p:spPr>
          <a:xfrm>
            <a:off x="4981154" y="1333668"/>
            <a:ext cx="2964273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defTabSz="914217"/>
            <a:r>
              <a:rPr lang="en-US" sz="1600" b="1" dirty="0">
                <a:solidFill>
                  <a:srgbClr val="08204C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rPr>
              <a:t>Strengthen on what works </a:t>
            </a:r>
          </a:p>
        </p:txBody>
      </p:sp>
      <p:sp>
        <p:nvSpPr>
          <p:cNvPr id="54" name="Subtitle 2">
            <a:extLst>
              <a:ext uri="{FF2B5EF4-FFF2-40B4-BE49-F238E27FC236}">
                <a16:creationId xmlns:a16="http://schemas.microsoft.com/office/drawing/2014/main" id="{B6B10F46-FF0C-C6A0-68EB-8A9CE66D0528}"/>
              </a:ext>
            </a:extLst>
          </p:cNvPr>
          <p:cNvSpPr txBox="1">
            <a:spLocks/>
          </p:cNvSpPr>
          <p:nvPr/>
        </p:nvSpPr>
        <p:spPr>
          <a:xfrm>
            <a:off x="4981154" y="1672222"/>
            <a:ext cx="4886113" cy="629981"/>
          </a:xfrm>
          <a:prstGeom prst="rect">
            <a:avLst/>
          </a:prstGeom>
        </p:spPr>
        <p:txBody>
          <a:bodyPr vert="horz" wrap="square" lIns="45720" tIns="22860" rIns="45720" bIns="4572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543818">
              <a:lnSpc>
                <a:spcPts val="2050"/>
              </a:lnSpc>
            </a:pP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Increase and maintain 10 missions every week</a:t>
            </a:r>
          </a:p>
          <a:p>
            <a:pPr algn="l" defTabSz="543818">
              <a:lnSpc>
                <a:spcPts val="2050"/>
              </a:lnSpc>
            </a:pP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Always include private and public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A63666F-77CA-E062-0451-E02842B2E485}"/>
              </a:ext>
            </a:extLst>
          </p:cNvPr>
          <p:cNvSpPr txBox="1"/>
          <p:nvPr/>
        </p:nvSpPr>
        <p:spPr>
          <a:xfrm>
            <a:off x="4981154" y="2612622"/>
            <a:ext cx="2694969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defTabSz="914217"/>
            <a:r>
              <a:rPr lang="en-US" sz="1600" b="1" dirty="0">
                <a:solidFill>
                  <a:srgbClr val="08204C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rPr>
              <a:t>Diversification of sports </a:t>
            </a:r>
          </a:p>
        </p:txBody>
      </p:sp>
      <p:sp>
        <p:nvSpPr>
          <p:cNvPr id="56" name="Subtitle 2">
            <a:extLst>
              <a:ext uri="{FF2B5EF4-FFF2-40B4-BE49-F238E27FC236}">
                <a16:creationId xmlns:a16="http://schemas.microsoft.com/office/drawing/2014/main" id="{20C237A6-AA57-DC68-D658-1EB9BD7CFCBE}"/>
              </a:ext>
            </a:extLst>
          </p:cNvPr>
          <p:cNvSpPr txBox="1">
            <a:spLocks/>
          </p:cNvSpPr>
          <p:nvPr/>
        </p:nvSpPr>
        <p:spPr>
          <a:xfrm>
            <a:off x="4981154" y="2951176"/>
            <a:ext cx="4886113" cy="581891"/>
          </a:xfrm>
          <a:prstGeom prst="rect">
            <a:avLst/>
          </a:prstGeom>
        </p:spPr>
        <p:txBody>
          <a:bodyPr vert="horz" wrap="square" lIns="45720" tIns="22860" rIns="45720" bIns="4572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543818">
              <a:lnSpc>
                <a:spcPts val="2050"/>
              </a:lnSpc>
            </a:pP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Research and </a:t>
            </a:r>
            <a:r>
              <a:rPr lang="en-US" sz="1400" b="1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test 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sports highly appealing to Mexican market.	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0DC72B1-FD27-9521-6CCD-7F87C905DA61}"/>
              </a:ext>
            </a:extLst>
          </p:cNvPr>
          <p:cNvSpPr txBox="1"/>
          <p:nvPr/>
        </p:nvSpPr>
        <p:spPr>
          <a:xfrm>
            <a:off x="4981154" y="3891576"/>
            <a:ext cx="2345514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defTabSz="914217"/>
            <a:r>
              <a:rPr lang="en-US" sz="1600" b="1" dirty="0">
                <a:solidFill>
                  <a:srgbClr val="08204C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rPr>
              <a:t>40% Conversion rate</a:t>
            </a:r>
          </a:p>
        </p:txBody>
      </p:sp>
      <p:sp>
        <p:nvSpPr>
          <p:cNvPr id="58" name="Subtitle 2">
            <a:extLst>
              <a:ext uri="{FF2B5EF4-FFF2-40B4-BE49-F238E27FC236}">
                <a16:creationId xmlns:a16="http://schemas.microsoft.com/office/drawing/2014/main" id="{E8850DAB-0F23-6946-1473-DE49FFC4A0E7}"/>
              </a:ext>
            </a:extLst>
          </p:cNvPr>
          <p:cNvSpPr txBox="1">
            <a:spLocks/>
          </p:cNvSpPr>
          <p:nvPr/>
        </p:nvSpPr>
        <p:spPr>
          <a:xfrm>
            <a:off x="4981154" y="4230130"/>
            <a:ext cx="4886113" cy="317587"/>
          </a:xfrm>
          <a:prstGeom prst="rect">
            <a:avLst/>
          </a:prstGeom>
        </p:spPr>
        <p:txBody>
          <a:bodyPr vert="horz" wrap="square" lIns="45720" tIns="22860" rIns="45720" bIns="4572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543818">
              <a:lnSpc>
                <a:spcPts val="2050"/>
              </a:lnSpc>
            </a:pP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As a definition of success.</a:t>
            </a:r>
          </a:p>
        </p:txBody>
      </p:sp>
      <p:sp>
        <p:nvSpPr>
          <p:cNvPr id="64" name="Shape 2748">
            <a:extLst>
              <a:ext uri="{FF2B5EF4-FFF2-40B4-BE49-F238E27FC236}">
                <a16:creationId xmlns:a16="http://schemas.microsoft.com/office/drawing/2014/main" id="{97A91CAE-68B5-15A3-3A81-61B8B79522CC}"/>
              </a:ext>
            </a:extLst>
          </p:cNvPr>
          <p:cNvSpPr>
            <a:spLocks noChangeAspect="1"/>
          </p:cNvSpPr>
          <p:nvPr/>
        </p:nvSpPr>
        <p:spPr>
          <a:xfrm>
            <a:off x="2654534" y="2822342"/>
            <a:ext cx="419144" cy="4191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8280" y="18579"/>
                </a:moveTo>
                <a:cubicBezTo>
                  <a:pt x="20323" y="16614"/>
                  <a:pt x="21600" y="13859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cubicBezTo>
                  <a:pt x="4836" y="0"/>
                  <a:pt x="0" y="4835"/>
                  <a:pt x="0" y="10800"/>
                </a:cubicBezTo>
                <a:cubicBezTo>
                  <a:pt x="0" y="13859"/>
                  <a:pt x="1277" y="16614"/>
                  <a:pt x="3320" y="18579"/>
                </a:cubicBezTo>
                <a:lnTo>
                  <a:pt x="2107" y="20762"/>
                </a:lnTo>
                <a:cubicBezTo>
                  <a:pt x="2019" y="20851"/>
                  <a:pt x="1964" y="20974"/>
                  <a:pt x="1964" y="21109"/>
                </a:cubicBezTo>
                <a:cubicBezTo>
                  <a:pt x="1964" y="21380"/>
                  <a:pt x="2184" y="21600"/>
                  <a:pt x="2455" y="21600"/>
                </a:cubicBezTo>
                <a:cubicBezTo>
                  <a:pt x="2590" y="21600"/>
                  <a:pt x="2713" y="21545"/>
                  <a:pt x="2802" y="21456"/>
                </a:cubicBezTo>
                <a:cubicBezTo>
                  <a:pt x="2858" y="21400"/>
                  <a:pt x="2894" y="21327"/>
                  <a:pt x="2917" y="21248"/>
                </a:cubicBezTo>
                <a:lnTo>
                  <a:pt x="4044" y="19219"/>
                </a:lnTo>
                <a:cubicBezTo>
                  <a:pt x="5895" y="20706"/>
                  <a:pt x="8242" y="21600"/>
                  <a:pt x="10800" y="21600"/>
                </a:cubicBezTo>
                <a:cubicBezTo>
                  <a:pt x="13358" y="21600"/>
                  <a:pt x="15705" y="20706"/>
                  <a:pt x="17555" y="19219"/>
                </a:cubicBezTo>
                <a:lnTo>
                  <a:pt x="18683" y="21248"/>
                </a:lnTo>
                <a:cubicBezTo>
                  <a:pt x="18743" y="21450"/>
                  <a:pt x="18923" y="21600"/>
                  <a:pt x="19145" y="21600"/>
                </a:cubicBezTo>
                <a:cubicBezTo>
                  <a:pt x="19416" y="21600"/>
                  <a:pt x="19636" y="21380"/>
                  <a:pt x="19636" y="21109"/>
                </a:cubicBezTo>
                <a:cubicBezTo>
                  <a:pt x="19636" y="20974"/>
                  <a:pt x="19581" y="20851"/>
                  <a:pt x="19493" y="20762"/>
                </a:cubicBezTo>
                <a:cubicBezTo>
                  <a:pt x="19493" y="20762"/>
                  <a:pt x="18280" y="18579"/>
                  <a:pt x="18280" y="18579"/>
                </a:cubicBezTo>
                <a:close/>
                <a:moveTo>
                  <a:pt x="10800" y="16691"/>
                </a:moveTo>
                <a:cubicBezTo>
                  <a:pt x="7547" y="16691"/>
                  <a:pt x="4909" y="14053"/>
                  <a:pt x="4909" y="10800"/>
                </a:cubicBezTo>
                <a:cubicBezTo>
                  <a:pt x="4909" y="7547"/>
                  <a:pt x="7547" y="4909"/>
                  <a:pt x="10800" y="4909"/>
                </a:cubicBezTo>
                <a:cubicBezTo>
                  <a:pt x="14053" y="4909"/>
                  <a:pt x="16691" y="7547"/>
                  <a:pt x="16691" y="10800"/>
                </a:cubicBezTo>
                <a:cubicBezTo>
                  <a:pt x="16691" y="14053"/>
                  <a:pt x="14053" y="16691"/>
                  <a:pt x="10800" y="16691"/>
                </a:cubicBezTo>
                <a:moveTo>
                  <a:pt x="10800" y="3927"/>
                </a:moveTo>
                <a:cubicBezTo>
                  <a:pt x="7004" y="3927"/>
                  <a:pt x="3927" y="7004"/>
                  <a:pt x="3927" y="10800"/>
                </a:cubicBezTo>
                <a:cubicBezTo>
                  <a:pt x="3927" y="14596"/>
                  <a:pt x="7004" y="17673"/>
                  <a:pt x="10800" y="17673"/>
                </a:cubicBezTo>
                <a:cubicBezTo>
                  <a:pt x="14596" y="17673"/>
                  <a:pt x="17673" y="14596"/>
                  <a:pt x="17673" y="10800"/>
                </a:cubicBezTo>
                <a:cubicBezTo>
                  <a:pt x="17673" y="7004"/>
                  <a:pt x="14596" y="3927"/>
                  <a:pt x="10800" y="3927"/>
                </a:cubicBezTo>
                <a:moveTo>
                  <a:pt x="10800" y="12764"/>
                </a:moveTo>
                <a:cubicBezTo>
                  <a:pt x="9716" y="12764"/>
                  <a:pt x="8836" y="11884"/>
                  <a:pt x="8836" y="10800"/>
                </a:cubicBezTo>
                <a:cubicBezTo>
                  <a:pt x="8836" y="9716"/>
                  <a:pt x="9716" y="8836"/>
                  <a:pt x="10800" y="8836"/>
                </a:cubicBezTo>
                <a:cubicBezTo>
                  <a:pt x="11884" y="8836"/>
                  <a:pt x="12764" y="9716"/>
                  <a:pt x="12764" y="10800"/>
                </a:cubicBezTo>
                <a:cubicBezTo>
                  <a:pt x="12764" y="11884"/>
                  <a:pt x="11884" y="12764"/>
                  <a:pt x="10800" y="12764"/>
                </a:cubicBezTo>
                <a:moveTo>
                  <a:pt x="10800" y="7855"/>
                </a:moveTo>
                <a:cubicBezTo>
                  <a:pt x="9173" y="7855"/>
                  <a:pt x="7855" y="9173"/>
                  <a:pt x="7855" y="10800"/>
                </a:cubicBezTo>
                <a:cubicBezTo>
                  <a:pt x="7855" y="12427"/>
                  <a:pt x="9173" y="13745"/>
                  <a:pt x="10800" y="13745"/>
                </a:cubicBezTo>
                <a:cubicBezTo>
                  <a:pt x="12427" y="13745"/>
                  <a:pt x="13745" y="12427"/>
                  <a:pt x="13745" y="10800"/>
                </a:cubicBezTo>
                <a:cubicBezTo>
                  <a:pt x="13745" y="9173"/>
                  <a:pt x="12427" y="7855"/>
                  <a:pt x="10800" y="7855"/>
                </a:cubicBezTo>
              </a:path>
            </a:pathLst>
          </a:custGeom>
          <a:solidFill>
            <a:srgbClr val="08204C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marL="0" marR="0" lvl="0" indent="0" defTabSz="22853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Open Sans Semibold" charset="0"/>
              <a:ea typeface="Open Sans Semibold" charset="0"/>
              <a:cs typeface="Open Sans Semibold" charset="0"/>
              <a:sym typeface="Gill Sans"/>
            </a:endParaRPr>
          </a:p>
        </p:txBody>
      </p:sp>
      <p:sp>
        <p:nvSpPr>
          <p:cNvPr id="65" name="Shape 2748">
            <a:extLst>
              <a:ext uri="{FF2B5EF4-FFF2-40B4-BE49-F238E27FC236}">
                <a16:creationId xmlns:a16="http://schemas.microsoft.com/office/drawing/2014/main" id="{540FDB9D-EBAA-9A49-AC35-531AE9BDCD92}"/>
              </a:ext>
            </a:extLst>
          </p:cNvPr>
          <p:cNvSpPr>
            <a:spLocks noChangeAspect="1"/>
          </p:cNvSpPr>
          <p:nvPr/>
        </p:nvSpPr>
        <p:spPr>
          <a:xfrm>
            <a:off x="2640170" y="1601807"/>
            <a:ext cx="419144" cy="4191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8280" y="18579"/>
                </a:moveTo>
                <a:cubicBezTo>
                  <a:pt x="20323" y="16614"/>
                  <a:pt x="21600" y="13859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cubicBezTo>
                  <a:pt x="4836" y="0"/>
                  <a:pt x="0" y="4835"/>
                  <a:pt x="0" y="10800"/>
                </a:cubicBezTo>
                <a:cubicBezTo>
                  <a:pt x="0" y="13859"/>
                  <a:pt x="1277" y="16614"/>
                  <a:pt x="3320" y="18579"/>
                </a:cubicBezTo>
                <a:lnTo>
                  <a:pt x="2107" y="20762"/>
                </a:lnTo>
                <a:cubicBezTo>
                  <a:pt x="2019" y="20851"/>
                  <a:pt x="1964" y="20974"/>
                  <a:pt x="1964" y="21109"/>
                </a:cubicBezTo>
                <a:cubicBezTo>
                  <a:pt x="1964" y="21380"/>
                  <a:pt x="2184" y="21600"/>
                  <a:pt x="2455" y="21600"/>
                </a:cubicBezTo>
                <a:cubicBezTo>
                  <a:pt x="2590" y="21600"/>
                  <a:pt x="2713" y="21545"/>
                  <a:pt x="2802" y="21456"/>
                </a:cubicBezTo>
                <a:cubicBezTo>
                  <a:pt x="2858" y="21400"/>
                  <a:pt x="2894" y="21327"/>
                  <a:pt x="2917" y="21248"/>
                </a:cubicBezTo>
                <a:lnTo>
                  <a:pt x="4044" y="19219"/>
                </a:lnTo>
                <a:cubicBezTo>
                  <a:pt x="5895" y="20706"/>
                  <a:pt x="8242" y="21600"/>
                  <a:pt x="10800" y="21600"/>
                </a:cubicBezTo>
                <a:cubicBezTo>
                  <a:pt x="13358" y="21600"/>
                  <a:pt x="15705" y="20706"/>
                  <a:pt x="17555" y="19219"/>
                </a:cubicBezTo>
                <a:lnTo>
                  <a:pt x="18683" y="21248"/>
                </a:lnTo>
                <a:cubicBezTo>
                  <a:pt x="18743" y="21450"/>
                  <a:pt x="18923" y="21600"/>
                  <a:pt x="19145" y="21600"/>
                </a:cubicBezTo>
                <a:cubicBezTo>
                  <a:pt x="19416" y="21600"/>
                  <a:pt x="19636" y="21380"/>
                  <a:pt x="19636" y="21109"/>
                </a:cubicBezTo>
                <a:cubicBezTo>
                  <a:pt x="19636" y="20974"/>
                  <a:pt x="19581" y="20851"/>
                  <a:pt x="19493" y="20762"/>
                </a:cubicBezTo>
                <a:cubicBezTo>
                  <a:pt x="19493" y="20762"/>
                  <a:pt x="18280" y="18579"/>
                  <a:pt x="18280" y="18579"/>
                </a:cubicBezTo>
                <a:close/>
                <a:moveTo>
                  <a:pt x="10800" y="16691"/>
                </a:moveTo>
                <a:cubicBezTo>
                  <a:pt x="7547" y="16691"/>
                  <a:pt x="4909" y="14053"/>
                  <a:pt x="4909" y="10800"/>
                </a:cubicBezTo>
                <a:cubicBezTo>
                  <a:pt x="4909" y="7547"/>
                  <a:pt x="7547" y="4909"/>
                  <a:pt x="10800" y="4909"/>
                </a:cubicBezTo>
                <a:cubicBezTo>
                  <a:pt x="14053" y="4909"/>
                  <a:pt x="16691" y="7547"/>
                  <a:pt x="16691" y="10800"/>
                </a:cubicBezTo>
                <a:cubicBezTo>
                  <a:pt x="16691" y="14053"/>
                  <a:pt x="14053" y="16691"/>
                  <a:pt x="10800" y="16691"/>
                </a:cubicBezTo>
                <a:moveTo>
                  <a:pt x="10800" y="3927"/>
                </a:moveTo>
                <a:cubicBezTo>
                  <a:pt x="7004" y="3927"/>
                  <a:pt x="3927" y="7004"/>
                  <a:pt x="3927" y="10800"/>
                </a:cubicBezTo>
                <a:cubicBezTo>
                  <a:pt x="3927" y="14596"/>
                  <a:pt x="7004" y="17673"/>
                  <a:pt x="10800" y="17673"/>
                </a:cubicBezTo>
                <a:cubicBezTo>
                  <a:pt x="14596" y="17673"/>
                  <a:pt x="17673" y="14596"/>
                  <a:pt x="17673" y="10800"/>
                </a:cubicBezTo>
                <a:cubicBezTo>
                  <a:pt x="17673" y="7004"/>
                  <a:pt x="14596" y="3927"/>
                  <a:pt x="10800" y="3927"/>
                </a:cubicBezTo>
                <a:moveTo>
                  <a:pt x="10800" y="12764"/>
                </a:moveTo>
                <a:cubicBezTo>
                  <a:pt x="9716" y="12764"/>
                  <a:pt x="8836" y="11884"/>
                  <a:pt x="8836" y="10800"/>
                </a:cubicBezTo>
                <a:cubicBezTo>
                  <a:pt x="8836" y="9716"/>
                  <a:pt x="9716" y="8836"/>
                  <a:pt x="10800" y="8836"/>
                </a:cubicBezTo>
                <a:cubicBezTo>
                  <a:pt x="11884" y="8836"/>
                  <a:pt x="12764" y="9716"/>
                  <a:pt x="12764" y="10800"/>
                </a:cubicBezTo>
                <a:cubicBezTo>
                  <a:pt x="12764" y="11884"/>
                  <a:pt x="11884" y="12764"/>
                  <a:pt x="10800" y="12764"/>
                </a:cubicBezTo>
                <a:moveTo>
                  <a:pt x="10800" y="7855"/>
                </a:moveTo>
                <a:cubicBezTo>
                  <a:pt x="9173" y="7855"/>
                  <a:pt x="7855" y="9173"/>
                  <a:pt x="7855" y="10800"/>
                </a:cubicBezTo>
                <a:cubicBezTo>
                  <a:pt x="7855" y="12427"/>
                  <a:pt x="9173" y="13745"/>
                  <a:pt x="10800" y="13745"/>
                </a:cubicBezTo>
                <a:cubicBezTo>
                  <a:pt x="12427" y="13745"/>
                  <a:pt x="13745" y="12427"/>
                  <a:pt x="13745" y="10800"/>
                </a:cubicBezTo>
                <a:cubicBezTo>
                  <a:pt x="13745" y="9173"/>
                  <a:pt x="12427" y="7855"/>
                  <a:pt x="10800" y="7855"/>
                </a:cubicBezTo>
              </a:path>
            </a:pathLst>
          </a:custGeom>
          <a:solidFill>
            <a:srgbClr val="08204C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marL="0" marR="0" lvl="0" indent="0" defTabSz="22853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Open Sans Semibold" charset="0"/>
              <a:ea typeface="Open Sans Semibold" charset="0"/>
              <a:cs typeface="Open Sans Semibold" charset="0"/>
              <a:sym typeface="Gill San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97A0271-A97F-2455-B49B-0D8570209FCC}"/>
              </a:ext>
            </a:extLst>
          </p:cNvPr>
          <p:cNvSpPr txBox="1"/>
          <p:nvPr/>
        </p:nvSpPr>
        <p:spPr>
          <a:xfrm>
            <a:off x="1007533" y="5182258"/>
            <a:ext cx="10176933" cy="113896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8204C"/>
                </a:solidFill>
                <a:latin typeface="Poppins SemiBold" pitchFamily="2" charset="77"/>
                <a:cs typeface="Poppins SemiBold" pitchFamily="2" charset="77"/>
              </a:rPr>
              <a:t>Drop the mission's product?</a:t>
            </a:r>
          </a:p>
          <a:p>
            <a:pPr>
              <a:lnSpc>
                <a:spcPct val="200000"/>
              </a:lnSpc>
              <a:buNone/>
            </a:pP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The recommendation would be continuing with optimization presented on previous slide, but if the product team insists, the suggestion would be to make a transition-controlled plan and avoid losing the gains achieved with the product.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FEF163A-FB6F-BA83-B9EC-E59E80728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800" y="0"/>
            <a:ext cx="1414462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1097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1DF29-7828-9B89-EC8E-EF1C9A7C0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7822911-9EF3-C08F-B3CB-BFBB39F554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50" y="3903064"/>
            <a:ext cx="2771913" cy="6594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5000"/>
              </a:lnSpc>
            </a:pPr>
            <a:r>
              <a:rPr lang="en-US" sz="2400" b="1" dirty="0">
                <a:solidFill>
                  <a:schemeClr val="tx2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rPr>
              <a:t>Loyalty program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BC7400-590C-0966-75D6-7713BA360FAF}"/>
              </a:ext>
            </a:extLst>
          </p:cNvPr>
          <p:cNvSpPr/>
          <p:nvPr/>
        </p:nvSpPr>
        <p:spPr>
          <a:xfrm>
            <a:off x="-118267" y="2753975"/>
            <a:ext cx="4503733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9600" b="1" cap="none" spc="0" dirty="0">
                <a:ln/>
                <a:solidFill>
                  <a:schemeClr val="accent4"/>
                </a:solidFill>
                <a:effectLst/>
              </a:rPr>
              <a:t>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3422E7-FE3E-B065-AE4D-D3BB3D40D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800" y="0"/>
            <a:ext cx="1414462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9908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DADEBB-35C6-0E19-D432-8468D8D4C73C}"/>
              </a:ext>
            </a:extLst>
          </p:cNvPr>
          <p:cNvSpPr txBox="1"/>
          <p:nvPr/>
        </p:nvSpPr>
        <p:spPr>
          <a:xfrm>
            <a:off x="642612" y="-18141"/>
            <a:ext cx="3746538" cy="6917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MX"/>
            </a:defPPr>
            <a:lvl1pPr defTabSz="914217">
              <a:lnSpc>
                <a:spcPts val="5000"/>
              </a:lnSpc>
              <a:defRPr sz="2400" b="1">
                <a:solidFill>
                  <a:srgbClr val="08204C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defRPr>
            </a:lvl1pPr>
          </a:lstStyle>
          <a:p>
            <a:r>
              <a:rPr lang="en-US" dirty="0"/>
              <a:t>Loyalty program</a:t>
            </a: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69129B9F-428E-BC3F-2F1A-2EE006B1A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260" y="4289714"/>
            <a:ext cx="947304" cy="947304"/>
          </a:xfrm>
          <a:custGeom>
            <a:avLst/>
            <a:gdLst>
              <a:gd name="T0" fmla="*/ 2035 w 2036"/>
              <a:gd name="T1" fmla="*/ 1018 h 2036"/>
              <a:gd name="T2" fmla="*/ 2035 w 2036"/>
              <a:gd name="T3" fmla="*/ 1018 h 2036"/>
              <a:gd name="T4" fmla="*/ 1018 w 2036"/>
              <a:gd name="T5" fmla="*/ 2035 h 2036"/>
              <a:gd name="T6" fmla="*/ 1018 w 2036"/>
              <a:gd name="T7" fmla="*/ 2035 h 2036"/>
              <a:gd name="T8" fmla="*/ 0 w 2036"/>
              <a:gd name="T9" fmla="*/ 1018 h 2036"/>
              <a:gd name="T10" fmla="*/ 0 w 2036"/>
              <a:gd name="T11" fmla="*/ 1018 h 2036"/>
              <a:gd name="T12" fmla="*/ 1018 w 2036"/>
              <a:gd name="T13" fmla="*/ 0 h 2036"/>
              <a:gd name="T14" fmla="*/ 1018 w 2036"/>
              <a:gd name="T15" fmla="*/ 0 h 2036"/>
              <a:gd name="T16" fmla="*/ 2035 w 2036"/>
              <a:gd name="T17" fmla="*/ 1018 h 20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036" h="2036">
                <a:moveTo>
                  <a:pt x="2035" y="1018"/>
                </a:moveTo>
                <a:lnTo>
                  <a:pt x="2035" y="1018"/>
                </a:lnTo>
                <a:cubicBezTo>
                  <a:pt x="2035" y="1580"/>
                  <a:pt x="1579" y="2035"/>
                  <a:pt x="1018" y="2035"/>
                </a:cubicBezTo>
                <a:lnTo>
                  <a:pt x="1018" y="2035"/>
                </a:lnTo>
                <a:cubicBezTo>
                  <a:pt x="456" y="2035"/>
                  <a:pt x="0" y="1580"/>
                  <a:pt x="0" y="1018"/>
                </a:cubicBezTo>
                <a:lnTo>
                  <a:pt x="0" y="1018"/>
                </a:lnTo>
                <a:cubicBezTo>
                  <a:pt x="0" y="455"/>
                  <a:pt x="456" y="0"/>
                  <a:pt x="1018" y="0"/>
                </a:cubicBezTo>
                <a:lnTo>
                  <a:pt x="1018" y="0"/>
                </a:lnTo>
                <a:cubicBezTo>
                  <a:pt x="1579" y="0"/>
                  <a:pt x="2035" y="455"/>
                  <a:pt x="2035" y="1018"/>
                </a:cubicBezTo>
              </a:path>
            </a:pathLst>
          </a:custGeom>
          <a:solidFill>
            <a:srgbClr val="6ACEE3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 dirty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9" name="Freeform 9">
            <a:extLst>
              <a:ext uri="{FF2B5EF4-FFF2-40B4-BE49-F238E27FC236}">
                <a16:creationId xmlns:a16="http://schemas.microsoft.com/office/drawing/2014/main" id="{E523E1DD-CF34-882B-76FB-116D446F3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567" y="1430631"/>
            <a:ext cx="947304" cy="947304"/>
          </a:xfrm>
          <a:custGeom>
            <a:avLst/>
            <a:gdLst>
              <a:gd name="T0" fmla="*/ 2035 w 2036"/>
              <a:gd name="T1" fmla="*/ 1018 h 2036"/>
              <a:gd name="T2" fmla="*/ 2035 w 2036"/>
              <a:gd name="T3" fmla="*/ 1018 h 2036"/>
              <a:gd name="T4" fmla="*/ 1018 w 2036"/>
              <a:gd name="T5" fmla="*/ 2035 h 2036"/>
              <a:gd name="T6" fmla="*/ 1018 w 2036"/>
              <a:gd name="T7" fmla="*/ 2035 h 2036"/>
              <a:gd name="T8" fmla="*/ 0 w 2036"/>
              <a:gd name="T9" fmla="*/ 1018 h 2036"/>
              <a:gd name="T10" fmla="*/ 0 w 2036"/>
              <a:gd name="T11" fmla="*/ 1018 h 2036"/>
              <a:gd name="T12" fmla="*/ 1018 w 2036"/>
              <a:gd name="T13" fmla="*/ 0 h 2036"/>
              <a:gd name="T14" fmla="*/ 1018 w 2036"/>
              <a:gd name="T15" fmla="*/ 0 h 2036"/>
              <a:gd name="T16" fmla="*/ 2035 w 2036"/>
              <a:gd name="T17" fmla="*/ 1018 h 20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036" h="2036">
                <a:moveTo>
                  <a:pt x="2035" y="1018"/>
                </a:moveTo>
                <a:lnTo>
                  <a:pt x="2035" y="1018"/>
                </a:lnTo>
                <a:cubicBezTo>
                  <a:pt x="2035" y="1580"/>
                  <a:pt x="1579" y="2035"/>
                  <a:pt x="1018" y="2035"/>
                </a:cubicBezTo>
                <a:lnTo>
                  <a:pt x="1018" y="2035"/>
                </a:lnTo>
                <a:cubicBezTo>
                  <a:pt x="456" y="2035"/>
                  <a:pt x="0" y="1580"/>
                  <a:pt x="0" y="1018"/>
                </a:cubicBezTo>
                <a:lnTo>
                  <a:pt x="0" y="1018"/>
                </a:lnTo>
                <a:cubicBezTo>
                  <a:pt x="0" y="456"/>
                  <a:pt x="456" y="0"/>
                  <a:pt x="1018" y="0"/>
                </a:cubicBezTo>
                <a:lnTo>
                  <a:pt x="1018" y="0"/>
                </a:lnTo>
                <a:cubicBezTo>
                  <a:pt x="1579" y="0"/>
                  <a:pt x="2035" y="456"/>
                  <a:pt x="2035" y="1018"/>
                </a:cubicBezTo>
              </a:path>
            </a:pathLst>
          </a:custGeom>
          <a:solidFill>
            <a:srgbClr val="1073A3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680877-24DD-4A6B-DA84-18096DE3EB12}"/>
              </a:ext>
            </a:extLst>
          </p:cNvPr>
          <p:cNvSpPr txBox="1"/>
          <p:nvPr/>
        </p:nvSpPr>
        <p:spPr>
          <a:xfrm>
            <a:off x="2076561" y="1410027"/>
            <a:ext cx="2555508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defTabSz="914217"/>
            <a:r>
              <a:rPr lang="en-US" sz="1600" b="1" dirty="0">
                <a:solidFill>
                  <a:srgbClr val="08204C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rPr>
              <a:t>How would you frame?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5E16C70B-C87A-7F8D-31F7-6B0C32377453}"/>
              </a:ext>
            </a:extLst>
          </p:cNvPr>
          <p:cNvSpPr txBox="1">
            <a:spLocks/>
          </p:cNvSpPr>
          <p:nvPr/>
        </p:nvSpPr>
        <p:spPr>
          <a:xfrm>
            <a:off x="2076560" y="1786565"/>
            <a:ext cx="3547755" cy="581891"/>
          </a:xfrm>
          <a:prstGeom prst="rect">
            <a:avLst/>
          </a:prstGeom>
        </p:spPr>
        <p:txBody>
          <a:bodyPr vert="horz" wrap="square" lIns="45720" tIns="22860" rIns="45720" bIns="4572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543818">
              <a:lnSpc>
                <a:spcPts val="2050"/>
              </a:lnSpc>
            </a:pPr>
            <a:r>
              <a:rPr lang="en-US" sz="1250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Analyze three pillars: Engagement, Progression, and Retention.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FEB2BF-04D6-047C-9649-A4A6EB476872}"/>
              </a:ext>
            </a:extLst>
          </p:cNvPr>
          <p:cNvSpPr txBox="1"/>
          <p:nvPr/>
        </p:nvSpPr>
        <p:spPr>
          <a:xfrm>
            <a:off x="2142032" y="4252094"/>
            <a:ext cx="2135521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defTabSz="914217"/>
            <a:r>
              <a:rPr lang="en-US" sz="1600" b="1" dirty="0">
                <a:solidFill>
                  <a:srgbClr val="08204C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rPr>
              <a:t>Perimeter analysis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F664FA03-7C85-55B5-8760-B8010966B366}"/>
              </a:ext>
            </a:extLst>
          </p:cNvPr>
          <p:cNvSpPr txBox="1">
            <a:spLocks/>
          </p:cNvSpPr>
          <p:nvPr/>
        </p:nvSpPr>
        <p:spPr>
          <a:xfrm>
            <a:off x="2076560" y="4590648"/>
            <a:ext cx="3625878" cy="2124941"/>
          </a:xfrm>
          <a:prstGeom prst="rect">
            <a:avLst/>
          </a:prstGeom>
        </p:spPr>
        <p:txBody>
          <a:bodyPr vert="horz" wrap="square" lIns="45720" tIns="22860" rIns="45720" bIns="4572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050"/>
              </a:lnSpc>
            </a:pPr>
            <a:r>
              <a:rPr lang="en-US" sz="1200" u="sng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Definitions:</a:t>
            </a:r>
          </a:p>
          <a:p>
            <a:pPr algn="l">
              <a:lnSpc>
                <a:spcPts val="2050"/>
              </a:lnSpc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Time Period: Jan 1 – Aug 31, 2025</a:t>
            </a:r>
          </a:p>
          <a:p>
            <a:pPr algn="l">
              <a:lnSpc>
                <a:spcPts val="2050"/>
              </a:lnSpc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Sample: New players registered from January 1st.</a:t>
            </a:r>
          </a:p>
          <a:p>
            <a:pPr algn="l">
              <a:lnSpc>
                <a:spcPts val="2050"/>
              </a:lnSpc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Compare: Players registered before (reactivated?)</a:t>
            </a:r>
          </a:p>
          <a:p>
            <a:pPr algn="l">
              <a:lnSpc>
                <a:spcPts val="2050"/>
              </a:lnSpc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Players rank by risk: low, medium and high.</a:t>
            </a:r>
          </a:p>
          <a:p>
            <a:pPr algn="l">
              <a:lnSpc>
                <a:spcPts val="2050"/>
              </a:lnSpc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Excluded: Fraudulent accounts,  </a:t>
            </a:r>
          </a:p>
          <a:p>
            <a:pPr marL="285750" indent="-285750" algn="l" defTabSz="543818">
              <a:lnSpc>
                <a:spcPts val="2050"/>
              </a:lnSpc>
              <a:buFontTx/>
              <a:buChar char="-"/>
            </a:pPr>
            <a:endParaRPr lang="en-US" sz="1250" baseline="30000" dirty="0">
              <a:solidFill>
                <a:srgbClr val="AAAAAA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D05302D-F851-B5FE-7A34-C1A9657BF630}"/>
              </a:ext>
            </a:extLst>
          </p:cNvPr>
          <p:cNvSpPr txBox="1"/>
          <p:nvPr/>
        </p:nvSpPr>
        <p:spPr>
          <a:xfrm>
            <a:off x="642612" y="726014"/>
            <a:ext cx="10306594" cy="292388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1300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Traditionally loyalty programs require a player to "Join," "Register," before they enjoy the program.</a:t>
            </a:r>
            <a:endParaRPr lang="en-US" sz="1300" spc="50" dirty="0">
              <a:solidFill>
                <a:srgbClr val="AAAAAA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65" name="Freeform 18">
            <a:extLst>
              <a:ext uri="{FF2B5EF4-FFF2-40B4-BE49-F238E27FC236}">
                <a16:creationId xmlns:a16="http://schemas.microsoft.com/office/drawing/2014/main" id="{B336A468-554E-C5D3-CA65-8A31A246C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4237" y="1468616"/>
            <a:ext cx="1030748" cy="1029791"/>
          </a:xfrm>
          <a:custGeom>
            <a:avLst/>
            <a:gdLst>
              <a:gd name="T0" fmla="*/ 189 w 1611"/>
              <a:gd name="T1" fmla="*/ 0 h 1422"/>
              <a:gd name="T2" fmla="*/ 189 w 1611"/>
              <a:gd name="T3" fmla="*/ 522 h 1422"/>
              <a:gd name="T4" fmla="*/ 0 w 1611"/>
              <a:gd name="T5" fmla="*/ 711 h 1422"/>
              <a:gd name="T6" fmla="*/ 189 w 1611"/>
              <a:gd name="T7" fmla="*/ 899 h 1422"/>
              <a:gd name="T8" fmla="*/ 189 w 1611"/>
              <a:gd name="T9" fmla="*/ 1421 h 1422"/>
              <a:gd name="T10" fmla="*/ 1610 w 1611"/>
              <a:gd name="T11" fmla="*/ 1421 h 1422"/>
              <a:gd name="T12" fmla="*/ 1610 w 1611"/>
              <a:gd name="T13" fmla="*/ 0 h 1422"/>
              <a:gd name="T14" fmla="*/ 189 w 1611"/>
              <a:gd name="T15" fmla="*/ 0 h 14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11" h="1422">
                <a:moveTo>
                  <a:pt x="189" y="0"/>
                </a:moveTo>
                <a:lnTo>
                  <a:pt x="189" y="522"/>
                </a:lnTo>
                <a:lnTo>
                  <a:pt x="0" y="711"/>
                </a:lnTo>
                <a:lnTo>
                  <a:pt x="189" y="899"/>
                </a:lnTo>
                <a:lnTo>
                  <a:pt x="189" y="1421"/>
                </a:lnTo>
                <a:lnTo>
                  <a:pt x="1610" y="1421"/>
                </a:lnTo>
                <a:lnTo>
                  <a:pt x="1610" y="0"/>
                </a:lnTo>
                <a:lnTo>
                  <a:pt x="189" y="0"/>
                </a:lnTo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/>
          </a:p>
        </p:txBody>
      </p:sp>
      <p:sp>
        <p:nvSpPr>
          <p:cNvPr id="66" name="Freeform 19">
            <a:extLst>
              <a:ext uri="{FF2B5EF4-FFF2-40B4-BE49-F238E27FC236}">
                <a16:creationId xmlns:a16="http://schemas.microsoft.com/office/drawing/2014/main" id="{A7636A4F-ABE9-DCA5-413A-A576FB2E1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2523" y="1468616"/>
            <a:ext cx="3731714" cy="1029791"/>
          </a:xfrm>
          <a:custGeom>
            <a:avLst/>
            <a:gdLst>
              <a:gd name="T0" fmla="*/ 6370 w 6371"/>
              <a:gd name="T1" fmla="*/ 1421 h 1422"/>
              <a:gd name="T2" fmla="*/ 0 w 6371"/>
              <a:gd name="T3" fmla="*/ 1421 h 1422"/>
              <a:gd name="T4" fmla="*/ 0 w 6371"/>
              <a:gd name="T5" fmla="*/ 0 h 1422"/>
              <a:gd name="T6" fmla="*/ 6370 w 6371"/>
              <a:gd name="T7" fmla="*/ 0 h 1422"/>
              <a:gd name="T8" fmla="*/ 6370 w 6371"/>
              <a:gd name="T9" fmla="*/ 1421 h 14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371" h="1422">
                <a:moveTo>
                  <a:pt x="6370" y="1421"/>
                </a:moveTo>
                <a:lnTo>
                  <a:pt x="0" y="1421"/>
                </a:lnTo>
                <a:lnTo>
                  <a:pt x="0" y="0"/>
                </a:lnTo>
                <a:lnTo>
                  <a:pt x="6370" y="0"/>
                </a:lnTo>
                <a:lnTo>
                  <a:pt x="6370" y="1421"/>
                </a:lnTo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/>
          </a:p>
        </p:txBody>
      </p:sp>
      <p:sp>
        <p:nvSpPr>
          <p:cNvPr id="68" name="Subtitle 2">
            <a:extLst>
              <a:ext uri="{FF2B5EF4-FFF2-40B4-BE49-F238E27FC236}">
                <a16:creationId xmlns:a16="http://schemas.microsoft.com/office/drawing/2014/main" id="{EC0E4E17-0B6E-7C6B-71DF-17EAA128CA08}"/>
              </a:ext>
            </a:extLst>
          </p:cNvPr>
          <p:cNvSpPr txBox="1">
            <a:spLocks/>
          </p:cNvSpPr>
          <p:nvPr/>
        </p:nvSpPr>
        <p:spPr>
          <a:xfrm>
            <a:off x="7193095" y="1548417"/>
            <a:ext cx="4210338" cy="866584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050"/>
              </a:lnSpc>
            </a:pPr>
            <a:r>
              <a:rPr lang="en-US" sz="12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Is there engagement?</a:t>
            </a:r>
          </a:p>
          <a:p>
            <a:pPr algn="l">
              <a:lnSpc>
                <a:spcPts val="2050"/>
              </a:lnSpc>
            </a:pPr>
            <a:r>
              <a:rPr lang="en-US" sz="12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% of Active Players who reached Milestone 1 vs. Pre-launch baseline.</a:t>
            </a:r>
          </a:p>
        </p:txBody>
      </p:sp>
      <p:sp>
        <p:nvSpPr>
          <p:cNvPr id="74" name="Freeform 18">
            <a:extLst>
              <a:ext uri="{FF2B5EF4-FFF2-40B4-BE49-F238E27FC236}">
                <a16:creationId xmlns:a16="http://schemas.microsoft.com/office/drawing/2014/main" id="{FE17FEF0-2852-9910-C854-98FCE54227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689" y="2536391"/>
            <a:ext cx="1030748" cy="1029791"/>
          </a:xfrm>
          <a:custGeom>
            <a:avLst/>
            <a:gdLst>
              <a:gd name="T0" fmla="*/ 189 w 1611"/>
              <a:gd name="T1" fmla="*/ 0 h 1422"/>
              <a:gd name="T2" fmla="*/ 189 w 1611"/>
              <a:gd name="T3" fmla="*/ 522 h 1422"/>
              <a:gd name="T4" fmla="*/ 0 w 1611"/>
              <a:gd name="T5" fmla="*/ 711 h 1422"/>
              <a:gd name="T6" fmla="*/ 189 w 1611"/>
              <a:gd name="T7" fmla="*/ 899 h 1422"/>
              <a:gd name="T8" fmla="*/ 189 w 1611"/>
              <a:gd name="T9" fmla="*/ 1421 h 1422"/>
              <a:gd name="T10" fmla="*/ 1610 w 1611"/>
              <a:gd name="T11" fmla="*/ 1421 h 1422"/>
              <a:gd name="T12" fmla="*/ 1610 w 1611"/>
              <a:gd name="T13" fmla="*/ 0 h 1422"/>
              <a:gd name="T14" fmla="*/ 189 w 1611"/>
              <a:gd name="T15" fmla="*/ 0 h 14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11" h="1422">
                <a:moveTo>
                  <a:pt x="189" y="0"/>
                </a:moveTo>
                <a:lnTo>
                  <a:pt x="189" y="522"/>
                </a:lnTo>
                <a:lnTo>
                  <a:pt x="0" y="711"/>
                </a:lnTo>
                <a:lnTo>
                  <a:pt x="189" y="899"/>
                </a:lnTo>
                <a:lnTo>
                  <a:pt x="189" y="1421"/>
                </a:lnTo>
                <a:lnTo>
                  <a:pt x="1610" y="1421"/>
                </a:lnTo>
                <a:lnTo>
                  <a:pt x="1610" y="0"/>
                </a:lnTo>
                <a:lnTo>
                  <a:pt x="189" y="0"/>
                </a:lnTo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/>
          </a:p>
        </p:txBody>
      </p:sp>
      <p:sp>
        <p:nvSpPr>
          <p:cNvPr id="75" name="Freeform 19">
            <a:extLst>
              <a:ext uri="{FF2B5EF4-FFF2-40B4-BE49-F238E27FC236}">
                <a16:creationId xmlns:a16="http://schemas.microsoft.com/office/drawing/2014/main" id="{1E6735B7-7072-B814-8ADB-41DAA8413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2975" y="2536391"/>
            <a:ext cx="3731714" cy="1029791"/>
          </a:xfrm>
          <a:custGeom>
            <a:avLst/>
            <a:gdLst>
              <a:gd name="T0" fmla="*/ 6370 w 6371"/>
              <a:gd name="T1" fmla="*/ 1421 h 1422"/>
              <a:gd name="T2" fmla="*/ 0 w 6371"/>
              <a:gd name="T3" fmla="*/ 1421 h 1422"/>
              <a:gd name="T4" fmla="*/ 0 w 6371"/>
              <a:gd name="T5" fmla="*/ 0 h 1422"/>
              <a:gd name="T6" fmla="*/ 6370 w 6371"/>
              <a:gd name="T7" fmla="*/ 0 h 1422"/>
              <a:gd name="T8" fmla="*/ 6370 w 6371"/>
              <a:gd name="T9" fmla="*/ 1421 h 14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371" h="1422">
                <a:moveTo>
                  <a:pt x="6370" y="1421"/>
                </a:moveTo>
                <a:lnTo>
                  <a:pt x="0" y="1421"/>
                </a:lnTo>
                <a:lnTo>
                  <a:pt x="0" y="0"/>
                </a:lnTo>
                <a:lnTo>
                  <a:pt x="6370" y="0"/>
                </a:lnTo>
                <a:lnTo>
                  <a:pt x="6370" y="1421"/>
                </a:lnTo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/>
          </a:p>
        </p:txBody>
      </p:sp>
      <p:sp>
        <p:nvSpPr>
          <p:cNvPr id="76" name="Subtitle 2">
            <a:extLst>
              <a:ext uri="{FF2B5EF4-FFF2-40B4-BE49-F238E27FC236}">
                <a16:creationId xmlns:a16="http://schemas.microsoft.com/office/drawing/2014/main" id="{277882D4-7AE8-B53C-6461-B6504851524E}"/>
              </a:ext>
            </a:extLst>
          </p:cNvPr>
          <p:cNvSpPr txBox="1">
            <a:spLocks/>
          </p:cNvSpPr>
          <p:nvPr/>
        </p:nvSpPr>
        <p:spPr>
          <a:xfrm>
            <a:off x="7173547" y="2616192"/>
            <a:ext cx="4210338" cy="828112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050"/>
              </a:lnSpc>
            </a:pPr>
            <a:r>
              <a:rPr lang="en-US" sz="12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How many players are growing from Premium to VIP? Conversion rate from Premium to VIP; average time to become Premium.</a:t>
            </a:r>
          </a:p>
        </p:txBody>
      </p:sp>
      <p:sp>
        <p:nvSpPr>
          <p:cNvPr id="79" name="Freeform 18">
            <a:extLst>
              <a:ext uri="{FF2B5EF4-FFF2-40B4-BE49-F238E27FC236}">
                <a16:creationId xmlns:a16="http://schemas.microsoft.com/office/drawing/2014/main" id="{281034E1-F47E-A57F-8C07-EF44C15A3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689" y="3604166"/>
            <a:ext cx="1030748" cy="1322771"/>
          </a:xfrm>
          <a:custGeom>
            <a:avLst/>
            <a:gdLst>
              <a:gd name="T0" fmla="*/ 189 w 1611"/>
              <a:gd name="T1" fmla="*/ 0 h 1422"/>
              <a:gd name="T2" fmla="*/ 189 w 1611"/>
              <a:gd name="T3" fmla="*/ 522 h 1422"/>
              <a:gd name="T4" fmla="*/ 0 w 1611"/>
              <a:gd name="T5" fmla="*/ 711 h 1422"/>
              <a:gd name="T6" fmla="*/ 189 w 1611"/>
              <a:gd name="T7" fmla="*/ 899 h 1422"/>
              <a:gd name="T8" fmla="*/ 189 w 1611"/>
              <a:gd name="T9" fmla="*/ 1421 h 1422"/>
              <a:gd name="T10" fmla="*/ 1610 w 1611"/>
              <a:gd name="T11" fmla="*/ 1421 h 1422"/>
              <a:gd name="T12" fmla="*/ 1610 w 1611"/>
              <a:gd name="T13" fmla="*/ 0 h 1422"/>
              <a:gd name="T14" fmla="*/ 189 w 1611"/>
              <a:gd name="T15" fmla="*/ 0 h 14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11" h="1422">
                <a:moveTo>
                  <a:pt x="189" y="0"/>
                </a:moveTo>
                <a:lnTo>
                  <a:pt x="189" y="522"/>
                </a:lnTo>
                <a:lnTo>
                  <a:pt x="0" y="711"/>
                </a:lnTo>
                <a:lnTo>
                  <a:pt x="189" y="899"/>
                </a:lnTo>
                <a:lnTo>
                  <a:pt x="189" y="1421"/>
                </a:lnTo>
                <a:lnTo>
                  <a:pt x="1610" y="1421"/>
                </a:lnTo>
                <a:lnTo>
                  <a:pt x="1610" y="0"/>
                </a:lnTo>
                <a:lnTo>
                  <a:pt x="189" y="0"/>
                </a:lnTo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/>
          </a:p>
        </p:txBody>
      </p:sp>
      <p:sp>
        <p:nvSpPr>
          <p:cNvPr id="80" name="Freeform 19">
            <a:extLst>
              <a:ext uri="{FF2B5EF4-FFF2-40B4-BE49-F238E27FC236}">
                <a16:creationId xmlns:a16="http://schemas.microsoft.com/office/drawing/2014/main" id="{638568BE-60B4-AB96-5290-4CF99827CF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2975" y="3604166"/>
            <a:ext cx="3731714" cy="1322771"/>
          </a:xfrm>
          <a:custGeom>
            <a:avLst/>
            <a:gdLst>
              <a:gd name="T0" fmla="*/ 6370 w 6371"/>
              <a:gd name="T1" fmla="*/ 1421 h 1422"/>
              <a:gd name="T2" fmla="*/ 0 w 6371"/>
              <a:gd name="T3" fmla="*/ 1421 h 1422"/>
              <a:gd name="T4" fmla="*/ 0 w 6371"/>
              <a:gd name="T5" fmla="*/ 0 h 1422"/>
              <a:gd name="T6" fmla="*/ 6370 w 6371"/>
              <a:gd name="T7" fmla="*/ 0 h 1422"/>
              <a:gd name="T8" fmla="*/ 6370 w 6371"/>
              <a:gd name="T9" fmla="*/ 1421 h 14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371" h="1422">
                <a:moveTo>
                  <a:pt x="6370" y="1421"/>
                </a:moveTo>
                <a:lnTo>
                  <a:pt x="0" y="1421"/>
                </a:lnTo>
                <a:lnTo>
                  <a:pt x="0" y="0"/>
                </a:lnTo>
                <a:lnTo>
                  <a:pt x="6370" y="0"/>
                </a:lnTo>
                <a:lnTo>
                  <a:pt x="6370" y="1421"/>
                </a:lnTo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/>
          </a:p>
        </p:txBody>
      </p:sp>
      <p:sp>
        <p:nvSpPr>
          <p:cNvPr id="81" name="Subtitle 2">
            <a:extLst>
              <a:ext uri="{FF2B5EF4-FFF2-40B4-BE49-F238E27FC236}">
                <a16:creationId xmlns:a16="http://schemas.microsoft.com/office/drawing/2014/main" id="{B171FC75-7A95-730E-6C34-58C92310AF16}"/>
              </a:ext>
            </a:extLst>
          </p:cNvPr>
          <p:cNvSpPr txBox="1">
            <a:spLocks/>
          </p:cNvSpPr>
          <p:nvPr/>
        </p:nvSpPr>
        <p:spPr>
          <a:xfrm>
            <a:off x="7173547" y="3683967"/>
            <a:ext cx="4210338" cy="1132746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050"/>
              </a:lnSpc>
            </a:pPr>
            <a:r>
              <a:rPr lang="en-US" sz="12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Does the rewards (cash/coins) really make a loyal player?</a:t>
            </a:r>
          </a:p>
          <a:p>
            <a:pPr algn="l">
              <a:lnSpc>
                <a:spcPts val="2050"/>
              </a:lnSpc>
            </a:pPr>
            <a:r>
              <a:rPr lang="en-US" sz="12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Revenue per segment (Loyalty vs. Non-Loyalty) and reinvestment rate (how much of the promotional money is played back?</a:t>
            </a:r>
          </a:p>
        </p:txBody>
      </p:sp>
      <p:sp>
        <p:nvSpPr>
          <p:cNvPr id="82" name="Left Brace 81">
            <a:extLst>
              <a:ext uri="{FF2B5EF4-FFF2-40B4-BE49-F238E27FC236}">
                <a16:creationId xmlns:a16="http://schemas.microsoft.com/office/drawing/2014/main" id="{18FB7BEF-7D56-AB9F-E683-099137DBD469}"/>
              </a:ext>
            </a:extLst>
          </p:cNvPr>
          <p:cNvSpPr/>
          <p:nvPr/>
        </p:nvSpPr>
        <p:spPr>
          <a:xfrm>
            <a:off x="6086938" y="1337733"/>
            <a:ext cx="404676" cy="3589204"/>
          </a:xfrm>
          <a:prstGeom prst="leftBrace">
            <a:avLst>
              <a:gd name="adj1" fmla="val 8333"/>
              <a:gd name="adj2" fmla="val 895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FB96A29B-1E9A-E93D-5FEC-47E814BAE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800" y="0"/>
            <a:ext cx="1414462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3474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E3834-73AC-AE00-8BE0-3D9F9B96D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F896E3-1041-67AE-98D6-4E819BB523CA}"/>
              </a:ext>
            </a:extLst>
          </p:cNvPr>
          <p:cNvSpPr txBox="1"/>
          <p:nvPr/>
        </p:nvSpPr>
        <p:spPr>
          <a:xfrm>
            <a:off x="642612" y="-18141"/>
            <a:ext cx="3746538" cy="6917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MX"/>
            </a:defPPr>
            <a:lvl1pPr defTabSz="914217">
              <a:lnSpc>
                <a:spcPts val="5000"/>
              </a:lnSpc>
              <a:defRPr sz="2400" b="1">
                <a:solidFill>
                  <a:srgbClr val="08204C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defRPr>
            </a:lvl1pPr>
          </a:lstStyle>
          <a:p>
            <a:r>
              <a:rPr lang="en-US" dirty="0"/>
              <a:t>Loyalty program</a:t>
            </a:r>
          </a:p>
        </p:txBody>
      </p:sp>
      <p:sp>
        <p:nvSpPr>
          <p:cNvPr id="19" name="Freeform 9">
            <a:extLst>
              <a:ext uri="{FF2B5EF4-FFF2-40B4-BE49-F238E27FC236}">
                <a16:creationId xmlns:a16="http://schemas.microsoft.com/office/drawing/2014/main" id="{D6D33799-DEE5-4EE7-707C-24AC5F3CE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243" y="2232764"/>
            <a:ext cx="947304" cy="947304"/>
          </a:xfrm>
          <a:custGeom>
            <a:avLst/>
            <a:gdLst>
              <a:gd name="T0" fmla="*/ 2035 w 2036"/>
              <a:gd name="T1" fmla="*/ 1018 h 2036"/>
              <a:gd name="T2" fmla="*/ 2035 w 2036"/>
              <a:gd name="T3" fmla="*/ 1018 h 2036"/>
              <a:gd name="T4" fmla="*/ 1018 w 2036"/>
              <a:gd name="T5" fmla="*/ 2035 h 2036"/>
              <a:gd name="T6" fmla="*/ 1018 w 2036"/>
              <a:gd name="T7" fmla="*/ 2035 h 2036"/>
              <a:gd name="T8" fmla="*/ 0 w 2036"/>
              <a:gd name="T9" fmla="*/ 1018 h 2036"/>
              <a:gd name="T10" fmla="*/ 0 w 2036"/>
              <a:gd name="T11" fmla="*/ 1018 h 2036"/>
              <a:gd name="T12" fmla="*/ 1018 w 2036"/>
              <a:gd name="T13" fmla="*/ 0 h 2036"/>
              <a:gd name="T14" fmla="*/ 1018 w 2036"/>
              <a:gd name="T15" fmla="*/ 0 h 2036"/>
              <a:gd name="T16" fmla="*/ 2035 w 2036"/>
              <a:gd name="T17" fmla="*/ 1018 h 20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036" h="2036">
                <a:moveTo>
                  <a:pt x="2035" y="1018"/>
                </a:moveTo>
                <a:lnTo>
                  <a:pt x="2035" y="1018"/>
                </a:lnTo>
                <a:cubicBezTo>
                  <a:pt x="2035" y="1580"/>
                  <a:pt x="1579" y="2035"/>
                  <a:pt x="1018" y="2035"/>
                </a:cubicBezTo>
                <a:lnTo>
                  <a:pt x="1018" y="2035"/>
                </a:lnTo>
                <a:cubicBezTo>
                  <a:pt x="456" y="2035"/>
                  <a:pt x="0" y="1580"/>
                  <a:pt x="0" y="1018"/>
                </a:cubicBezTo>
                <a:lnTo>
                  <a:pt x="0" y="1018"/>
                </a:lnTo>
                <a:cubicBezTo>
                  <a:pt x="0" y="456"/>
                  <a:pt x="456" y="0"/>
                  <a:pt x="1018" y="0"/>
                </a:cubicBezTo>
                <a:lnTo>
                  <a:pt x="1018" y="0"/>
                </a:lnTo>
                <a:cubicBezTo>
                  <a:pt x="1579" y="0"/>
                  <a:pt x="2035" y="456"/>
                  <a:pt x="2035" y="1018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38D949-526E-C257-321D-C53191BDF135}"/>
              </a:ext>
            </a:extLst>
          </p:cNvPr>
          <p:cNvSpPr txBox="1"/>
          <p:nvPr/>
        </p:nvSpPr>
        <p:spPr>
          <a:xfrm>
            <a:off x="2085028" y="2290561"/>
            <a:ext cx="2653290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defTabSz="914217"/>
            <a:r>
              <a:rPr lang="en-US" sz="1600" b="1" dirty="0">
                <a:solidFill>
                  <a:srgbClr val="08204C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rPr>
              <a:t>How success looks like?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DC68908-C491-95F0-8874-CA66E7BA85AF}"/>
              </a:ext>
            </a:extLst>
          </p:cNvPr>
          <p:cNvSpPr txBox="1"/>
          <p:nvPr/>
        </p:nvSpPr>
        <p:spPr>
          <a:xfrm>
            <a:off x="642612" y="726014"/>
            <a:ext cx="10306594" cy="292388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1300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Traditionally loyalty programs require a player to "Join," "Register," before they enjoy the program.</a:t>
            </a:r>
            <a:endParaRPr lang="en-US" sz="1300" spc="50" dirty="0">
              <a:solidFill>
                <a:srgbClr val="AAAAAA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65" name="Freeform 18">
            <a:extLst>
              <a:ext uri="{FF2B5EF4-FFF2-40B4-BE49-F238E27FC236}">
                <a16:creationId xmlns:a16="http://schemas.microsoft.com/office/drawing/2014/main" id="{3A83450B-0096-32E2-1A52-5E3A83F1A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9008" y="1755233"/>
            <a:ext cx="1030748" cy="1029791"/>
          </a:xfrm>
          <a:custGeom>
            <a:avLst/>
            <a:gdLst>
              <a:gd name="T0" fmla="*/ 189 w 1611"/>
              <a:gd name="T1" fmla="*/ 0 h 1422"/>
              <a:gd name="T2" fmla="*/ 189 w 1611"/>
              <a:gd name="T3" fmla="*/ 522 h 1422"/>
              <a:gd name="T4" fmla="*/ 0 w 1611"/>
              <a:gd name="T5" fmla="*/ 711 h 1422"/>
              <a:gd name="T6" fmla="*/ 189 w 1611"/>
              <a:gd name="T7" fmla="*/ 899 h 1422"/>
              <a:gd name="T8" fmla="*/ 189 w 1611"/>
              <a:gd name="T9" fmla="*/ 1421 h 1422"/>
              <a:gd name="T10" fmla="*/ 1610 w 1611"/>
              <a:gd name="T11" fmla="*/ 1421 h 1422"/>
              <a:gd name="T12" fmla="*/ 1610 w 1611"/>
              <a:gd name="T13" fmla="*/ 0 h 1422"/>
              <a:gd name="T14" fmla="*/ 189 w 1611"/>
              <a:gd name="T15" fmla="*/ 0 h 14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11" h="1422">
                <a:moveTo>
                  <a:pt x="189" y="0"/>
                </a:moveTo>
                <a:lnTo>
                  <a:pt x="189" y="522"/>
                </a:lnTo>
                <a:lnTo>
                  <a:pt x="0" y="711"/>
                </a:lnTo>
                <a:lnTo>
                  <a:pt x="189" y="899"/>
                </a:lnTo>
                <a:lnTo>
                  <a:pt x="189" y="1421"/>
                </a:lnTo>
                <a:lnTo>
                  <a:pt x="1610" y="1421"/>
                </a:lnTo>
                <a:lnTo>
                  <a:pt x="1610" y="0"/>
                </a:lnTo>
                <a:lnTo>
                  <a:pt x="189" y="0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/>
          </a:p>
        </p:txBody>
      </p:sp>
      <p:sp>
        <p:nvSpPr>
          <p:cNvPr id="66" name="Freeform 19">
            <a:extLst>
              <a:ext uri="{FF2B5EF4-FFF2-40B4-BE49-F238E27FC236}">
                <a16:creationId xmlns:a16="http://schemas.microsoft.com/office/drawing/2014/main" id="{886DE6BE-4071-F630-BDE8-7998D824C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7001" y="1755233"/>
            <a:ext cx="4602008" cy="1902367"/>
          </a:xfrm>
          <a:custGeom>
            <a:avLst/>
            <a:gdLst>
              <a:gd name="T0" fmla="*/ 6370 w 6371"/>
              <a:gd name="T1" fmla="*/ 1421 h 1422"/>
              <a:gd name="T2" fmla="*/ 0 w 6371"/>
              <a:gd name="T3" fmla="*/ 1421 h 1422"/>
              <a:gd name="T4" fmla="*/ 0 w 6371"/>
              <a:gd name="T5" fmla="*/ 0 h 1422"/>
              <a:gd name="T6" fmla="*/ 6370 w 6371"/>
              <a:gd name="T7" fmla="*/ 0 h 1422"/>
              <a:gd name="T8" fmla="*/ 6370 w 6371"/>
              <a:gd name="T9" fmla="*/ 1421 h 14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371" h="1422">
                <a:moveTo>
                  <a:pt x="6370" y="1421"/>
                </a:moveTo>
                <a:lnTo>
                  <a:pt x="0" y="1421"/>
                </a:lnTo>
                <a:lnTo>
                  <a:pt x="0" y="0"/>
                </a:lnTo>
                <a:lnTo>
                  <a:pt x="6370" y="0"/>
                </a:lnTo>
                <a:lnTo>
                  <a:pt x="6370" y="1421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/>
          </a:p>
        </p:txBody>
      </p:sp>
      <p:sp>
        <p:nvSpPr>
          <p:cNvPr id="74" name="Freeform 18">
            <a:extLst>
              <a:ext uri="{FF2B5EF4-FFF2-40B4-BE49-F238E27FC236}">
                <a16:creationId xmlns:a16="http://schemas.microsoft.com/office/drawing/2014/main" id="{7ADD4902-35F7-5AFD-A0BF-E261D1DF2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9008" y="3862930"/>
            <a:ext cx="1030748" cy="1209414"/>
          </a:xfrm>
          <a:custGeom>
            <a:avLst/>
            <a:gdLst>
              <a:gd name="T0" fmla="*/ 189 w 1611"/>
              <a:gd name="T1" fmla="*/ 0 h 1422"/>
              <a:gd name="T2" fmla="*/ 189 w 1611"/>
              <a:gd name="T3" fmla="*/ 522 h 1422"/>
              <a:gd name="T4" fmla="*/ 0 w 1611"/>
              <a:gd name="T5" fmla="*/ 711 h 1422"/>
              <a:gd name="T6" fmla="*/ 189 w 1611"/>
              <a:gd name="T7" fmla="*/ 899 h 1422"/>
              <a:gd name="T8" fmla="*/ 189 w 1611"/>
              <a:gd name="T9" fmla="*/ 1421 h 1422"/>
              <a:gd name="T10" fmla="*/ 1610 w 1611"/>
              <a:gd name="T11" fmla="*/ 1421 h 1422"/>
              <a:gd name="T12" fmla="*/ 1610 w 1611"/>
              <a:gd name="T13" fmla="*/ 0 h 1422"/>
              <a:gd name="T14" fmla="*/ 189 w 1611"/>
              <a:gd name="T15" fmla="*/ 0 h 14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11" h="1422">
                <a:moveTo>
                  <a:pt x="189" y="0"/>
                </a:moveTo>
                <a:lnTo>
                  <a:pt x="189" y="522"/>
                </a:lnTo>
                <a:lnTo>
                  <a:pt x="0" y="711"/>
                </a:lnTo>
                <a:lnTo>
                  <a:pt x="189" y="899"/>
                </a:lnTo>
                <a:lnTo>
                  <a:pt x="189" y="1421"/>
                </a:lnTo>
                <a:lnTo>
                  <a:pt x="1610" y="1421"/>
                </a:lnTo>
                <a:lnTo>
                  <a:pt x="1610" y="0"/>
                </a:lnTo>
                <a:lnTo>
                  <a:pt x="189" y="0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/>
          </a:p>
        </p:txBody>
      </p:sp>
      <p:sp>
        <p:nvSpPr>
          <p:cNvPr id="75" name="Freeform 19">
            <a:extLst>
              <a:ext uri="{FF2B5EF4-FFF2-40B4-BE49-F238E27FC236}">
                <a16:creationId xmlns:a16="http://schemas.microsoft.com/office/drawing/2014/main" id="{616B509C-A910-2E40-8E53-833AC4D0E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7294" y="3862930"/>
            <a:ext cx="3731714" cy="1209414"/>
          </a:xfrm>
          <a:custGeom>
            <a:avLst/>
            <a:gdLst>
              <a:gd name="T0" fmla="*/ 6370 w 6371"/>
              <a:gd name="T1" fmla="*/ 1421 h 1422"/>
              <a:gd name="T2" fmla="*/ 0 w 6371"/>
              <a:gd name="T3" fmla="*/ 1421 h 1422"/>
              <a:gd name="T4" fmla="*/ 0 w 6371"/>
              <a:gd name="T5" fmla="*/ 0 h 1422"/>
              <a:gd name="T6" fmla="*/ 6370 w 6371"/>
              <a:gd name="T7" fmla="*/ 0 h 1422"/>
              <a:gd name="T8" fmla="*/ 6370 w 6371"/>
              <a:gd name="T9" fmla="*/ 1421 h 14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371" h="1422">
                <a:moveTo>
                  <a:pt x="6370" y="1421"/>
                </a:moveTo>
                <a:lnTo>
                  <a:pt x="0" y="1421"/>
                </a:lnTo>
                <a:lnTo>
                  <a:pt x="0" y="0"/>
                </a:lnTo>
                <a:lnTo>
                  <a:pt x="6370" y="0"/>
                </a:lnTo>
                <a:lnTo>
                  <a:pt x="6370" y="1421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/>
          </a:p>
        </p:txBody>
      </p:sp>
      <p:sp>
        <p:nvSpPr>
          <p:cNvPr id="76" name="Subtitle 2">
            <a:extLst>
              <a:ext uri="{FF2B5EF4-FFF2-40B4-BE49-F238E27FC236}">
                <a16:creationId xmlns:a16="http://schemas.microsoft.com/office/drawing/2014/main" id="{829A928E-A65B-35FE-CECA-0AFD7E86BE33}"/>
              </a:ext>
            </a:extLst>
          </p:cNvPr>
          <p:cNvSpPr txBox="1">
            <a:spLocks/>
          </p:cNvSpPr>
          <p:nvPr/>
        </p:nvSpPr>
        <p:spPr>
          <a:xfrm>
            <a:off x="5317866" y="3942731"/>
            <a:ext cx="4210338" cy="113274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050"/>
              </a:lnSpc>
            </a:pPr>
            <a:r>
              <a:rPr lang="en-US" sz="12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Compare the "Retention day 30" of players who reached at least one milestone vs. those who didn’t.</a:t>
            </a:r>
          </a:p>
          <a:p>
            <a:pPr algn="l">
              <a:lnSpc>
                <a:spcPts val="2050"/>
              </a:lnSpc>
            </a:pPr>
            <a:r>
              <a:rPr lang="en-US" sz="12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Indicator: If loyalty players have a +15% higher retention, the program successful.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4478136C-E9E4-8B1E-4628-7DE017053D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2269402"/>
              </p:ext>
            </p:extLst>
          </p:nvPr>
        </p:nvGraphicFramePr>
        <p:xfrm>
          <a:off x="5795963" y="1960563"/>
          <a:ext cx="2873375" cy="155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2872647" imgH="1554480" progId="Excel.Sheet.12">
                  <p:embed/>
                </p:oleObj>
              </mc:Choice>
              <mc:Fallback>
                <p:oleObj name="Worksheet" r:id="rId3" imgW="2872647" imgH="1554480" progId="Excel.Sheet.12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4478136C-E9E4-8B1E-4628-7DE017053D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95963" y="1960563"/>
                        <a:ext cx="2873375" cy="1554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01D14C43-7200-6CBF-8FA8-0A0C731BB9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1800" y="0"/>
            <a:ext cx="1414462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975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1645A-6AE3-CD54-9E7D-74FC18A2B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965C56B-F5D6-C89A-78F8-446FE1919C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50" y="3903064"/>
            <a:ext cx="4663456" cy="6594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5000"/>
              </a:lnSpc>
            </a:pPr>
            <a:r>
              <a:rPr lang="en-US" sz="2400" b="1" dirty="0">
                <a:solidFill>
                  <a:schemeClr val="tx2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rPr>
              <a:t>North Star Metric Framework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C63877-5A5A-0899-B4E4-210B2B77EE49}"/>
              </a:ext>
            </a:extLst>
          </p:cNvPr>
          <p:cNvSpPr/>
          <p:nvPr/>
        </p:nvSpPr>
        <p:spPr>
          <a:xfrm>
            <a:off x="-118267" y="2753975"/>
            <a:ext cx="4503733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9600" b="1" cap="none" spc="0" dirty="0">
                <a:ln/>
                <a:solidFill>
                  <a:schemeClr val="accent4"/>
                </a:solidFill>
                <a:effectLst/>
              </a:rPr>
              <a:t>4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9AA5347-C5FF-638B-3826-BAE93F8B3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800" y="0"/>
            <a:ext cx="1414462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429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B867F0-F07D-3223-D932-531CD7A00ACA}"/>
              </a:ext>
            </a:extLst>
          </p:cNvPr>
          <p:cNvSpPr txBox="1"/>
          <p:nvPr/>
        </p:nvSpPr>
        <p:spPr>
          <a:xfrm>
            <a:off x="642612" y="-18141"/>
            <a:ext cx="2659702" cy="6594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MX"/>
            </a:defPPr>
            <a:lvl1pPr defTabSz="914217">
              <a:lnSpc>
                <a:spcPts val="5000"/>
              </a:lnSpc>
              <a:defRPr sz="2400" b="1">
                <a:solidFill>
                  <a:srgbClr val="08204C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defRPr>
            </a:lvl1pPr>
          </a:lstStyle>
          <a:p>
            <a:r>
              <a:rPr lang="en-US" dirty="0"/>
              <a:t>NSM framework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303D1A-FBF6-C554-BD8C-F57D5F4AAEC9}"/>
              </a:ext>
            </a:extLst>
          </p:cNvPr>
          <p:cNvSpPr txBox="1"/>
          <p:nvPr/>
        </p:nvSpPr>
        <p:spPr>
          <a:xfrm>
            <a:off x="642612" y="726014"/>
            <a:ext cx="10306594" cy="292388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1300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Sportsbook Missions</a:t>
            </a:r>
            <a:endParaRPr lang="en-US" sz="1300" spc="50" dirty="0">
              <a:solidFill>
                <a:srgbClr val="AAAAAA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grpSp>
        <p:nvGrpSpPr>
          <p:cNvPr id="9" name="Grupo 9">
            <a:extLst>
              <a:ext uri="{FF2B5EF4-FFF2-40B4-BE49-F238E27FC236}">
                <a16:creationId xmlns:a16="http://schemas.microsoft.com/office/drawing/2014/main" id="{41070670-D3AF-7407-357F-FB1810E15421}"/>
              </a:ext>
            </a:extLst>
          </p:cNvPr>
          <p:cNvGrpSpPr/>
          <p:nvPr/>
        </p:nvGrpSpPr>
        <p:grpSpPr>
          <a:xfrm>
            <a:off x="5144250" y="3203793"/>
            <a:ext cx="1938742" cy="1103449"/>
            <a:chOff x="10251458" y="6482524"/>
            <a:chExt cx="3877483" cy="2206898"/>
          </a:xfrm>
          <a:solidFill>
            <a:srgbClr val="AAAAAA">
              <a:lumMod val="40000"/>
              <a:lumOff val="60000"/>
            </a:srgbClr>
          </a:solidFill>
        </p:grpSpPr>
        <p:sp>
          <p:nvSpPr>
            <p:cNvPr id="11" name="Rectángulo 126">
              <a:extLst>
                <a:ext uri="{FF2B5EF4-FFF2-40B4-BE49-F238E27FC236}">
                  <a16:creationId xmlns:a16="http://schemas.microsoft.com/office/drawing/2014/main" id="{ECDCD103-B6F3-14B4-067B-019BB278A97D}"/>
                </a:ext>
              </a:extLst>
            </p:cNvPr>
            <p:cNvSpPr/>
            <p:nvPr/>
          </p:nvSpPr>
          <p:spPr>
            <a:xfrm rot="4199331" flipH="1">
              <a:off x="13400278" y="5937800"/>
              <a:ext cx="87950" cy="1261860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ángulo 127">
              <a:extLst>
                <a:ext uri="{FF2B5EF4-FFF2-40B4-BE49-F238E27FC236}">
                  <a16:creationId xmlns:a16="http://schemas.microsoft.com/office/drawing/2014/main" id="{631F2D3B-33CA-352E-3034-63F823053761}"/>
                </a:ext>
              </a:extLst>
            </p:cNvPr>
            <p:cNvSpPr/>
            <p:nvPr/>
          </p:nvSpPr>
          <p:spPr>
            <a:xfrm rot="17400669" flipH="1" flipV="1">
              <a:off x="13454036" y="7943117"/>
              <a:ext cx="87950" cy="1261860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Rectángulo 123">
              <a:extLst>
                <a:ext uri="{FF2B5EF4-FFF2-40B4-BE49-F238E27FC236}">
                  <a16:creationId xmlns:a16="http://schemas.microsoft.com/office/drawing/2014/main" id="{56A6DD28-E344-F431-738B-A742865A020E}"/>
                </a:ext>
              </a:extLst>
            </p:cNvPr>
            <p:cNvSpPr/>
            <p:nvPr/>
          </p:nvSpPr>
          <p:spPr>
            <a:xfrm rot="4199331" flipV="1">
              <a:off x="10892171" y="7975958"/>
              <a:ext cx="87950" cy="1261860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Rectángulo 122">
              <a:extLst>
                <a:ext uri="{FF2B5EF4-FFF2-40B4-BE49-F238E27FC236}">
                  <a16:creationId xmlns:a16="http://schemas.microsoft.com/office/drawing/2014/main" id="{46A7E2B8-6504-48E2-AFA5-09054D1545CB}"/>
                </a:ext>
              </a:extLst>
            </p:cNvPr>
            <p:cNvSpPr/>
            <p:nvPr/>
          </p:nvSpPr>
          <p:spPr>
            <a:xfrm rot="17400669">
              <a:off x="10838413" y="5970641"/>
              <a:ext cx="87950" cy="1261860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55">
              <a:extLst>
                <a:ext uri="{FF2B5EF4-FFF2-40B4-BE49-F238E27FC236}">
                  <a16:creationId xmlns:a16="http://schemas.microsoft.com/office/drawing/2014/main" id="{BE2AD955-A272-7E19-CCF3-C4F85C5F85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8969" y="6482524"/>
              <a:ext cx="2206898" cy="2206898"/>
            </a:xfrm>
            <a:custGeom>
              <a:avLst/>
              <a:gdLst>
                <a:gd name="T0" fmla="*/ 1786 w 3573"/>
                <a:gd name="T1" fmla="*/ 169 h 3573"/>
                <a:gd name="T2" fmla="*/ 170 w 3573"/>
                <a:gd name="T3" fmla="*/ 1786 h 3573"/>
                <a:gd name="T4" fmla="*/ 1786 w 3573"/>
                <a:gd name="T5" fmla="*/ 3404 h 3573"/>
                <a:gd name="T6" fmla="*/ 3404 w 3573"/>
                <a:gd name="T7" fmla="*/ 1786 h 3573"/>
                <a:gd name="T8" fmla="*/ 1786 w 3573"/>
                <a:gd name="T9" fmla="*/ 169 h 3573"/>
                <a:gd name="T10" fmla="*/ 1786 w 3573"/>
                <a:gd name="T11" fmla="*/ 3572 h 3573"/>
                <a:gd name="T12" fmla="*/ 0 w 3573"/>
                <a:gd name="T13" fmla="*/ 1786 h 3573"/>
                <a:gd name="T14" fmla="*/ 1786 w 3573"/>
                <a:gd name="T15" fmla="*/ 0 h 3573"/>
                <a:gd name="T16" fmla="*/ 3572 w 3573"/>
                <a:gd name="T17" fmla="*/ 1786 h 3573"/>
                <a:gd name="T18" fmla="*/ 1786 w 3573"/>
                <a:gd name="T19" fmla="*/ 3572 h 3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73" h="3573">
                  <a:moveTo>
                    <a:pt x="1786" y="169"/>
                  </a:moveTo>
                  <a:cubicBezTo>
                    <a:pt x="895" y="169"/>
                    <a:pt x="170" y="895"/>
                    <a:pt x="170" y="1786"/>
                  </a:cubicBezTo>
                  <a:cubicBezTo>
                    <a:pt x="170" y="2678"/>
                    <a:pt x="895" y="3404"/>
                    <a:pt x="1786" y="3404"/>
                  </a:cubicBezTo>
                  <a:cubicBezTo>
                    <a:pt x="2679" y="3404"/>
                    <a:pt x="3404" y="2678"/>
                    <a:pt x="3404" y="1786"/>
                  </a:cubicBezTo>
                  <a:cubicBezTo>
                    <a:pt x="3404" y="895"/>
                    <a:pt x="2679" y="169"/>
                    <a:pt x="1786" y="169"/>
                  </a:cubicBezTo>
                  <a:close/>
                  <a:moveTo>
                    <a:pt x="1786" y="3572"/>
                  </a:moveTo>
                  <a:cubicBezTo>
                    <a:pt x="801" y="3572"/>
                    <a:pt x="0" y="2771"/>
                    <a:pt x="0" y="1786"/>
                  </a:cubicBezTo>
                  <a:cubicBezTo>
                    <a:pt x="0" y="801"/>
                    <a:pt x="801" y="0"/>
                    <a:pt x="1786" y="0"/>
                  </a:cubicBezTo>
                  <a:cubicBezTo>
                    <a:pt x="2771" y="0"/>
                    <a:pt x="3572" y="801"/>
                    <a:pt x="3572" y="1786"/>
                  </a:cubicBezTo>
                  <a:cubicBezTo>
                    <a:pt x="3572" y="2771"/>
                    <a:pt x="2771" y="3572"/>
                    <a:pt x="1786" y="3572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26" name="Freeform 1">
            <a:extLst>
              <a:ext uri="{FF2B5EF4-FFF2-40B4-BE49-F238E27FC236}">
                <a16:creationId xmlns:a16="http://schemas.microsoft.com/office/drawing/2014/main" id="{B7BCE058-3B90-2CB8-8AEB-22EFB6B71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3390" y="2874122"/>
            <a:ext cx="1260112" cy="442742"/>
          </a:xfrm>
          <a:custGeom>
            <a:avLst/>
            <a:gdLst>
              <a:gd name="T0" fmla="*/ 4080 w 4081"/>
              <a:gd name="T1" fmla="*/ 1068 h 1432"/>
              <a:gd name="T2" fmla="*/ 3716 w 4081"/>
              <a:gd name="T3" fmla="*/ 1431 h 1432"/>
              <a:gd name="T4" fmla="*/ 363 w 4081"/>
              <a:gd name="T5" fmla="*/ 1431 h 1432"/>
              <a:gd name="T6" fmla="*/ 0 w 4081"/>
              <a:gd name="T7" fmla="*/ 1068 h 1432"/>
              <a:gd name="T8" fmla="*/ 0 w 4081"/>
              <a:gd name="T9" fmla="*/ 363 h 1432"/>
              <a:gd name="T10" fmla="*/ 363 w 4081"/>
              <a:gd name="T11" fmla="*/ 0 h 1432"/>
              <a:gd name="T12" fmla="*/ 3716 w 4081"/>
              <a:gd name="T13" fmla="*/ 0 h 1432"/>
              <a:gd name="T14" fmla="*/ 4080 w 4081"/>
              <a:gd name="T15" fmla="*/ 363 h 1432"/>
              <a:gd name="T16" fmla="*/ 4080 w 4081"/>
              <a:gd name="T17" fmla="*/ 1068 h 14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081" h="1432">
                <a:moveTo>
                  <a:pt x="4080" y="1068"/>
                </a:moveTo>
                <a:cubicBezTo>
                  <a:pt x="4080" y="1269"/>
                  <a:pt x="3917" y="1431"/>
                  <a:pt x="3716" y="1431"/>
                </a:cubicBezTo>
                <a:lnTo>
                  <a:pt x="363" y="1431"/>
                </a:lnTo>
                <a:cubicBezTo>
                  <a:pt x="163" y="1431"/>
                  <a:pt x="0" y="1269"/>
                  <a:pt x="0" y="1068"/>
                </a:cubicBezTo>
                <a:lnTo>
                  <a:pt x="0" y="363"/>
                </a:lnTo>
                <a:cubicBezTo>
                  <a:pt x="0" y="163"/>
                  <a:pt x="163" y="0"/>
                  <a:pt x="363" y="0"/>
                </a:cubicBezTo>
                <a:lnTo>
                  <a:pt x="3716" y="0"/>
                </a:lnTo>
                <a:cubicBezTo>
                  <a:pt x="3917" y="0"/>
                  <a:pt x="4080" y="163"/>
                  <a:pt x="4080" y="363"/>
                </a:cubicBezTo>
                <a:lnTo>
                  <a:pt x="4080" y="1068"/>
                </a:lnTo>
              </a:path>
            </a:pathLst>
          </a:custGeom>
          <a:solidFill>
            <a:srgbClr val="35CA78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28" name="Freeform 3">
            <a:extLst>
              <a:ext uri="{FF2B5EF4-FFF2-40B4-BE49-F238E27FC236}">
                <a16:creationId xmlns:a16="http://schemas.microsoft.com/office/drawing/2014/main" id="{6FD45603-6857-D46D-1240-CF8689CAD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3390" y="4194173"/>
            <a:ext cx="1260112" cy="442743"/>
          </a:xfrm>
          <a:custGeom>
            <a:avLst/>
            <a:gdLst>
              <a:gd name="T0" fmla="*/ 4080 w 4081"/>
              <a:gd name="T1" fmla="*/ 1067 h 1431"/>
              <a:gd name="T2" fmla="*/ 3716 w 4081"/>
              <a:gd name="T3" fmla="*/ 1430 h 1431"/>
              <a:gd name="T4" fmla="*/ 363 w 4081"/>
              <a:gd name="T5" fmla="*/ 1430 h 1431"/>
              <a:gd name="T6" fmla="*/ 0 w 4081"/>
              <a:gd name="T7" fmla="*/ 1067 h 1431"/>
              <a:gd name="T8" fmla="*/ 0 w 4081"/>
              <a:gd name="T9" fmla="*/ 363 h 1431"/>
              <a:gd name="T10" fmla="*/ 363 w 4081"/>
              <a:gd name="T11" fmla="*/ 0 h 1431"/>
              <a:gd name="T12" fmla="*/ 3716 w 4081"/>
              <a:gd name="T13" fmla="*/ 0 h 1431"/>
              <a:gd name="T14" fmla="*/ 4080 w 4081"/>
              <a:gd name="T15" fmla="*/ 363 h 1431"/>
              <a:gd name="T16" fmla="*/ 4080 w 4081"/>
              <a:gd name="T17" fmla="*/ 1067 h 14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081" h="1431">
                <a:moveTo>
                  <a:pt x="4080" y="1067"/>
                </a:moveTo>
                <a:cubicBezTo>
                  <a:pt x="4080" y="1267"/>
                  <a:pt x="3917" y="1430"/>
                  <a:pt x="3716" y="1430"/>
                </a:cubicBezTo>
                <a:lnTo>
                  <a:pt x="363" y="1430"/>
                </a:lnTo>
                <a:cubicBezTo>
                  <a:pt x="163" y="1430"/>
                  <a:pt x="0" y="1267"/>
                  <a:pt x="0" y="1067"/>
                </a:cubicBezTo>
                <a:lnTo>
                  <a:pt x="0" y="363"/>
                </a:lnTo>
                <a:cubicBezTo>
                  <a:pt x="0" y="162"/>
                  <a:pt x="163" y="0"/>
                  <a:pt x="363" y="0"/>
                </a:cubicBezTo>
                <a:lnTo>
                  <a:pt x="3716" y="0"/>
                </a:lnTo>
                <a:cubicBezTo>
                  <a:pt x="3917" y="0"/>
                  <a:pt x="4080" y="162"/>
                  <a:pt x="4080" y="363"/>
                </a:cubicBezTo>
                <a:lnTo>
                  <a:pt x="4080" y="1067"/>
                </a:lnTo>
              </a:path>
            </a:pathLst>
          </a:custGeom>
          <a:solidFill>
            <a:srgbClr val="23A4A7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29" name="Freeform 4">
            <a:extLst>
              <a:ext uri="{FF2B5EF4-FFF2-40B4-BE49-F238E27FC236}">
                <a16:creationId xmlns:a16="http://schemas.microsoft.com/office/drawing/2014/main" id="{6299C280-CF59-50A1-9E95-119C76D3E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2365" y="2874122"/>
            <a:ext cx="1260112" cy="442742"/>
          </a:xfrm>
          <a:custGeom>
            <a:avLst/>
            <a:gdLst>
              <a:gd name="T0" fmla="*/ 4079 w 4080"/>
              <a:gd name="T1" fmla="*/ 1068 h 1432"/>
              <a:gd name="T2" fmla="*/ 3716 w 4080"/>
              <a:gd name="T3" fmla="*/ 1431 h 1432"/>
              <a:gd name="T4" fmla="*/ 363 w 4080"/>
              <a:gd name="T5" fmla="*/ 1431 h 1432"/>
              <a:gd name="T6" fmla="*/ 0 w 4080"/>
              <a:gd name="T7" fmla="*/ 1068 h 1432"/>
              <a:gd name="T8" fmla="*/ 0 w 4080"/>
              <a:gd name="T9" fmla="*/ 363 h 1432"/>
              <a:gd name="T10" fmla="*/ 363 w 4080"/>
              <a:gd name="T11" fmla="*/ 0 h 1432"/>
              <a:gd name="T12" fmla="*/ 3716 w 4080"/>
              <a:gd name="T13" fmla="*/ 0 h 1432"/>
              <a:gd name="T14" fmla="*/ 4079 w 4080"/>
              <a:gd name="T15" fmla="*/ 363 h 1432"/>
              <a:gd name="T16" fmla="*/ 4079 w 4080"/>
              <a:gd name="T17" fmla="*/ 1068 h 14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080" h="1432">
                <a:moveTo>
                  <a:pt x="4079" y="1068"/>
                </a:moveTo>
                <a:cubicBezTo>
                  <a:pt x="4079" y="1269"/>
                  <a:pt x="3916" y="1431"/>
                  <a:pt x="3716" y="1431"/>
                </a:cubicBezTo>
                <a:lnTo>
                  <a:pt x="363" y="1431"/>
                </a:lnTo>
                <a:cubicBezTo>
                  <a:pt x="162" y="1431"/>
                  <a:pt x="0" y="1269"/>
                  <a:pt x="0" y="1068"/>
                </a:cubicBezTo>
                <a:lnTo>
                  <a:pt x="0" y="363"/>
                </a:lnTo>
                <a:cubicBezTo>
                  <a:pt x="0" y="163"/>
                  <a:pt x="162" y="0"/>
                  <a:pt x="363" y="0"/>
                </a:cubicBezTo>
                <a:lnTo>
                  <a:pt x="3716" y="0"/>
                </a:lnTo>
                <a:cubicBezTo>
                  <a:pt x="3916" y="0"/>
                  <a:pt x="4079" y="163"/>
                  <a:pt x="4079" y="363"/>
                </a:cubicBezTo>
                <a:lnTo>
                  <a:pt x="4079" y="1068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0" name="Freeform 5">
            <a:extLst>
              <a:ext uri="{FF2B5EF4-FFF2-40B4-BE49-F238E27FC236}">
                <a16:creationId xmlns:a16="http://schemas.microsoft.com/office/drawing/2014/main" id="{945D9568-FEA2-BB40-EC4E-A1175E44C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2365" y="4194173"/>
            <a:ext cx="1260112" cy="442743"/>
          </a:xfrm>
          <a:custGeom>
            <a:avLst/>
            <a:gdLst>
              <a:gd name="T0" fmla="*/ 4079 w 4080"/>
              <a:gd name="T1" fmla="*/ 1067 h 1431"/>
              <a:gd name="T2" fmla="*/ 3716 w 4080"/>
              <a:gd name="T3" fmla="*/ 1430 h 1431"/>
              <a:gd name="T4" fmla="*/ 363 w 4080"/>
              <a:gd name="T5" fmla="*/ 1430 h 1431"/>
              <a:gd name="T6" fmla="*/ 0 w 4080"/>
              <a:gd name="T7" fmla="*/ 1067 h 1431"/>
              <a:gd name="T8" fmla="*/ 0 w 4080"/>
              <a:gd name="T9" fmla="*/ 363 h 1431"/>
              <a:gd name="T10" fmla="*/ 363 w 4080"/>
              <a:gd name="T11" fmla="*/ 0 h 1431"/>
              <a:gd name="T12" fmla="*/ 3716 w 4080"/>
              <a:gd name="T13" fmla="*/ 0 h 1431"/>
              <a:gd name="T14" fmla="*/ 4079 w 4080"/>
              <a:gd name="T15" fmla="*/ 363 h 1431"/>
              <a:gd name="T16" fmla="*/ 4079 w 4080"/>
              <a:gd name="T17" fmla="*/ 1067 h 14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080" h="1431">
                <a:moveTo>
                  <a:pt x="4079" y="1067"/>
                </a:moveTo>
                <a:cubicBezTo>
                  <a:pt x="4079" y="1267"/>
                  <a:pt x="3916" y="1430"/>
                  <a:pt x="3716" y="1430"/>
                </a:cubicBezTo>
                <a:lnTo>
                  <a:pt x="363" y="1430"/>
                </a:lnTo>
                <a:cubicBezTo>
                  <a:pt x="162" y="1430"/>
                  <a:pt x="0" y="1267"/>
                  <a:pt x="0" y="1067"/>
                </a:cubicBezTo>
                <a:lnTo>
                  <a:pt x="0" y="363"/>
                </a:lnTo>
                <a:cubicBezTo>
                  <a:pt x="0" y="162"/>
                  <a:pt x="162" y="0"/>
                  <a:pt x="363" y="0"/>
                </a:cubicBezTo>
                <a:lnTo>
                  <a:pt x="3716" y="0"/>
                </a:lnTo>
                <a:cubicBezTo>
                  <a:pt x="3916" y="0"/>
                  <a:pt x="4079" y="162"/>
                  <a:pt x="4079" y="363"/>
                </a:cubicBezTo>
                <a:lnTo>
                  <a:pt x="4079" y="1067"/>
                </a:lnTo>
              </a:path>
            </a:pathLst>
          </a:custGeom>
          <a:solidFill>
            <a:srgbClr val="566A7C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2" name="Freeform 15">
            <a:extLst>
              <a:ext uri="{FF2B5EF4-FFF2-40B4-BE49-F238E27FC236}">
                <a16:creationId xmlns:a16="http://schemas.microsoft.com/office/drawing/2014/main" id="{BF0ED828-7BBE-06D3-BE17-468521270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2593" y="1422614"/>
            <a:ext cx="781951" cy="781951"/>
          </a:xfrm>
          <a:custGeom>
            <a:avLst/>
            <a:gdLst>
              <a:gd name="T0" fmla="*/ 1264 w 2530"/>
              <a:gd name="T1" fmla="*/ 135 h 2530"/>
              <a:gd name="T2" fmla="*/ 135 w 2530"/>
              <a:gd name="T3" fmla="*/ 1265 h 2530"/>
              <a:gd name="T4" fmla="*/ 1264 w 2530"/>
              <a:gd name="T5" fmla="*/ 2394 h 2530"/>
              <a:gd name="T6" fmla="*/ 2393 w 2530"/>
              <a:gd name="T7" fmla="*/ 1265 h 2530"/>
              <a:gd name="T8" fmla="*/ 1264 w 2530"/>
              <a:gd name="T9" fmla="*/ 135 h 2530"/>
              <a:gd name="T10" fmla="*/ 1264 w 2530"/>
              <a:gd name="T11" fmla="*/ 2529 h 2530"/>
              <a:gd name="T12" fmla="*/ 0 w 2530"/>
              <a:gd name="T13" fmla="*/ 1265 h 2530"/>
              <a:gd name="T14" fmla="*/ 1264 w 2530"/>
              <a:gd name="T15" fmla="*/ 0 h 2530"/>
              <a:gd name="T16" fmla="*/ 2529 w 2530"/>
              <a:gd name="T17" fmla="*/ 1265 h 2530"/>
              <a:gd name="T18" fmla="*/ 1264 w 2530"/>
              <a:gd name="T19" fmla="*/ 2529 h 25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530" h="2530">
                <a:moveTo>
                  <a:pt x="1264" y="135"/>
                </a:moveTo>
                <a:cubicBezTo>
                  <a:pt x="642" y="135"/>
                  <a:pt x="135" y="642"/>
                  <a:pt x="135" y="1265"/>
                </a:cubicBezTo>
                <a:cubicBezTo>
                  <a:pt x="135" y="1887"/>
                  <a:pt x="642" y="2394"/>
                  <a:pt x="1264" y="2394"/>
                </a:cubicBezTo>
                <a:cubicBezTo>
                  <a:pt x="1887" y="2394"/>
                  <a:pt x="2393" y="1887"/>
                  <a:pt x="2393" y="1265"/>
                </a:cubicBezTo>
                <a:cubicBezTo>
                  <a:pt x="2393" y="642"/>
                  <a:pt x="1887" y="135"/>
                  <a:pt x="1264" y="135"/>
                </a:cubicBezTo>
                <a:close/>
                <a:moveTo>
                  <a:pt x="1264" y="2529"/>
                </a:moveTo>
                <a:cubicBezTo>
                  <a:pt x="567" y="2529"/>
                  <a:pt x="0" y="1962"/>
                  <a:pt x="0" y="1265"/>
                </a:cubicBezTo>
                <a:cubicBezTo>
                  <a:pt x="0" y="567"/>
                  <a:pt x="567" y="0"/>
                  <a:pt x="1264" y="0"/>
                </a:cubicBezTo>
                <a:cubicBezTo>
                  <a:pt x="1961" y="0"/>
                  <a:pt x="2529" y="567"/>
                  <a:pt x="2529" y="1265"/>
                </a:cubicBezTo>
                <a:cubicBezTo>
                  <a:pt x="2529" y="1962"/>
                  <a:pt x="1961" y="2529"/>
                  <a:pt x="1264" y="252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FFFFFF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217"/>
            <a:endParaRPr lang="en-US">
              <a:solidFill>
                <a:srgbClr val="AAAAAA"/>
              </a:solidFill>
              <a:latin typeface="Calibri" panose="020F0502020204030204"/>
            </a:endParaRPr>
          </a:p>
        </p:txBody>
      </p:sp>
      <p:sp>
        <p:nvSpPr>
          <p:cNvPr id="33" name="Freeform 16">
            <a:extLst>
              <a:ext uri="{FF2B5EF4-FFF2-40B4-BE49-F238E27FC236}">
                <a16:creationId xmlns:a16="http://schemas.microsoft.com/office/drawing/2014/main" id="{1D61B769-C6EB-BC24-95B3-E0E357691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9960" y="2725633"/>
            <a:ext cx="739720" cy="739720"/>
          </a:xfrm>
          <a:custGeom>
            <a:avLst/>
            <a:gdLst>
              <a:gd name="T0" fmla="*/ 1197 w 2395"/>
              <a:gd name="T1" fmla="*/ 0 h 2395"/>
              <a:gd name="T2" fmla="*/ 2394 w 2395"/>
              <a:gd name="T3" fmla="*/ 1197 h 2395"/>
              <a:gd name="T4" fmla="*/ 1197 w 2395"/>
              <a:gd name="T5" fmla="*/ 2394 h 2395"/>
              <a:gd name="T6" fmla="*/ 0 w 2395"/>
              <a:gd name="T7" fmla="*/ 1197 h 2395"/>
              <a:gd name="T8" fmla="*/ 1197 w 2395"/>
              <a:gd name="T9" fmla="*/ 0 h 23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95" h="2395">
                <a:moveTo>
                  <a:pt x="1197" y="0"/>
                </a:moveTo>
                <a:cubicBezTo>
                  <a:pt x="1857" y="0"/>
                  <a:pt x="2394" y="537"/>
                  <a:pt x="2394" y="1197"/>
                </a:cubicBezTo>
                <a:cubicBezTo>
                  <a:pt x="2394" y="1857"/>
                  <a:pt x="1857" y="2394"/>
                  <a:pt x="1197" y="2394"/>
                </a:cubicBezTo>
                <a:cubicBezTo>
                  <a:pt x="537" y="2394"/>
                  <a:pt x="0" y="1857"/>
                  <a:pt x="0" y="1197"/>
                </a:cubicBezTo>
                <a:cubicBezTo>
                  <a:pt x="0" y="537"/>
                  <a:pt x="537" y="0"/>
                  <a:pt x="1197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4" name="Freeform 17">
            <a:extLst>
              <a:ext uri="{FF2B5EF4-FFF2-40B4-BE49-F238E27FC236}">
                <a16:creationId xmlns:a16="http://schemas.microsoft.com/office/drawing/2014/main" id="{2E0F6BCF-ED98-05CC-ED00-C4371617D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9526" y="2705199"/>
            <a:ext cx="781951" cy="781951"/>
          </a:xfrm>
          <a:custGeom>
            <a:avLst/>
            <a:gdLst>
              <a:gd name="T0" fmla="*/ 1264 w 2530"/>
              <a:gd name="T1" fmla="*/ 134 h 2529"/>
              <a:gd name="T2" fmla="*/ 135 w 2530"/>
              <a:gd name="T3" fmla="*/ 1264 h 2529"/>
              <a:gd name="T4" fmla="*/ 1264 w 2530"/>
              <a:gd name="T5" fmla="*/ 2393 h 2529"/>
              <a:gd name="T6" fmla="*/ 2393 w 2530"/>
              <a:gd name="T7" fmla="*/ 1264 h 2529"/>
              <a:gd name="T8" fmla="*/ 1264 w 2530"/>
              <a:gd name="T9" fmla="*/ 134 h 2529"/>
              <a:gd name="T10" fmla="*/ 1264 w 2530"/>
              <a:gd name="T11" fmla="*/ 2528 h 2529"/>
              <a:gd name="T12" fmla="*/ 0 w 2530"/>
              <a:gd name="T13" fmla="*/ 1264 h 2529"/>
              <a:gd name="T14" fmla="*/ 1264 w 2530"/>
              <a:gd name="T15" fmla="*/ 0 h 2529"/>
              <a:gd name="T16" fmla="*/ 2529 w 2530"/>
              <a:gd name="T17" fmla="*/ 1264 h 2529"/>
              <a:gd name="T18" fmla="*/ 1264 w 2530"/>
              <a:gd name="T19" fmla="*/ 2528 h 25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530" h="2529">
                <a:moveTo>
                  <a:pt x="1264" y="134"/>
                </a:moveTo>
                <a:cubicBezTo>
                  <a:pt x="642" y="134"/>
                  <a:pt x="135" y="641"/>
                  <a:pt x="135" y="1264"/>
                </a:cubicBezTo>
                <a:cubicBezTo>
                  <a:pt x="135" y="1887"/>
                  <a:pt x="642" y="2393"/>
                  <a:pt x="1264" y="2393"/>
                </a:cubicBezTo>
                <a:cubicBezTo>
                  <a:pt x="1887" y="2393"/>
                  <a:pt x="2393" y="1887"/>
                  <a:pt x="2393" y="1264"/>
                </a:cubicBezTo>
                <a:cubicBezTo>
                  <a:pt x="2393" y="641"/>
                  <a:pt x="1887" y="134"/>
                  <a:pt x="1264" y="134"/>
                </a:cubicBezTo>
                <a:close/>
                <a:moveTo>
                  <a:pt x="1264" y="2528"/>
                </a:moveTo>
                <a:cubicBezTo>
                  <a:pt x="567" y="2528"/>
                  <a:pt x="0" y="1961"/>
                  <a:pt x="0" y="1264"/>
                </a:cubicBezTo>
                <a:cubicBezTo>
                  <a:pt x="0" y="566"/>
                  <a:pt x="567" y="0"/>
                  <a:pt x="1264" y="0"/>
                </a:cubicBezTo>
                <a:cubicBezTo>
                  <a:pt x="1961" y="0"/>
                  <a:pt x="2529" y="566"/>
                  <a:pt x="2529" y="1264"/>
                </a:cubicBezTo>
                <a:cubicBezTo>
                  <a:pt x="2529" y="1961"/>
                  <a:pt x="1961" y="2528"/>
                  <a:pt x="1264" y="252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FFFFFF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217"/>
            <a:endParaRPr lang="en-US">
              <a:solidFill>
                <a:srgbClr val="AAAAAA"/>
              </a:solidFill>
              <a:latin typeface="Calibri" panose="020F0502020204030204"/>
            </a:endParaRPr>
          </a:p>
        </p:txBody>
      </p:sp>
      <p:sp>
        <p:nvSpPr>
          <p:cNvPr id="54" name="Freeform 18">
            <a:extLst>
              <a:ext uri="{FF2B5EF4-FFF2-40B4-BE49-F238E27FC236}">
                <a16:creationId xmlns:a16="http://schemas.microsoft.com/office/drawing/2014/main" id="{D8DD990F-8F99-DE97-474F-B9D243DA1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0641" y="4046366"/>
            <a:ext cx="739720" cy="739719"/>
          </a:xfrm>
          <a:custGeom>
            <a:avLst/>
            <a:gdLst>
              <a:gd name="T0" fmla="*/ 1197 w 2395"/>
              <a:gd name="T1" fmla="*/ 0 h 2394"/>
              <a:gd name="T2" fmla="*/ 2394 w 2395"/>
              <a:gd name="T3" fmla="*/ 1197 h 2394"/>
              <a:gd name="T4" fmla="*/ 1197 w 2395"/>
              <a:gd name="T5" fmla="*/ 2393 h 2394"/>
              <a:gd name="T6" fmla="*/ 0 w 2395"/>
              <a:gd name="T7" fmla="*/ 1197 h 2394"/>
              <a:gd name="T8" fmla="*/ 1197 w 2395"/>
              <a:gd name="T9" fmla="*/ 0 h 2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95" h="2394">
                <a:moveTo>
                  <a:pt x="1197" y="0"/>
                </a:moveTo>
                <a:cubicBezTo>
                  <a:pt x="1857" y="0"/>
                  <a:pt x="2394" y="537"/>
                  <a:pt x="2394" y="1197"/>
                </a:cubicBezTo>
                <a:cubicBezTo>
                  <a:pt x="2394" y="1857"/>
                  <a:pt x="1857" y="2393"/>
                  <a:pt x="1197" y="2393"/>
                </a:cubicBezTo>
                <a:cubicBezTo>
                  <a:pt x="537" y="2393"/>
                  <a:pt x="0" y="1857"/>
                  <a:pt x="0" y="1197"/>
                </a:cubicBezTo>
                <a:cubicBezTo>
                  <a:pt x="0" y="537"/>
                  <a:pt x="537" y="0"/>
                  <a:pt x="1197" y="0"/>
                </a:cubicBezTo>
              </a:path>
            </a:pathLst>
          </a:custGeom>
          <a:solidFill>
            <a:srgbClr val="566A7C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55" name="Freeform 19">
            <a:extLst>
              <a:ext uri="{FF2B5EF4-FFF2-40B4-BE49-F238E27FC236}">
                <a16:creationId xmlns:a16="http://schemas.microsoft.com/office/drawing/2014/main" id="{91BA1AC7-F60D-3BF4-D689-75ED67C78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9526" y="4025250"/>
            <a:ext cx="781951" cy="781951"/>
          </a:xfrm>
          <a:custGeom>
            <a:avLst/>
            <a:gdLst>
              <a:gd name="T0" fmla="*/ 1264 w 2530"/>
              <a:gd name="T1" fmla="*/ 135 h 2530"/>
              <a:gd name="T2" fmla="*/ 135 w 2530"/>
              <a:gd name="T3" fmla="*/ 1265 h 2530"/>
              <a:gd name="T4" fmla="*/ 1264 w 2530"/>
              <a:gd name="T5" fmla="*/ 2394 h 2530"/>
              <a:gd name="T6" fmla="*/ 2393 w 2530"/>
              <a:gd name="T7" fmla="*/ 1265 h 2530"/>
              <a:gd name="T8" fmla="*/ 1264 w 2530"/>
              <a:gd name="T9" fmla="*/ 135 h 2530"/>
              <a:gd name="T10" fmla="*/ 1264 w 2530"/>
              <a:gd name="T11" fmla="*/ 2529 h 2530"/>
              <a:gd name="T12" fmla="*/ 0 w 2530"/>
              <a:gd name="T13" fmla="*/ 1265 h 2530"/>
              <a:gd name="T14" fmla="*/ 1264 w 2530"/>
              <a:gd name="T15" fmla="*/ 0 h 2530"/>
              <a:gd name="T16" fmla="*/ 2529 w 2530"/>
              <a:gd name="T17" fmla="*/ 1265 h 2530"/>
              <a:gd name="T18" fmla="*/ 1264 w 2530"/>
              <a:gd name="T19" fmla="*/ 2529 h 25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530" h="2530">
                <a:moveTo>
                  <a:pt x="1264" y="135"/>
                </a:moveTo>
                <a:cubicBezTo>
                  <a:pt x="642" y="135"/>
                  <a:pt x="135" y="642"/>
                  <a:pt x="135" y="1265"/>
                </a:cubicBezTo>
                <a:cubicBezTo>
                  <a:pt x="135" y="1887"/>
                  <a:pt x="642" y="2394"/>
                  <a:pt x="1264" y="2394"/>
                </a:cubicBezTo>
                <a:cubicBezTo>
                  <a:pt x="1887" y="2394"/>
                  <a:pt x="2393" y="1887"/>
                  <a:pt x="2393" y="1265"/>
                </a:cubicBezTo>
                <a:cubicBezTo>
                  <a:pt x="2393" y="642"/>
                  <a:pt x="1887" y="135"/>
                  <a:pt x="1264" y="135"/>
                </a:cubicBezTo>
                <a:close/>
                <a:moveTo>
                  <a:pt x="1264" y="2529"/>
                </a:moveTo>
                <a:cubicBezTo>
                  <a:pt x="567" y="2529"/>
                  <a:pt x="0" y="1962"/>
                  <a:pt x="0" y="1265"/>
                </a:cubicBezTo>
                <a:cubicBezTo>
                  <a:pt x="0" y="568"/>
                  <a:pt x="567" y="0"/>
                  <a:pt x="1264" y="0"/>
                </a:cubicBezTo>
                <a:cubicBezTo>
                  <a:pt x="1961" y="0"/>
                  <a:pt x="2529" y="568"/>
                  <a:pt x="2529" y="1265"/>
                </a:cubicBezTo>
                <a:cubicBezTo>
                  <a:pt x="2529" y="1962"/>
                  <a:pt x="1961" y="2529"/>
                  <a:pt x="1264" y="252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FFFFFF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217"/>
            <a:endParaRPr lang="en-US">
              <a:solidFill>
                <a:srgbClr val="AAAAAA"/>
              </a:solidFill>
              <a:latin typeface="Calibri" panose="020F0502020204030204"/>
            </a:endParaRPr>
          </a:p>
        </p:txBody>
      </p:sp>
      <p:sp>
        <p:nvSpPr>
          <p:cNvPr id="57" name="Freeform 22">
            <a:extLst>
              <a:ext uri="{FF2B5EF4-FFF2-40B4-BE49-F238E27FC236}">
                <a16:creationId xmlns:a16="http://schemas.microsoft.com/office/drawing/2014/main" id="{B4B65130-6A3F-C003-03DA-CA55B25519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2997" y="2701792"/>
            <a:ext cx="739719" cy="739720"/>
          </a:xfrm>
          <a:custGeom>
            <a:avLst/>
            <a:gdLst>
              <a:gd name="T0" fmla="*/ 1197 w 2395"/>
              <a:gd name="T1" fmla="*/ 0 h 2395"/>
              <a:gd name="T2" fmla="*/ 2394 w 2395"/>
              <a:gd name="T3" fmla="*/ 1197 h 2395"/>
              <a:gd name="T4" fmla="*/ 1197 w 2395"/>
              <a:gd name="T5" fmla="*/ 2394 h 2395"/>
              <a:gd name="T6" fmla="*/ 0 w 2395"/>
              <a:gd name="T7" fmla="*/ 1197 h 2395"/>
              <a:gd name="T8" fmla="*/ 1197 w 2395"/>
              <a:gd name="T9" fmla="*/ 0 h 23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95" h="2395">
                <a:moveTo>
                  <a:pt x="1197" y="0"/>
                </a:moveTo>
                <a:cubicBezTo>
                  <a:pt x="1857" y="0"/>
                  <a:pt x="2394" y="537"/>
                  <a:pt x="2394" y="1197"/>
                </a:cubicBezTo>
                <a:cubicBezTo>
                  <a:pt x="2394" y="1857"/>
                  <a:pt x="1857" y="2394"/>
                  <a:pt x="1197" y="2394"/>
                </a:cubicBezTo>
                <a:cubicBezTo>
                  <a:pt x="537" y="2394"/>
                  <a:pt x="0" y="1857"/>
                  <a:pt x="0" y="1197"/>
                </a:cubicBezTo>
                <a:cubicBezTo>
                  <a:pt x="0" y="537"/>
                  <a:pt x="537" y="0"/>
                  <a:pt x="1197" y="0"/>
                </a:cubicBezTo>
              </a:path>
            </a:pathLst>
          </a:custGeom>
          <a:solidFill>
            <a:srgbClr val="35CA78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60" name="Freeform 24">
            <a:extLst>
              <a:ext uri="{FF2B5EF4-FFF2-40B4-BE49-F238E27FC236}">
                <a16:creationId xmlns:a16="http://schemas.microsoft.com/office/drawing/2014/main" id="{7DD08185-1123-40BE-71C1-261FA2E09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5807" y="4023086"/>
            <a:ext cx="739719" cy="739719"/>
          </a:xfrm>
          <a:custGeom>
            <a:avLst/>
            <a:gdLst>
              <a:gd name="T0" fmla="*/ 1197 w 2395"/>
              <a:gd name="T1" fmla="*/ 0 h 2394"/>
              <a:gd name="T2" fmla="*/ 2394 w 2395"/>
              <a:gd name="T3" fmla="*/ 1197 h 2394"/>
              <a:gd name="T4" fmla="*/ 1197 w 2395"/>
              <a:gd name="T5" fmla="*/ 2393 h 2394"/>
              <a:gd name="T6" fmla="*/ 0 w 2395"/>
              <a:gd name="T7" fmla="*/ 1197 h 2394"/>
              <a:gd name="T8" fmla="*/ 1197 w 2395"/>
              <a:gd name="T9" fmla="*/ 0 h 2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95" h="2394">
                <a:moveTo>
                  <a:pt x="1197" y="0"/>
                </a:moveTo>
                <a:cubicBezTo>
                  <a:pt x="1857" y="0"/>
                  <a:pt x="2394" y="537"/>
                  <a:pt x="2394" y="1197"/>
                </a:cubicBezTo>
                <a:cubicBezTo>
                  <a:pt x="2394" y="1857"/>
                  <a:pt x="1857" y="2393"/>
                  <a:pt x="1197" y="2393"/>
                </a:cubicBezTo>
                <a:cubicBezTo>
                  <a:pt x="537" y="2393"/>
                  <a:pt x="0" y="1857"/>
                  <a:pt x="0" y="1197"/>
                </a:cubicBezTo>
                <a:cubicBezTo>
                  <a:pt x="0" y="537"/>
                  <a:pt x="537" y="0"/>
                  <a:pt x="1197" y="0"/>
                </a:cubicBezTo>
              </a:path>
            </a:pathLst>
          </a:custGeom>
          <a:solidFill>
            <a:srgbClr val="23A4A7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62" name="Freeform 15">
            <a:extLst>
              <a:ext uri="{FF2B5EF4-FFF2-40B4-BE49-F238E27FC236}">
                <a16:creationId xmlns:a16="http://schemas.microsoft.com/office/drawing/2014/main" id="{DC07A0DA-7031-2152-64E1-2760469C4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1881" y="2680677"/>
            <a:ext cx="781951" cy="781951"/>
          </a:xfrm>
          <a:custGeom>
            <a:avLst/>
            <a:gdLst>
              <a:gd name="T0" fmla="*/ 1264 w 2530"/>
              <a:gd name="T1" fmla="*/ 135 h 2530"/>
              <a:gd name="T2" fmla="*/ 135 w 2530"/>
              <a:gd name="T3" fmla="*/ 1265 h 2530"/>
              <a:gd name="T4" fmla="*/ 1264 w 2530"/>
              <a:gd name="T5" fmla="*/ 2394 h 2530"/>
              <a:gd name="T6" fmla="*/ 2393 w 2530"/>
              <a:gd name="T7" fmla="*/ 1265 h 2530"/>
              <a:gd name="T8" fmla="*/ 1264 w 2530"/>
              <a:gd name="T9" fmla="*/ 135 h 2530"/>
              <a:gd name="T10" fmla="*/ 1264 w 2530"/>
              <a:gd name="T11" fmla="*/ 2529 h 2530"/>
              <a:gd name="T12" fmla="*/ 0 w 2530"/>
              <a:gd name="T13" fmla="*/ 1265 h 2530"/>
              <a:gd name="T14" fmla="*/ 1264 w 2530"/>
              <a:gd name="T15" fmla="*/ 0 h 2530"/>
              <a:gd name="T16" fmla="*/ 2529 w 2530"/>
              <a:gd name="T17" fmla="*/ 1265 h 2530"/>
              <a:gd name="T18" fmla="*/ 1264 w 2530"/>
              <a:gd name="T19" fmla="*/ 2529 h 25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530" h="2530">
                <a:moveTo>
                  <a:pt x="1264" y="135"/>
                </a:moveTo>
                <a:cubicBezTo>
                  <a:pt x="642" y="135"/>
                  <a:pt x="135" y="642"/>
                  <a:pt x="135" y="1265"/>
                </a:cubicBezTo>
                <a:cubicBezTo>
                  <a:pt x="135" y="1887"/>
                  <a:pt x="642" y="2394"/>
                  <a:pt x="1264" y="2394"/>
                </a:cubicBezTo>
                <a:cubicBezTo>
                  <a:pt x="1887" y="2394"/>
                  <a:pt x="2393" y="1887"/>
                  <a:pt x="2393" y="1265"/>
                </a:cubicBezTo>
                <a:cubicBezTo>
                  <a:pt x="2393" y="642"/>
                  <a:pt x="1887" y="135"/>
                  <a:pt x="1264" y="135"/>
                </a:cubicBezTo>
                <a:close/>
                <a:moveTo>
                  <a:pt x="1264" y="2529"/>
                </a:moveTo>
                <a:cubicBezTo>
                  <a:pt x="567" y="2529"/>
                  <a:pt x="0" y="1962"/>
                  <a:pt x="0" y="1265"/>
                </a:cubicBezTo>
                <a:cubicBezTo>
                  <a:pt x="0" y="567"/>
                  <a:pt x="567" y="0"/>
                  <a:pt x="1264" y="0"/>
                </a:cubicBezTo>
                <a:cubicBezTo>
                  <a:pt x="1961" y="0"/>
                  <a:pt x="2529" y="567"/>
                  <a:pt x="2529" y="1265"/>
                </a:cubicBezTo>
                <a:cubicBezTo>
                  <a:pt x="2529" y="1962"/>
                  <a:pt x="1961" y="2529"/>
                  <a:pt x="1264" y="252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FFFFFF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217"/>
            <a:endParaRPr lang="en-US">
              <a:solidFill>
                <a:srgbClr val="AAAAAA"/>
              </a:solidFill>
              <a:latin typeface="Calibri" panose="020F0502020204030204"/>
            </a:endParaRPr>
          </a:p>
        </p:txBody>
      </p:sp>
      <p:sp>
        <p:nvSpPr>
          <p:cNvPr id="63" name="Freeform 15">
            <a:extLst>
              <a:ext uri="{FF2B5EF4-FFF2-40B4-BE49-F238E27FC236}">
                <a16:creationId xmlns:a16="http://schemas.microsoft.com/office/drawing/2014/main" id="{B13EFAE1-F349-82DD-5771-38AC4FD3A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4691" y="4001970"/>
            <a:ext cx="781951" cy="781951"/>
          </a:xfrm>
          <a:custGeom>
            <a:avLst/>
            <a:gdLst>
              <a:gd name="T0" fmla="*/ 1264 w 2530"/>
              <a:gd name="T1" fmla="*/ 135 h 2530"/>
              <a:gd name="T2" fmla="*/ 135 w 2530"/>
              <a:gd name="T3" fmla="*/ 1265 h 2530"/>
              <a:gd name="T4" fmla="*/ 1264 w 2530"/>
              <a:gd name="T5" fmla="*/ 2394 h 2530"/>
              <a:gd name="T6" fmla="*/ 2393 w 2530"/>
              <a:gd name="T7" fmla="*/ 1265 h 2530"/>
              <a:gd name="T8" fmla="*/ 1264 w 2530"/>
              <a:gd name="T9" fmla="*/ 135 h 2530"/>
              <a:gd name="T10" fmla="*/ 1264 w 2530"/>
              <a:gd name="T11" fmla="*/ 2529 h 2530"/>
              <a:gd name="T12" fmla="*/ 0 w 2530"/>
              <a:gd name="T13" fmla="*/ 1265 h 2530"/>
              <a:gd name="T14" fmla="*/ 1264 w 2530"/>
              <a:gd name="T15" fmla="*/ 0 h 2530"/>
              <a:gd name="T16" fmla="*/ 2529 w 2530"/>
              <a:gd name="T17" fmla="*/ 1265 h 2530"/>
              <a:gd name="T18" fmla="*/ 1264 w 2530"/>
              <a:gd name="T19" fmla="*/ 2529 h 25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530" h="2530">
                <a:moveTo>
                  <a:pt x="1264" y="135"/>
                </a:moveTo>
                <a:cubicBezTo>
                  <a:pt x="642" y="135"/>
                  <a:pt x="135" y="642"/>
                  <a:pt x="135" y="1265"/>
                </a:cubicBezTo>
                <a:cubicBezTo>
                  <a:pt x="135" y="1887"/>
                  <a:pt x="642" y="2394"/>
                  <a:pt x="1264" y="2394"/>
                </a:cubicBezTo>
                <a:cubicBezTo>
                  <a:pt x="1887" y="2394"/>
                  <a:pt x="2393" y="1887"/>
                  <a:pt x="2393" y="1265"/>
                </a:cubicBezTo>
                <a:cubicBezTo>
                  <a:pt x="2393" y="642"/>
                  <a:pt x="1887" y="135"/>
                  <a:pt x="1264" y="135"/>
                </a:cubicBezTo>
                <a:close/>
                <a:moveTo>
                  <a:pt x="1264" y="2529"/>
                </a:moveTo>
                <a:cubicBezTo>
                  <a:pt x="567" y="2529"/>
                  <a:pt x="0" y="1962"/>
                  <a:pt x="0" y="1265"/>
                </a:cubicBezTo>
                <a:cubicBezTo>
                  <a:pt x="0" y="567"/>
                  <a:pt x="567" y="0"/>
                  <a:pt x="1264" y="0"/>
                </a:cubicBezTo>
                <a:cubicBezTo>
                  <a:pt x="1961" y="0"/>
                  <a:pt x="2529" y="567"/>
                  <a:pt x="2529" y="1265"/>
                </a:cubicBezTo>
                <a:cubicBezTo>
                  <a:pt x="2529" y="1962"/>
                  <a:pt x="1961" y="2529"/>
                  <a:pt x="1264" y="252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FFFFFF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217"/>
            <a:endParaRPr lang="en-US">
              <a:solidFill>
                <a:srgbClr val="AAAAAA"/>
              </a:solidFill>
              <a:latin typeface="Calibri" panose="020F0502020204030204"/>
            </a:endParaRPr>
          </a:p>
        </p:txBody>
      </p:sp>
      <p:sp>
        <p:nvSpPr>
          <p:cNvPr id="64" name="Freeform 15">
            <a:extLst>
              <a:ext uri="{FF2B5EF4-FFF2-40B4-BE49-F238E27FC236}">
                <a16:creationId xmlns:a16="http://schemas.microsoft.com/office/drawing/2014/main" id="{E6C35B8B-6BEF-9554-A3B6-110EF025E6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4691" y="5599090"/>
            <a:ext cx="781951" cy="781951"/>
          </a:xfrm>
          <a:custGeom>
            <a:avLst/>
            <a:gdLst>
              <a:gd name="T0" fmla="*/ 1264 w 2530"/>
              <a:gd name="T1" fmla="*/ 135 h 2530"/>
              <a:gd name="T2" fmla="*/ 135 w 2530"/>
              <a:gd name="T3" fmla="*/ 1265 h 2530"/>
              <a:gd name="T4" fmla="*/ 1264 w 2530"/>
              <a:gd name="T5" fmla="*/ 2394 h 2530"/>
              <a:gd name="T6" fmla="*/ 2393 w 2530"/>
              <a:gd name="T7" fmla="*/ 1265 h 2530"/>
              <a:gd name="T8" fmla="*/ 1264 w 2530"/>
              <a:gd name="T9" fmla="*/ 135 h 2530"/>
              <a:gd name="T10" fmla="*/ 1264 w 2530"/>
              <a:gd name="T11" fmla="*/ 2529 h 2530"/>
              <a:gd name="T12" fmla="*/ 0 w 2530"/>
              <a:gd name="T13" fmla="*/ 1265 h 2530"/>
              <a:gd name="T14" fmla="*/ 1264 w 2530"/>
              <a:gd name="T15" fmla="*/ 0 h 2530"/>
              <a:gd name="T16" fmla="*/ 2529 w 2530"/>
              <a:gd name="T17" fmla="*/ 1265 h 2530"/>
              <a:gd name="T18" fmla="*/ 1264 w 2530"/>
              <a:gd name="T19" fmla="*/ 2529 h 25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530" h="2530">
                <a:moveTo>
                  <a:pt x="1264" y="135"/>
                </a:moveTo>
                <a:cubicBezTo>
                  <a:pt x="642" y="135"/>
                  <a:pt x="135" y="642"/>
                  <a:pt x="135" y="1265"/>
                </a:cubicBezTo>
                <a:cubicBezTo>
                  <a:pt x="135" y="1887"/>
                  <a:pt x="642" y="2394"/>
                  <a:pt x="1264" y="2394"/>
                </a:cubicBezTo>
                <a:cubicBezTo>
                  <a:pt x="1887" y="2394"/>
                  <a:pt x="2393" y="1887"/>
                  <a:pt x="2393" y="1265"/>
                </a:cubicBezTo>
                <a:cubicBezTo>
                  <a:pt x="2393" y="642"/>
                  <a:pt x="1887" y="135"/>
                  <a:pt x="1264" y="135"/>
                </a:cubicBezTo>
                <a:close/>
                <a:moveTo>
                  <a:pt x="1264" y="2529"/>
                </a:moveTo>
                <a:cubicBezTo>
                  <a:pt x="567" y="2529"/>
                  <a:pt x="0" y="1962"/>
                  <a:pt x="0" y="1265"/>
                </a:cubicBezTo>
                <a:cubicBezTo>
                  <a:pt x="0" y="567"/>
                  <a:pt x="567" y="0"/>
                  <a:pt x="1264" y="0"/>
                </a:cubicBezTo>
                <a:cubicBezTo>
                  <a:pt x="1961" y="0"/>
                  <a:pt x="2529" y="567"/>
                  <a:pt x="2529" y="1265"/>
                </a:cubicBezTo>
                <a:cubicBezTo>
                  <a:pt x="2529" y="1962"/>
                  <a:pt x="1961" y="2529"/>
                  <a:pt x="1264" y="252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FFFFFF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217"/>
            <a:endParaRPr lang="en-US">
              <a:solidFill>
                <a:srgbClr val="AAAAAA"/>
              </a:solidFill>
              <a:latin typeface="Calibri" panose="020F0502020204030204"/>
            </a:endParaRPr>
          </a:p>
        </p:txBody>
      </p:sp>
      <p:sp>
        <p:nvSpPr>
          <p:cNvPr id="65" name="TextBox 98">
            <a:extLst>
              <a:ext uri="{FF2B5EF4-FFF2-40B4-BE49-F238E27FC236}">
                <a16:creationId xmlns:a16="http://schemas.microsoft.com/office/drawing/2014/main" id="{5ADD7B4F-07ED-49B2-EF68-859D6A8206B0}"/>
              </a:ext>
            </a:extLst>
          </p:cNvPr>
          <p:cNvSpPr txBox="1"/>
          <p:nvPr/>
        </p:nvSpPr>
        <p:spPr>
          <a:xfrm>
            <a:off x="3547381" y="1620548"/>
            <a:ext cx="938078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 defTabSz="914217"/>
            <a:r>
              <a:rPr lang="en-US" sz="1600" b="1" dirty="0">
                <a:solidFill>
                  <a:srgbClr val="FFFFFF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rPr>
              <a:t>Title 06</a:t>
            </a:r>
          </a:p>
        </p:txBody>
      </p:sp>
      <p:sp>
        <p:nvSpPr>
          <p:cNvPr id="66" name="TextBox 98">
            <a:extLst>
              <a:ext uri="{FF2B5EF4-FFF2-40B4-BE49-F238E27FC236}">
                <a16:creationId xmlns:a16="http://schemas.microsoft.com/office/drawing/2014/main" id="{174877D7-AE31-D6A6-B2E2-771D64CD271E}"/>
              </a:ext>
            </a:extLst>
          </p:cNvPr>
          <p:cNvSpPr txBox="1"/>
          <p:nvPr/>
        </p:nvSpPr>
        <p:spPr>
          <a:xfrm>
            <a:off x="3809575" y="2964687"/>
            <a:ext cx="447558" cy="276999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 defTabSz="914217"/>
            <a:r>
              <a:rPr lang="en-US" sz="1200" b="1" dirty="0">
                <a:solidFill>
                  <a:srgbClr val="FFFFFF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rPr>
              <a:t>ROI</a:t>
            </a:r>
          </a:p>
        </p:txBody>
      </p:sp>
      <p:sp>
        <p:nvSpPr>
          <p:cNvPr id="67" name="TextBox 98">
            <a:extLst>
              <a:ext uri="{FF2B5EF4-FFF2-40B4-BE49-F238E27FC236}">
                <a16:creationId xmlns:a16="http://schemas.microsoft.com/office/drawing/2014/main" id="{4973F141-6D97-0FD5-5AEF-90CFC52ADD0A}"/>
              </a:ext>
            </a:extLst>
          </p:cNvPr>
          <p:cNvSpPr txBox="1"/>
          <p:nvPr/>
        </p:nvSpPr>
        <p:spPr>
          <a:xfrm>
            <a:off x="3646868" y="4284739"/>
            <a:ext cx="772969" cy="276999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 defTabSz="914217"/>
            <a:r>
              <a:rPr lang="en-US" sz="1200" b="1" dirty="0">
                <a:solidFill>
                  <a:srgbClr val="FFFFFF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rPr>
              <a:t>Fatigue</a:t>
            </a:r>
          </a:p>
        </p:txBody>
      </p:sp>
      <p:sp>
        <p:nvSpPr>
          <p:cNvPr id="68" name="TextBox 98">
            <a:extLst>
              <a:ext uri="{FF2B5EF4-FFF2-40B4-BE49-F238E27FC236}">
                <a16:creationId xmlns:a16="http://schemas.microsoft.com/office/drawing/2014/main" id="{5FB9E69A-D8AD-9DCA-6640-42CEB6A1A46F}"/>
              </a:ext>
            </a:extLst>
          </p:cNvPr>
          <p:cNvSpPr txBox="1"/>
          <p:nvPr/>
        </p:nvSpPr>
        <p:spPr>
          <a:xfrm>
            <a:off x="7789603" y="2964687"/>
            <a:ext cx="830676" cy="276999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 defTabSz="914217"/>
            <a:r>
              <a:rPr lang="en-US" sz="1200" b="1" dirty="0">
                <a:solidFill>
                  <a:srgbClr val="FFFFFF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rPr>
              <a:t>Clusters</a:t>
            </a:r>
          </a:p>
        </p:txBody>
      </p:sp>
      <p:sp>
        <p:nvSpPr>
          <p:cNvPr id="69" name="TextBox 98">
            <a:extLst>
              <a:ext uri="{FF2B5EF4-FFF2-40B4-BE49-F238E27FC236}">
                <a16:creationId xmlns:a16="http://schemas.microsoft.com/office/drawing/2014/main" id="{6C475C8E-FC61-1B58-181B-BD66DC03BB04}"/>
              </a:ext>
            </a:extLst>
          </p:cNvPr>
          <p:cNvSpPr txBox="1"/>
          <p:nvPr/>
        </p:nvSpPr>
        <p:spPr>
          <a:xfrm>
            <a:off x="7618183" y="4139318"/>
            <a:ext cx="1207382" cy="43088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 defTabSz="914217"/>
            <a:r>
              <a:rPr lang="en-US" sz="1050" b="1" dirty="0">
                <a:solidFill>
                  <a:srgbClr val="FFFFFF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rPr>
              <a:t>Sports </a:t>
            </a:r>
          </a:p>
          <a:p>
            <a:pPr algn="ctr" defTabSz="914217"/>
            <a:r>
              <a:rPr lang="en-US" sz="1050" b="1" dirty="0">
                <a:solidFill>
                  <a:srgbClr val="FFFFFF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rPr>
              <a:t>diversification</a:t>
            </a:r>
          </a:p>
        </p:txBody>
      </p:sp>
      <p:sp>
        <p:nvSpPr>
          <p:cNvPr id="71" name="Subtitle 2">
            <a:extLst>
              <a:ext uri="{FF2B5EF4-FFF2-40B4-BE49-F238E27FC236}">
                <a16:creationId xmlns:a16="http://schemas.microsoft.com/office/drawing/2014/main" id="{EF8137B9-3FD9-E6DE-87EC-742067A44505}"/>
              </a:ext>
            </a:extLst>
          </p:cNvPr>
          <p:cNvSpPr txBox="1">
            <a:spLocks/>
          </p:cNvSpPr>
          <p:nvPr/>
        </p:nvSpPr>
        <p:spPr>
          <a:xfrm>
            <a:off x="1213900" y="1066803"/>
            <a:ext cx="9841660" cy="1789914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543818">
              <a:lnSpc>
                <a:spcPts val="2050"/>
              </a:lnSpc>
            </a:pPr>
            <a:r>
              <a:rPr lang="en-US" sz="1250" b="1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Target:</a:t>
            </a:r>
          </a:p>
          <a:p>
            <a:pPr algn="l" defTabSz="543818">
              <a:lnSpc>
                <a:spcPts val="2050"/>
              </a:lnSpc>
            </a:pPr>
            <a:r>
              <a:rPr lang="en-US" sz="1250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Conversion Rate equal o greater than 40% to determine if the players are engaged and complete the missions.</a:t>
            </a:r>
          </a:p>
          <a:p>
            <a:pPr algn="l" defTabSz="543818">
              <a:lnSpc>
                <a:spcPts val="2050"/>
              </a:lnSpc>
            </a:pPr>
            <a:r>
              <a:rPr lang="en-US" sz="1250" b="1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Explanation:</a:t>
            </a:r>
          </a:p>
          <a:p>
            <a:pPr algn="l" defTabSz="543818">
              <a:lnSpc>
                <a:spcPts val="2050"/>
              </a:lnSpc>
            </a:pPr>
            <a:r>
              <a:rPr lang="en-US" sz="1250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Launch 10 missions every week based on a powerful combination of public and private including new exiting sports and validate the success obtaining the income generated week by week. </a:t>
            </a:r>
          </a:p>
          <a:p>
            <a:pPr algn="l" defTabSz="543818">
              <a:lnSpc>
                <a:spcPts val="2050"/>
              </a:lnSpc>
            </a:pPr>
            <a:endParaRPr lang="en-US" sz="1250" dirty="0">
              <a:solidFill>
                <a:schemeClr val="bg2">
                  <a:lumMod val="10000"/>
                </a:scheme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72" name="Subtitle 2">
            <a:extLst>
              <a:ext uri="{FF2B5EF4-FFF2-40B4-BE49-F238E27FC236}">
                <a16:creationId xmlns:a16="http://schemas.microsoft.com/office/drawing/2014/main" id="{194EB65D-06E4-E9D3-7BA4-E66F9754B1C1}"/>
              </a:ext>
            </a:extLst>
          </p:cNvPr>
          <p:cNvSpPr txBox="1">
            <a:spLocks/>
          </p:cNvSpPr>
          <p:nvPr/>
        </p:nvSpPr>
        <p:spPr>
          <a:xfrm>
            <a:off x="133701" y="2926901"/>
            <a:ext cx="3093237" cy="289503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543818">
              <a:lnSpc>
                <a:spcPts val="2050"/>
              </a:lnSpc>
            </a:pPr>
            <a:r>
              <a:rPr lang="en-US" sz="1250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Analyze the performance vs. CR</a:t>
            </a:r>
          </a:p>
        </p:txBody>
      </p:sp>
      <p:sp>
        <p:nvSpPr>
          <p:cNvPr id="73" name="Subtitle 2">
            <a:extLst>
              <a:ext uri="{FF2B5EF4-FFF2-40B4-BE49-F238E27FC236}">
                <a16:creationId xmlns:a16="http://schemas.microsoft.com/office/drawing/2014/main" id="{3A4CE553-1CAE-8E47-7DBB-0047B007FC98}"/>
              </a:ext>
            </a:extLst>
          </p:cNvPr>
          <p:cNvSpPr txBox="1">
            <a:spLocks/>
          </p:cNvSpPr>
          <p:nvPr/>
        </p:nvSpPr>
        <p:spPr>
          <a:xfrm>
            <a:off x="127001" y="4001488"/>
            <a:ext cx="3093238" cy="828112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543818">
              <a:lnSpc>
                <a:spcPts val="2050"/>
              </a:lnSpc>
            </a:pPr>
            <a:r>
              <a:rPr lang="en-US" sz="1250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Compare the missions from 2025 with 2026 and determine if, by establishing 10, the reaction is positive or not.</a:t>
            </a:r>
          </a:p>
        </p:txBody>
      </p:sp>
      <p:sp>
        <p:nvSpPr>
          <p:cNvPr id="74" name="Subtitle 2">
            <a:extLst>
              <a:ext uri="{FF2B5EF4-FFF2-40B4-BE49-F238E27FC236}">
                <a16:creationId xmlns:a16="http://schemas.microsoft.com/office/drawing/2014/main" id="{E4B06D85-1ABB-FE2A-095D-83799378A886}"/>
              </a:ext>
            </a:extLst>
          </p:cNvPr>
          <p:cNvSpPr txBox="1">
            <a:spLocks/>
          </p:cNvSpPr>
          <p:nvPr/>
        </p:nvSpPr>
        <p:spPr>
          <a:xfrm>
            <a:off x="9005627" y="2662201"/>
            <a:ext cx="3052671" cy="866584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543818">
              <a:lnSpc>
                <a:spcPts val="2050"/>
              </a:lnSpc>
            </a:pPr>
            <a:r>
              <a:rPr lang="en-US" sz="1250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Identify the cluster who deposit more per mission. </a:t>
            </a:r>
          </a:p>
          <a:p>
            <a:pPr algn="l" defTabSz="543818">
              <a:lnSpc>
                <a:spcPts val="2050"/>
              </a:lnSpc>
            </a:pPr>
            <a:r>
              <a:rPr lang="en-US" sz="1250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Determine the highest valuable cluster.</a:t>
            </a:r>
          </a:p>
        </p:txBody>
      </p:sp>
      <p:sp>
        <p:nvSpPr>
          <p:cNvPr id="75" name="Subtitle 2">
            <a:extLst>
              <a:ext uri="{FF2B5EF4-FFF2-40B4-BE49-F238E27FC236}">
                <a16:creationId xmlns:a16="http://schemas.microsoft.com/office/drawing/2014/main" id="{5BC10E96-BEAB-56A2-6A8F-E4BE98751AEA}"/>
              </a:ext>
            </a:extLst>
          </p:cNvPr>
          <p:cNvSpPr txBox="1">
            <a:spLocks/>
          </p:cNvSpPr>
          <p:nvPr/>
        </p:nvSpPr>
        <p:spPr>
          <a:xfrm>
            <a:off x="9005627" y="4136141"/>
            <a:ext cx="3052671" cy="558807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543818">
              <a:lnSpc>
                <a:spcPts val="2050"/>
              </a:lnSpc>
            </a:pPr>
            <a:r>
              <a:rPr lang="en-US" sz="1250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Measure the real impact of including boxing and baseball.</a:t>
            </a:r>
          </a:p>
        </p:txBody>
      </p:sp>
      <p:sp>
        <p:nvSpPr>
          <p:cNvPr id="77" name="Shape 2532">
            <a:extLst>
              <a:ext uri="{FF2B5EF4-FFF2-40B4-BE49-F238E27FC236}">
                <a16:creationId xmlns:a16="http://schemas.microsoft.com/office/drawing/2014/main" id="{1C538122-4A0F-73F9-DA1C-A411A0A1F55B}"/>
              </a:ext>
            </a:extLst>
          </p:cNvPr>
          <p:cNvSpPr>
            <a:spLocks noChangeAspect="1"/>
          </p:cNvSpPr>
          <p:nvPr/>
        </p:nvSpPr>
        <p:spPr>
          <a:xfrm>
            <a:off x="4768616" y="1673245"/>
            <a:ext cx="228541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3"/>
                  <a:pt x="14400" y="6873"/>
                </a:cubicBezTo>
                <a:lnTo>
                  <a:pt x="20400" y="6873"/>
                </a:lnTo>
                <a:cubicBezTo>
                  <a:pt x="20400" y="6873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4800" y="8836"/>
                </a:moveTo>
                <a:cubicBezTo>
                  <a:pt x="4800" y="9108"/>
                  <a:pt x="5068" y="9327"/>
                  <a:pt x="5400" y="9327"/>
                </a:cubicBezTo>
                <a:lnTo>
                  <a:pt x="16200" y="9327"/>
                </a:lnTo>
                <a:cubicBezTo>
                  <a:pt x="16532" y="9327"/>
                  <a:pt x="16800" y="9108"/>
                  <a:pt x="16800" y="8836"/>
                </a:cubicBezTo>
                <a:cubicBezTo>
                  <a:pt x="16800" y="8566"/>
                  <a:pt x="16532" y="8345"/>
                  <a:pt x="16200" y="8345"/>
                </a:cubicBezTo>
                <a:lnTo>
                  <a:pt x="5400" y="8345"/>
                </a:lnTo>
                <a:cubicBezTo>
                  <a:pt x="5068" y="8345"/>
                  <a:pt x="4800" y="8566"/>
                  <a:pt x="4800" y="8836"/>
                </a:cubicBezTo>
                <a:moveTo>
                  <a:pt x="16200" y="12273"/>
                </a:moveTo>
                <a:lnTo>
                  <a:pt x="5400" y="12273"/>
                </a:lnTo>
                <a:cubicBezTo>
                  <a:pt x="5068" y="12273"/>
                  <a:pt x="4800" y="12493"/>
                  <a:pt x="4800" y="12764"/>
                </a:cubicBezTo>
                <a:cubicBezTo>
                  <a:pt x="4800" y="13035"/>
                  <a:pt x="5068" y="13255"/>
                  <a:pt x="5400" y="13255"/>
                </a:cubicBezTo>
                <a:lnTo>
                  <a:pt x="16200" y="13255"/>
                </a:lnTo>
                <a:cubicBezTo>
                  <a:pt x="16532" y="13255"/>
                  <a:pt x="16800" y="13035"/>
                  <a:pt x="16800" y="12764"/>
                </a:cubicBezTo>
                <a:cubicBezTo>
                  <a:pt x="16800" y="12493"/>
                  <a:pt x="16532" y="12273"/>
                  <a:pt x="16200" y="12273"/>
                </a:cubicBezTo>
                <a:moveTo>
                  <a:pt x="5400" y="5400"/>
                </a:moveTo>
                <a:lnTo>
                  <a:pt x="8400" y="5400"/>
                </a:lnTo>
                <a:cubicBezTo>
                  <a:pt x="8732" y="5400"/>
                  <a:pt x="9000" y="5181"/>
                  <a:pt x="9000" y="4909"/>
                </a:cubicBezTo>
                <a:cubicBezTo>
                  <a:pt x="9000" y="4638"/>
                  <a:pt x="8732" y="4418"/>
                  <a:pt x="8400" y="4418"/>
                </a:cubicBezTo>
                <a:lnTo>
                  <a:pt x="5400" y="4418"/>
                </a:lnTo>
                <a:cubicBezTo>
                  <a:pt x="5068" y="4418"/>
                  <a:pt x="4800" y="4638"/>
                  <a:pt x="4800" y="4909"/>
                </a:cubicBezTo>
                <a:cubicBezTo>
                  <a:pt x="4800" y="5181"/>
                  <a:pt x="5068" y="5400"/>
                  <a:pt x="5400" y="5400"/>
                </a:cubicBezTo>
                <a:moveTo>
                  <a:pt x="12600" y="16200"/>
                </a:moveTo>
                <a:lnTo>
                  <a:pt x="5400" y="16200"/>
                </a:lnTo>
                <a:cubicBezTo>
                  <a:pt x="5068" y="16200"/>
                  <a:pt x="4800" y="16420"/>
                  <a:pt x="4800" y="16691"/>
                </a:cubicBezTo>
                <a:cubicBezTo>
                  <a:pt x="4800" y="16962"/>
                  <a:pt x="5068" y="17182"/>
                  <a:pt x="5400" y="17182"/>
                </a:cubicBezTo>
                <a:lnTo>
                  <a:pt x="12600" y="17182"/>
                </a:lnTo>
                <a:cubicBezTo>
                  <a:pt x="12932" y="17182"/>
                  <a:pt x="13200" y="16962"/>
                  <a:pt x="13200" y="16691"/>
                </a:cubicBezTo>
                <a:cubicBezTo>
                  <a:pt x="13200" y="16420"/>
                  <a:pt x="12932" y="16200"/>
                  <a:pt x="12600" y="16200"/>
                </a:cubicBezTo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marL="0" marR="0" lvl="0" indent="0" defTabSz="22853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Open Sans Semibold" charset="0"/>
              <a:ea typeface="Open Sans Semibold" charset="0"/>
              <a:cs typeface="Open Sans Semibold" charset="0"/>
              <a:sym typeface="Gill Sans"/>
            </a:endParaRPr>
          </a:p>
        </p:txBody>
      </p:sp>
      <p:sp>
        <p:nvSpPr>
          <p:cNvPr id="79" name="Shape 2588">
            <a:extLst>
              <a:ext uri="{FF2B5EF4-FFF2-40B4-BE49-F238E27FC236}">
                <a16:creationId xmlns:a16="http://schemas.microsoft.com/office/drawing/2014/main" id="{AF46ECB4-C5FE-6F3A-7048-C2C67DC1A6D0}"/>
              </a:ext>
            </a:extLst>
          </p:cNvPr>
          <p:cNvSpPr>
            <a:spLocks noChangeAspect="1"/>
          </p:cNvSpPr>
          <p:nvPr/>
        </p:nvSpPr>
        <p:spPr>
          <a:xfrm>
            <a:off x="4760156" y="2968521"/>
            <a:ext cx="279328" cy="2539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82" y="12420"/>
                </a:moveTo>
                <a:cubicBezTo>
                  <a:pt x="16368" y="12420"/>
                  <a:pt x="15709" y="11694"/>
                  <a:pt x="15709" y="10800"/>
                </a:cubicBezTo>
                <a:cubicBezTo>
                  <a:pt x="15709" y="9906"/>
                  <a:pt x="16368" y="9180"/>
                  <a:pt x="17182" y="9180"/>
                </a:cubicBezTo>
                <a:cubicBezTo>
                  <a:pt x="17995" y="9180"/>
                  <a:pt x="18655" y="9906"/>
                  <a:pt x="18655" y="10800"/>
                </a:cubicBezTo>
                <a:cubicBezTo>
                  <a:pt x="18655" y="11694"/>
                  <a:pt x="17995" y="12420"/>
                  <a:pt x="17182" y="12420"/>
                </a:cubicBezTo>
                <a:moveTo>
                  <a:pt x="21109" y="10260"/>
                </a:moveTo>
                <a:lnTo>
                  <a:pt x="19587" y="10260"/>
                </a:lnTo>
                <a:cubicBezTo>
                  <a:pt x="19360" y="9028"/>
                  <a:pt x="18369" y="8100"/>
                  <a:pt x="17182" y="8100"/>
                </a:cubicBezTo>
                <a:cubicBezTo>
                  <a:pt x="15994" y="8100"/>
                  <a:pt x="15004" y="9028"/>
                  <a:pt x="14777" y="10260"/>
                </a:cubicBezTo>
                <a:lnTo>
                  <a:pt x="491" y="10260"/>
                </a:lnTo>
                <a:cubicBezTo>
                  <a:pt x="220" y="10260"/>
                  <a:pt x="0" y="10502"/>
                  <a:pt x="0" y="10800"/>
                </a:cubicBezTo>
                <a:cubicBezTo>
                  <a:pt x="0" y="11098"/>
                  <a:pt x="220" y="11340"/>
                  <a:pt x="491" y="11340"/>
                </a:cubicBezTo>
                <a:lnTo>
                  <a:pt x="14777" y="11340"/>
                </a:lnTo>
                <a:cubicBezTo>
                  <a:pt x="15004" y="12572"/>
                  <a:pt x="15994" y="13500"/>
                  <a:pt x="17182" y="13500"/>
                </a:cubicBezTo>
                <a:cubicBezTo>
                  <a:pt x="18369" y="13500"/>
                  <a:pt x="19360" y="12572"/>
                  <a:pt x="19587" y="11340"/>
                </a:cubicBezTo>
                <a:lnTo>
                  <a:pt x="21109" y="11340"/>
                </a:lnTo>
                <a:cubicBezTo>
                  <a:pt x="21380" y="11340"/>
                  <a:pt x="21600" y="11098"/>
                  <a:pt x="21600" y="10800"/>
                </a:cubicBezTo>
                <a:cubicBezTo>
                  <a:pt x="21600" y="10502"/>
                  <a:pt x="21380" y="10260"/>
                  <a:pt x="21109" y="10260"/>
                </a:cubicBezTo>
                <a:moveTo>
                  <a:pt x="5400" y="1080"/>
                </a:moveTo>
                <a:cubicBezTo>
                  <a:pt x="6214" y="1080"/>
                  <a:pt x="6873" y="1806"/>
                  <a:pt x="6873" y="2700"/>
                </a:cubicBezTo>
                <a:cubicBezTo>
                  <a:pt x="6873" y="3595"/>
                  <a:pt x="6214" y="4320"/>
                  <a:pt x="5400" y="4320"/>
                </a:cubicBezTo>
                <a:cubicBezTo>
                  <a:pt x="4586" y="4320"/>
                  <a:pt x="3927" y="3595"/>
                  <a:pt x="3927" y="2700"/>
                </a:cubicBezTo>
                <a:cubicBezTo>
                  <a:pt x="3927" y="1806"/>
                  <a:pt x="4586" y="1080"/>
                  <a:pt x="5400" y="1080"/>
                </a:cubicBezTo>
                <a:moveTo>
                  <a:pt x="491" y="3240"/>
                </a:moveTo>
                <a:lnTo>
                  <a:pt x="2995" y="3240"/>
                </a:lnTo>
                <a:cubicBezTo>
                  <a:pt x="3222" y="4472"/>
                  <a:pt x="4213" y="5400"/>
                  <a:pt x="5400" y="5400"/>
                </a:cubicBezTo>
                <a:cubicBezTo>
                  <a:pt x="6587" y="5400"/>
                  <a:pt x="7578" y="4472"/>
                  <a:pt x="7805" y="3240"/>
                </a:cubicBezTo>
                <a:lnTo>
                  <a:pt x="21109" y="3240"/>
                </a:lnTo>
                <a:cubicBezTo>
                  <a:pt x="21380" y="3240"/>
                  <a:pt x="21600" y="2999"/>
                  <a:pt x="21600" y="2700"/>
                </a:cubicBezTo>
                <a:cubicBezTo>
                  <a:pt x="21600" y="2402"/>
                  <a:pt x="21380" y="2160"/>
                  <a:pt x="21109" y="2160"/>
                </a:cubicBezTo>
                <a:lnTo>
                  <a:pt x="7805" y="2160"/>
                </a:lnTo>
                <a:cubicBezTo>
                  <a:pt x="7578" y="928"/>
                  <a:pt x="6587" y="0"/>
                  <a:pt x="5400" y="0"/>
                </a:cubicBezTo>
                <a:cubicBezTo>
                  <a:pt x="4213" y="0"/>
                  <a:pt x="3222" y="928"/>
                  <a:pt x="2995" y="2160"/>
                </a:cubicBezTo>
                <a:lnTo>
                  <a:pt x="491" y="2160"/>
                </a:lnTo>
                <a:cubicBezTo>
                  <a:pt x="220" y="2160"/>
                  <a:pt x="0" y="2402"/>
                  <a:pt x="0" y="2700"/>
                </a:cubicBezTo>
                <a:cubicBezTo>
                  <a:pt x="0" y="2999"/>
                  <a:pt x="220" y="3240"/>
                  <a:pt x="491" y="3240"/>
                </a:cubicBezTo>
                <a:moveTo>
                  <a:pt x="9327" y="20519"/>
                </a:moveTo>
                <a:cubicBezTo>
                  <a:pt x="8514" y="20519"/>
                  <a:pt x="7855" y="19794"/>
                  <a:pt x="7855" y="18899"/>
                </a:cubicBezTo>
                <a:cubicBezTo>
                  <a:pt x="7855" y="18005"/>
                  <a:pt x="8514" y="17279"/>
                  <a:pt x="9327" y="17279"/>
                </a:cubicBezTo>
                <a:cubicBezTo>
                  <a:pt x="10141" y="17279"/>
                  <a:pt x="10800" y="18005"/>
                  <a:pt x="10800" y="18899"/>
                </a:cubicBezTo>
                <a:cubicBezTo>
                  <a:pt x="10800" y="19794"/>
                  <a:pt x="10141" y="20519"/>
                  <a:pt x="9327" y="20519"/>
                </a:cubicBezTo>
                <a:moveTo>
                  <a:pt x="21109" y="18359"/>
                </a:moveTo>
                <a:lnTo>
                  <a:pt x="11732" y="18359"/>
                </a:lnTo>
                <a:cubicBezTo>
                  <a:pt x="11505" y="17127"/>
                  <a:pt x="10515" y="16199"/>
                  <a:pt x="9327" y="16199"/>
                </a:cubicBezTo>
                <a:cubicBezTo>
                  <a:pt x="8140" y="16199"/>
                  <a:pt x="7150" y="17127"/>
                  <a:pt x="6922" y="18359"/>
                </a:cubicBezTo>
                <a:lnTo>
                  <a:pt x="491" y="18359"/>
                </a:lnTo>
                <a:cubicBezTo>
                  <a:pt x="220" y="18359"/>
                  <a:pt x="0" y="18601"/>
                  <a:pt x="0" y="18899"/>
                </a:cubicBezTo>
                <a:cubicBezTo>
                  <a:pt x="0" y="19198"/>
                  <a:pt x="220" y="19439"/>
                  <a:pt x="491" y="19439"/>
                </a:cubicBezTo>
                <a:lnTo>
                  <a:pt x="6922" y="19439"/>
                </a:lnTo>
                <a:cubicBezTo>
                  <a:pt x="7150" y="20672"/>
                  <a:pt x="8140" y="21600"/>
                  <a:pt x="9327" y="21600"/>
                </a:cubicBezTo>
                <a:cubicBezTo>
                  <a:pt x="10515" y="21600"/>
                  <a:pt x="11505" y="20672"/>
                  <a:pt x="11732" y="19439"/>
                </a:cubicBezTo>
                <a:lnTo>
                  <a:pt x="21109" y="19439"/>
                </a:lnTo>
                <a:cubicBezTo>
                  <a:pt x="21380" y="19439"/>
                  <a:pt x="21600" y="19198"/>
                  <a:pt x="21600" y="18899"/>
                </a:cubicBezTo>
                <a:cubicBezTo>
                  <a:pt x="21600" y="18601"/>
                  <a:pt x="21380" y="18359"/>
                  <a:pt x="21109" y="18359"/>
                </a:cubicBezTo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marL="0" marR="0" lvl="0" indent="0" defTabSz="22853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Open Sans Semibold" charset="0"/>
              <a:ea typeface="Open Sans Semibold" charset="0"/>
              <a:cs typeface="Open Sans Semibold" charset="0"/>
              <a:sym typeface="Gill Sans"/>
            </a:endParaRPr>
          </a:p>
        </p:txBody>
      </p:sp>
      <p:sp>
        <p:nvSpPr>
          <p:cNvPr id="80" name="Shape 2616">
            <a:extLst>
              <a:ext uri="{FF2B5EF4-FFF2-40B4-BE49-F238E27FC236}">
                <a16:creationId xmlns:a16="http://schemas.microsoft.com/office/drawing/2014/main" id="{B1AB11E6-067C-2C9F-C15A-7190CE07D829}"/>
              </a:ext>
            </a:extLst>
          </p:cNvPr>
          <p:cNvSpPr>
            <a:spLocks noChangeAspect="1"/>
          </p:cNvSpPr>
          <p:nvPr/>
        </p:nvSpPr>
        <p:spPr>
          <a:xfrm>
            <a:off x="4760838" y="4289227"/>
            <a:ext cx="279328" cy="2539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16" y="20520"/>
                </a:moveTo>
                <a:cubicBezTo>
                  <a:pt x="1258" y="18675"/>
                  <a:pt x="2752" y="17923"/>
                  <a:pt x="4191" y="17361"/>
                </a:cubicBezTo>
                <a:cubicBezTo>
                  <a:pt x="5156" y="17087"/>
                  <a:pt x="6884" y="15971"/>
                  <a:pt x="6884" y="13567"/>
                </a:cubicBezTo>
                <a:cubicBezTo>
                  <a:pt x="6884" y="11510"/>
                  <a:pt x="6113" y="10507"/>
                  <a:pt x="5698" y="9969"/>
                </a:cubicBezTo>
                <a:cubicBezTo>
                  <a:pt x="5646" y="9902"/>
                  <a:pt x="5599" y="9842"/>
                  <a:pt x="5562" y="9786"/>
                </a:cubicBezTo>
                <a:cubicBezTo>
                  <a:pt x="5550" y="9769"/>
                  <a:pt x="5538" y="9752"/>
                  <a:pt x="5526" y="9735"/>
                </a:cubicBezTo>
                <a:cubicBezTo>
                  <a:pt x="5491" y="9662"/>
                  <a:pt x="5297" y="9177"/>
                  <a:pt x="5553" y="8011"/>
                </a:cubicBezTo>
                <a:cubicBezTo>
                  <a:pt x="5604" y="7777"/>
                  <a:pt x="5583" y="7531"/>
                  <a:pt x="5493" y="7312"/>
                </a:cubicBezTo>
                <a:cubicBezTo>
                  <a:pt x="5249" y="6721"/>
                  <a:pt x="4603" y="5151"/>
                  <a:pt x="5035" y="3988"/>
                </a:cubicBezTo>
                <a:cubicBezTo>
                  <a:pt x="5619" y="2411"/>
                  <a:pt x="6140" y="2099"/>
                  <a:pt x="7085" y="1642"/>
                </a:cubicBezTo>
                <a:cubicBezTo>
                  <a:pt x="7132" y="1619"/>
                  <a:pt x="7177" y="1592"/>
                  <a:pt x="7220" y="1562"/>
                </a:cubicBezTo>
                <a:cubicBezTo>
                  <a:pt x="7458" y="1393"/>
                  <a:pt x="8233" y="1080"/>
                  <a:pt x="9029" y="1080"/>
                </a:cubicBezTo>
                <a:cubicBezTo>
                  <a:pt x="9467" y="1080"/>
                  <a:pt x="9840" y="1172"/>
                  <a:pt x="10137" y="1353"/>
                </a:cubicBezTo>
                <a:cubicBezTo>
                  <a:pt x="10491" y="1569"/>
                  <a:pt x="10825" y="1968"/>
                  <a:pt x="11308" y="3213"/>
                </a:cubicBezTo>
                <a:cubicBezTo>
                  <a:pt x="11991" y="4974"/>
                  <a:pt x="11820" y="6477"/>
                  <a:pt x="11347" y="7186"/>
                </a:cubicBezTo>
                <a:cubicBezTo>
                  <a:pt x="11175" y="7442"/>
                  <a:pt x="11116" y="7769"/>
                  <a:pt x="11184" y="8078"/>
                </a:cubicBezTo>
                <a:cubicBezTo>
                  <a:pt x="11422" y="9164"/>
                  <a:pt x="11247" y="9602"/>
                  <a:pt x="11210" y="9679"/>
                </a:cubicBezTo>
                <a:cubicBezTo>
                  <a:pt x="11181" y="9712"/>
                  <a:pt x="11153" y="9748"/>
                  <a:pt x="11129" y="9786"/>
                </a:cubicBezTo>
                <a:cubicBezTo>
                  <a:pt x="11091" y="9842"/>
                  <a:pt x="11044" y="9902"/>
                  <a:pt x="10992" y="9969"/>
                </a:cubicBezTo>
                <a:cubicBezTo>
                  <a:pt x="10578" y="10507"/>
                  <a:pt x="9806" y="11510"/>
                  <a:pt x="9806" y="13567"/>
                </a:cubicBezTo>
                <a:cubicBezTo>
                  <a:pt x="9806" y="15972"/>
                  <a:pt x="11535" y="17087"/>
                  <a:pt x="12500" y="17361"/>
                </a:cubicBezTo>
                <a:cubicBezTo>
                  <a:pt x="13925" y="17916"/>
                  <a:pt x="15432" y="18665"/>
                  <a:pt x="15675" y="20520"/>
                </a:cubicBezTo>
                <a:cubicBezTo>
                  <a:pt x="15675" y="20520"/>
                  <a:pt x="1016" y="20520"/>
                  <a:pt x="1016" y="20520"/>
                </a:cubicBezTo>
                <a:close/>
                <a:moveTo>
                  <a:pt x="12782" y="16326"/>
                </a:moveTo>
                <a:cubicBezTo>
                  <a:pt x="12782" y="16326"/>
                  <a:pt x="10788" y="15813"/>
                  <a:pt x="10788" y="13567"/>
                </a:cubicBezTo>
                <a:cubicBezTo>
                  <a:pt x="10788" y="11595"/>
                  <a:pt x="11607" y="10900"/>
                  <a:pt x="11923" y="10420"/>
                </a:cubicBezTo>
                <a:cubicBezTo>
                  <a:pt x="11923" y="10420"/>
                  <a:pt x="12573" y="9806"/>
                  <a:pt x="12138" y="7825"/>
                </a:cubicBezTo>
                <a:cubicBezTo>
                  <a:pt x="12863" y="6740"/>
                  <a:pt x="12999" y="4821"/>
                  <a:pt x="12211" y="2789"/>
                </a:cubicBezTo>
                <a:cubicBezTo>
                  <a:pt x="11716" y="1514"/>
                  <a:pt x="11279" y="815"/>
                  <a:pt x="10613" y="409"/>
                </a:cubicBezTo>
                <a:cubicBezTo>
                  <a:pt x="10124" y="111"/>
                  <a:pt x="9569" y="0"/>
                  <a:pt x="9029" y="0"/>
                </a:cubicBezTo>
                <a:cubicBezTo>
                  <a:pt x="8023" y="0"/>
                  <a:pt x="7070" y="384"/>
                  <a:pt x="6690" y="653"/>
                </a:cubicBezTo>
                <a:cubicBezTo>
                  <a:pt x="5576" y="1192"/>
                  <a:pt x="4828" y="1688"/>
                  <a:pt x="4126" y="3579"/>
                </a:cubicBezTo>
                <a:cubicBezTo>
                  <a:pt x="3556" y="5114"/>
                  <a:pt x="4241" y="6891"/>
                  <a:pt x="4598" y="7757"/>
                </a:cubicBezTo>
                <a:cubicBezTo>
                  <a:pt x="4163" y="9739"/>
                  <a:pt x="4767" y="10420"/>
                  <a:pt x="4767" y="10420"/>
                </a:cubicBezTo>
                <a:cubicBezTo>
                  <a:pt x="5083" y="10900"/>
                  <a:pt x="5903" y="11595"/>
                  <a:pt x="5903" y="13567"/>
                </a:cubicBezTo>
                <a:cubicBezTo>
                  <a:pt x="5903" y="15813"/>
                  <a:pt x="3909" y="16326"/>
                  <a:pt x="3909" y="16326"/>
                </a:cubicBezTo>
                <a:cubicBezTo>
                  <a:pt x="2642" y="16817"/>
                  <a:pt x="0" y="17821"/>
                  <a:pt x="0" y="21060"/>
                </a:cubicBezTo>
                <a:cubicBezTo>
                  <a:pt x="0" y="21060"/>
                  <a:pt x="0" y="21600"/>
                  <a:pt x="491" y="21600"/>
                </a:cubicBezTo>
                <a:lnTo>
                  <a:pt x="16200" y="21600"/>
                </a:lnTo>
                <a:cubicBezTo>
                  <a:pt x="16691" y="21600"/>
                  <a:pt x="16691" y="21060"/>
                  <a:pt x="16691" y="21060"/>
                </a:cubicBezTo>
                <a:cubicBezTo>
                  <a:pt x="16691" y="17821"/>
                  <a:pt x="14048" y="16817"/>
                  <a:pt x="12782" y="16326"/>
                </a:cubicBezTo>
                <a:moveTo>
                  <a:pt x="18035" y="15774"/>
                </a:moveTo>
                <a:cubicBezTo>
                  <a:pt x="18035" y="15774"/>
                  <a:pt x="16217" y="15312"/>
                  <a:pt x="16217" y="13291"/>
                </a:cubicBezTo>
                <a:cubicBezTo>
                  <a:pt x="16217" y="11515"/>
                  <a:pt x="17087" y="10890"/>
                  <a:pt x="17376" y="10458"/>
                </a:cubicBezTo>
                <a:cubicBezTo>
                  <a:pt x="17376" y="10458"/>
                  <a:pt x="17968" y="9906"/>
                  <a:pt x="17572" y="8122"/>
                </a:cubicBezTo>
                <a:cubicBezTo>
                  <a:pt x="18232" y="7146"/>
                  <a:pt x="18387" y="5419"/>
                  <a:pt x="17669" y="3590"/>
                </a:cubicBezTo>
                <a:cubicBezTo>
                  <a:pt x="17218" y="2442"/>
                  <a:pt x="16666" y="1814"/>
                  <a:pt x="16059" y="1449"/>
                </a:cubicBezTo>
                <a:cubicBezTo>
                  <a:pt x="15612" y="1180"/>
                  <a:pt x="15107" y="1081"/>
                  <a:pt x="14614" y="1081"/>
                </a:cubicBezTo>
                <a:cubicBezTo>
                  <a:pt x="13880" y="1081"/>
                  <a:pt x="13182" y="1301"/>
                  <a:pt x="12753" y="1514"/>
                </a:cubicBezTo>
                <a:cubicBezTo>
                  <a:pt x="12878" y="1781"/>
                  <a:pt x="12997" y="2064"/>
                  <a:pt x="13115" y="2366"/>
                </a:cubicBezTo>
                <a:cubicBezTo>
                  <a:pt x="13131" y="2409"/>
                  <a:pt x="13143" y="2453"/>
                  <a:pt x="13159" y="2496"/>
                </a:cubicBezTo>
                <a:cubicBezTo>
                  <a:pt x="13436" y="2360"/>
                  <a:pt x="13994" y="2160"/>
                  <a:pt x="14614" y="2160"/>
                </a:cubicBezTo>
                <a:cubicBezTo>
                  <a:pt x="15001" y="2160"/>
                  <a:pt x="15328" y="2239"/>
                  <a:pt x="15588" y="2396"/>
                </a:cubicBezTo>
                <a:cubicBezTo>
                  <a:pt x="15893" y="2579"/>
                  <a:pt x="16347" y="2947"/>
                  <a:pt x="16767" y="4019"/>
                </a:cubicBezTo>
                <a:cubicBezTo>
                  <a:pt x="17366" y="5541"/>
                  <a:pt x="17207" y="6853"/>
                  <a:pt x="16784" y="7478"/>
                </a:cubicBezTo>
                <a:cubicBezTo>
                  <a:pt x="16610" y="7736"/>
                  <a:pt x="16549" y="8067"/>
                  <a:pt x="16618" y="8379"/>
                </a:cubicBezTo>
                <a:cubicBezTo>
                  <a:pt x="16817" y="9273"/>
                  <a:pt x="16689" y="9648"/>
                  <a:pt x="16656" y="9723"/>
                </a:cubicBezTo>
                <a:cubicBezTo>
                  <a:pt x="16631" y="9754"/>
                  <a:pt x="16607" y="9786"/>
                  <a:pt x="16584" y="9820"/>
                </a:cubicBezTo>
                <a:cubicBezTo>
                  <a:pt x="16565" y="9848"/>
                  <a:pt x="16497" y="9929"/>
                  <a:pt x="16447" y="9988"/>
                </a:cubicBezTo>
                <a:cubicBezTo>
                  <a:pt x="16023" y="10488"/>
                  <a:pt x="15236" y="11419"/>
                  <a:pt x="15236" y="13291"/>
                </a:cubicBezTo>
                <a:cubicBezTo>
                  <a:pt x="15236" y="15520"/>
                  <a:pt x="16851" y="16555"/>
                  <a:pt x="17757" y="16810"/>
                </a:cubicBezTo>
                <a:cubicBezTo>
                  <a:pt x="19050" y="17307"/>
                  <a:pt x="20311" y="17926"/>
                  <a:pt x="20570" y="19440"/>
                </a:cubicBezTo>
                <a:lnTo>
                  <a:pt x="17464" y="19440"/>
                </a:lnTo>
                <a:cubicBezTo>
                  <a:pt x="17553" y="19773"/>
                  <a:pt x="17615" y="20132"/>
                  <a:pt x="17645" y="20520"/>
                </a:cubicBezTo>
                <a:lnTo>
                  <a:pt x="21152" y="20520"/>
                </a:lnTo>
                <a:cubicBezTo>
                  <a:pt x="21600" y="20520"/>
                  <a:pt x="21600" y="20034"/>
                  <a:pt x="21600" y="20034"/>
                </a:cubicBezTo>
                <a:cubicBezTo>
                  <a:pt x="21600" y="17119"/>
                  <a:pt x="19191" y="16215"/>
                  <a:pt x="18035" y="15774"/>
                </a:cubicBezTo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marL="0" marR="0" lvl="0" indent="0" defTabSz="22853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Open Sans Semibold" charset="0"/>
              <a:ea typeface="Open Sans Semibold" charset="0"/>
              <a:cs typeface="Open Sans Semibold" charset="0"/>
              <a:sym typeface="Gill Sans"/>
            </a:endParaRPr>
          </a:p>
        </p:txBody>
      </p:sp>
      <p:sp>
        <p:nvSpPr>
          <p:cNvPr id="86" name="Subtitle 2">
            <a:extLst>
              <a:ext uri="{FF2B5EF4-FFF2-40B4-BE49-F238E27FC236}">
                <a16:creationId xmlns:a16="http://schemas.microsoft.com/office/drawing/2014/main" id="{DB99A56A-662E-FFD2-F4ED-2BCF906A1D0A}"/>
              </a:ext>
            </a:extLst>
          </p:cNvPr>
          <p:cNvSpPr txBox="1">
            <a:spLocks/>
          </p:cNvSpPr>
          <p:nvPr/>
        </p:nvSpPr>
        <p:spPr>
          <a:xfrm>
            <a:off x="989014" y="5633230"/>
            <a:ext cx="9841660" cy="866584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543818">
              <a:lnSpc>
                <a:spcPts val="2050"/>
              </a:lnSpc>
            </a:pPr>
            <a:r>
              <a:rPr lang="en-US" sz="1250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The NSM will guide the team to dive deeper into sustainability and profitability: connecting conversion metrics with revenue, diversifying sports, and ensuring that engagement does not rely on a single trigger and diligently monitor the players' fatigue.</a:t>
            </a:r>
          </a:p>
          <a:p>
            <a:pPr algn="l" defTabSz="543818">
              <a:lnSpc>
                <a:spcPts val="2050"/>
              </a:lnSpc>
            </a:pPr>
            <a:endParaRPr lang="en-US" sz="1250" dirty="0">
              <a:solidFill>
                <a:schemeClr val="bg2">
                  <a:lumMod val="10000"/>
                </a:scheme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4D62526-DA1C-9DA8-FEFA-04E118BBFAF0}"/>
              </a:ext>
            </a:extLst>
          </p:cNvPr>
          <p:cNvSpPr txBox="1"/>
          <p:nvPr/>
        </p:nvSpPr>
        <p:spPr>
          <a:xfrm>
            <a:off x="5763659" y="3333250"/>
            <a:ext cx="841897" cy="6594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MX"/>
            </a:defPPr>
            <a:lvl1pPr defTabSz="914217">
              <a:lnSpc>
                <a:spcPts val="5000"/>
              </a:lnSpc>
              <a:defRPr sz="2400" b="1">
                <a:solidFill>
                  <a:srgbClr val="08204C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defRPr>
            </a:lvl1pPr>
          </a:lstStyle>
          <a:p>
            <a:r>
              <a:rPr lang="es-MX" dirty="0"/>
              <a:t>40%</a:t>
            </a:r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D072A945-FC8B-7E90-16BC-419B4C61A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800" y="0"/>
            <a:ext cx="1414462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7897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DE842-3EFE-F657-A0B4-5F814785F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27F69F-C0C8-7A06-9A2B-7BE42B9A7382}"/>
              </a:ext>
            </a:extLst>
          </p:cNvPr>
          <p:cNvSpPr txBox="1"/>
          <p:nvPr/>
        </p:nvSpPr>
        <p:spPr>
          <a:xfrm>
            <a:off x="5249334" y="1892210"/>
            <a:ext cx="1816523" cy="6594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5000"/>
              </a:lnSpc>
            </a:pPr>
            <a:r>
              <a:rPr lang="en-US" sz="2400" b="1" dirty="0">
                <a:solidFill>
                  <a:schemeClr val="tx2"/>
                </a:solidFill>
                <a:latin typeface="Poppins SemiBold" pitchFamily="2" charset="77"/>
                <a:ea typeface="League Spartan" charset="0"/>
                <a:cs typeface="Poppins SemiBold" pitchFamily="2" charset="77"/>
              </a:rPr>
              <a:t>Thank you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7FADE33-D35B-A955-BFE4-893B658F1C07}"/>
              </a:ext>
            </a:extLst>
          </p:cNvPr>
          <p:cNvSpPr txBox="1">
            <a:spLocks/>
          </p:cNvSpPr>
          <p:nvPr/>
        </p:nvSpPr>
        <p:spPr>
          <a:xfrm>
            <a:off x="1327681" y="1765219"/>
            <a:ext cx="9841660" cy="2235677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543818">
              <a:lnSpc>
                <a:spcPts val="2050"/>
              </a:lnSpc>
            </a:pPr>
            <a:endParaRPr lang="en-US" sz="1250" dirty="0">
              <a:solidFill>
                <a:schemeClr val="bg2">
                  <a:lumMod val="10000"/>
                </a:scheme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l" defTabSz="543818">
              <a:lnSpc>
                <a:spcPts val="2050"/>
              </a:lnSpc>
            </a:pPr>
            <a:endParaRPr lang="en-US" sz="1250" dirty="0">
              <a:solidFill>
                <a:schemeClr val="bg2">
                  <a:lumMod val="10000"/>
                </a:scheme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defTabSz="914217">
              <a:lnSpc>
                <a:spcPts val="5000"/>
              </a:lnSpc>
            </a:pPr>
            <a:r>
              <a:rPr lang="en-US" sz="1050" b="1" dirty="0">
                <a:solidFill>
                  <a:srgbClr val="08204C"/>
                </a:solidFill>
                <a:latin typeface="Poppins SemiBold" pitchFamily="2" charset="77"/>
                <a:cs typeface="Poppins SemiBold" pitchFamily="2" charset="77"/>
              </a:rPr>
              <a:t>for your attention, I look forward to staying connected</a:t>
            </a:r>
          </a:p>
          <a:p>
            <a:pPr defTabSz="543818">
              <a:lnSpc>
                <a:spcPts val="2050"/>
              </a:lnSpc>
            </a:pPr>
            <a:endParaRPr lang="en-US" sz="1250" b="1" dirty="0">
              <a:solidFill>
                <a:schemeClr val="bg2">
                  <a:lumMod val="10000"/>
                </a:scheme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l" defTabSz="543818">
              <a:lnSpc>
                <a:spcPts val="2050"/>
              </a:lnSpc>
            </a:pPr>
            <a:r>
              <a:rPr lang="en-US" sz="1250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								Warm regards, </a:t>
            </a:r>
          </a:p>
          <a:p>
            <a:pPr algn="l" defTabSz="543818">
              <a:lnSpc>
                <a:spcPts val="2050"/>
              </a:lnSpc>
            </a:pPr>
            <a:r>
              <a:rPr lang="en-US" sz="1250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							           Carolina González</a:t>
            </a:r>
          </a:p>
        </p:txBody>
      </p:sp>
    </p:spTree>
    <p:extLst>
      <p:ext uri="{BB962C8B-B14F-4D97-AF65-F5344CB8AC3E}">
        <p14:creationId xmlns:p14="http://schemas.microsoft.com/office/powerpoint/2010/main" val="1653934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Default Theme">
  <a:themeElements>
    <a:clrScheme name="SM - Theme 29 - Light">
      <a:dk1>
        <a:srgbClr val="AAAAAA"/>
      </a:dk1>
      <a:lt1>
        <a:srgbClr val="FFFFFF"/>
      </a:lt1>
      <a:dk2>
        <a:srgbClr val="08204C"/>
      </a:dk2>
      <a:lt2>
        <a:srgbClr val="FFFFFF"/>
      </a:lt2>
      <a:accent1>
        <a:srgbClr val="1073A3"/>
      </a:accent1>
      <a:accent2>
        <a:srgbClr val="2DADE0"/>
      </a:accent2>
      <a:accent3>
        <a:srgbClr val="6ACEE3"/>
      </a:accent3>
      <a:accent4>
        <a:srgbClr val="61DDA8"/>
      </a:accent4>
      <a:accent5>
        <a:srgbClr val="FFD253"/>
      </a:accent5>
      <a:accent6>
        <a:srgbClr val="FF8F10"/>
      </a:accent6>
      <a:hlink>
        <a:srgbClr val="F33B48"/>
      </a:hlink>
      <a:folHlink>
        <a:srgbClr val="FFC00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rgbClr val="6FBFFF"/>
            </a:gs>
            <a:gs pos="98000">
              <a:srgbClr val="3C8BFF"/>
            </a:gs>
          </a:gsLst>
          <a:lin ang="5400000" scaled="1"/>
          <a:tileRect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4285F4"/>
    </a:accent1>
    <a:accent2>
      <a:srgbClr val="EA4335"/>
    </a:accent2>
    <a:accent3>
      <a:srgbClr val="FBBC04"/>
    </a:accent3>
    <a:accent4>
      <a:srgbClr val="34A853"/>
    </a:accent4>
    <a:accent5>
      <a:srgbClr val="FF6D01"/>
    </a:accent5>
    <a:accent6>
      <a:srgbClr val="46BDC6"/>
    </a:accent6>
    <a:hlink>
      <a:srgbClr val="1155CC"/>
    </a:hlink>
    <a:folHlink>
      <a:srgbClr val="1155CC"/>
    </a:folHlink>
  </a:clrScheme>
  <a:fontScheme name="Sheets">
    <a:majorFont>
      <a:latin typeface="Arial"/>
      <a:ea typeface="Arial"/>
      <a:cs typeface="Arial"/>
    </a:majorFont>
    <a:minorFont>
      <a:latin typeface="Arial"/>
      <a:ea typeface="Arial"/>
      <a:cs typeface="Arial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4285F4"/>
    </a:accent1>
    <a:accent2>
      <a:srgbClr val="EA4335"/>
    </a:accent2>
    <a:accent3>
      <a:srgbClr val="FBBC04"/>
    </a:accent3>
    <a:accent4>
      <a:srgbClr val="34A853"/>
    </a:accent4>
    <a:accent5>
      <a:srgbClr val="FF6D01"/>
    </a:accent5>
    <a:accent6>
      <a:srgbClr val="46BDC6"/>
    </a:accent6>
    <a:hlink>
      <a:srgbClr val="1155CC"/>
    </a:hlink>
    <a:folHlink>
      <a:srgbClr val="1155CC"/>
    </a:folHlink>
  </a:clrScheme>
  <a:fontScheme name="Sheets">
    <a:majorFont>
      <a:latin typeface="Arial"/>
      <a:ea typeface="Arial"/>
      <a:cs typeface="Arial"/>
    </a:majorFont>
    <a:minorFont>
      <a:latin typeface="Arial"/>
      <a:ea typeface="Arial"/>
      <a:cs typeface="Arial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4285F4"/>
    </a:accent1>
    <a:accent2>
      <a:srgbClr val="EA4335"/>
    </a:accent2>
    <a:accent3>
      <a:srgbClr val="FBBC04"/>
    </a:accent3>
    <a:accent4>
      <a:srgbClr val="34A853"/>
    </a:accent4>
    <a:accent5>
      <a:srgbClr val="FF6D01"/>
    </a:accent5>
    <a:accent6>
      <a:srgbClr val="46BDC6"/>
    </a:accent6>
    <a:hlink>
      <a:srgbClr val="1155CC"/>
    </a:hlink>
    <a:folHlink>
      <a:srgbClr val="1155CC"/>
    </a:folHlink>
  </a:clrScheme>
  <a:fontScheme name="Sheets">
    <a:majorFont>
      <a:latin typeface="Arial"/>
      <a:ea typeface="Arial"/>
      <a:cs typeface="Arial"/>
    </a:majorFont>
    <a:minorFont>
      <a:latin typeface="Arial"/>
      <a:ea typeface="Arial"/>
      <a:cs typeface="Arial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9580</TotalTime>
  <Words>1348</Words>
  <Application>Microsoft Office PowerPoint</Application>
  <PresentationFormat>Widescreen</PresentationFormat>
  <Paragraphs>275</Paragraphs>
  <Slides>18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32" baseType="lpstr">
      <vt:lpstr>Aptos</vt:lpstr>
      <vt:lpstr>Aptos Display</vt:lpstr>
      <vt:lpstr>Aptos Narrow</vt:lpstr>
      <vt:lpstr>Arial</vt:lpstr>
      <vt:lpstr>Calibri</vt:lpstr>
      <vt:lpstr>Open Sans Light</vt:lpstr>
      <vt:lpstr>Open Sans Semibold</vt:lpstr>
      <vt:lpstr>Poppins</vt:lpstr>
      <vt:lpstr>Poppins SemiBold</vt:lpstr>
      <vt:lpstr>Wingdings</vt:lpstr>
      <vt:lpstr>Office Theme</vt:lpstr>
      <vt:lpstr>Default Theme</vt:lpstr>
      <vt:lpstr>Worksheet</vt:lpstr>
      <vt:lpstr>Hoja de cálculo de Microsoft Excel</vt:lpstr>
      <vt:lpstr>PowerPoint Presentation</vt:lpstr>
      <vt:lpstr>Google Analytics</vt:lpstr>
      <vt:lpstr>PowerPoint Presentation</vt:lpstr>
      <vt:lpstr>PowerPoint Presentation</vt:lpstr>
      <vt:lpstr>PowerPoint Presentation</vt:lpstr>
      <vt:lpstr>PowerPoint Presentation</vt:lpstr>
      <vt:lpstr>Data Analysis &amp; Product Insights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Loyalty program</vt:lpstr>
      <vt:lpstr>PowerPoint Presentation</vt:lpstr>
      <vt:lpstr>PowerPoint Presentation</vt:lpstr>
      <vt:lpstr>North Star Metric Framework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Carolina Gonzalez</dc:creator>
  <cp:lastModifiedBy>Carolina Gonzalez</cp:lastModifiedBy>
  <cp:revision>3</cp:revision>
  <dcterms:created xsi:type="dcterms:W3CDTF">2026-02-12T16:38:37Z</dcterms:created>
  <dcterms:modified xsi:type="dcterms:W3CDTF">2026-02-24T19:10:55Z</dcterms:modified>
</cp:coreProperties>
</file>